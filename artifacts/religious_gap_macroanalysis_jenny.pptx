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9" r:id="rId3"/>
    <p:sldId id="256" r:id="rId4"/>
    <p:sldId id="257" r:id="rId6"/>
    <p:sldId id="25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Jimmy's dashboard screened 401 candidates. 47 cleared both hard gates. But the strongest finding inside that 47 is that gate-passing isn't enough. Mean values relevance comes in at 33.6 out of 100. Only 12 percent reach what the dashboard calls strong values alignment.
SO, Instead of asking which benchmark wins, we should ask </a:t>
            </a:r>
            <a:r>
              <a:rPr lang="en-US" b="1" dirty="0"/>
              <a:t>what's structurally absent？</a:t>
            </a:r>
            <a:endParaRPr lang="en-US" dirty="0"/>
          </a:p>
          <a:p>
            <a:r>
              <a:rPr lang="en-US" dirty="0"/>
              <a:t>in track A, Six layers stand out, and each one is grounded in what we observe in the 47.
Tradition coverage. Six of fourteen traditions have any benchmark. Islam alone holds 28 of the 47. Eight traditions are absent entirely.
Applied religious ethics. Only 6 of the 47 reach values-reasoning depth. The rest are recall.
Pastoral judgment. None of the 47 use a counseling format. A grieving widow questioning God, a teen in crisis of faith, a convert in doubt: there is no benchmark that tests advice in those situations.
Intra-tradition disagreement. 94 percent of the 47 treat their tradition as monolithic. Sunni versus Shia, Reform versus Orthodox, Catholic versus Protestant divergence isn't scored.
Tradition-specific reasoning. Only 19 percent reach the values-reasoning floor. The rest can be solved with generic 'be kind, be fair' moral language.
Expert-reviewed rubrics. Theological advisory input is rare. This dashboard's twelve-member council is the exception.
The takeaway is simple. Each gold sliver is what the field has built. Each gray bar is what CEI is positioned to build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B is religious knowledge with a working benchmark. There's a question, an answer, and a metric. Below Track B the resource layer, which is text and corpora that exist but haven't been turned into questions yet. </a:t>
            </a:r>
            <a:endParaRPr lang="en-US" dirty="0"/>
          </a:p>
          <a:p>
            <a:r>
              <a:rPr lang="en-US" dirty="0"/>
              <a:t>
Look at what's actually in the 47 on the knowledge side. 60 percent are Islamic, mostly Arabic NLP infrastructure, that was built for LLM in the first place. </a:t>
            </a:r>
            <a:endParaRPr lang="en-US" dirty="0"/>
          </a:p>
          <a:p>
            <a:endParaRPr lang="en-US" dirty="0"/>
          </a:p>
          <a:p>
            <a:r>
              <a:rPr lang="en-US" dirty="0"/>
              <a:t>for </a:t>
            </a:r>
            <a:r>
              <a:rPr lang="en-US" b="1" dirty="0">
                <a:solidFill>
                  <a:srgbClr val="0F1E3D"/>
                </a:solidFill>
                <a:latin typeface="Calibri" pitchFamily="34" charset="0"/>
                <a:ea typeface="Calibri" pitchFamily="34" charset="-122"/>
                <a:cs typeface="Calibri" pitchFamily="34" charset="-120"/>
                <a:sym typeface="+mn-ea"/>
              </a:rPr>
              <a:t>Authority-aware answering</a:t>
            </a:r>
            <a:r>
              <a:rPr lang="en-US" dirty="0"/>
              <a:t>, which tests a model knows what counts as authoritative, there’s lots of missing. Catechism for Catholics could be a potential here</a:t>
            </a:r>
            <a:endParaRPr lang="en-US" dirty="0"/>
          </a:p>
          <a:p>
            <a:r>
              <a:rPr lang="en-US" dirty="0"/>
              <a:t>
Scripture retrieval is common across the 47. Faithfulness to the cited passage is not scored anywhere. 
</a:t>
            </a:r>
            <a:endParaRPr lang="en-US" dirty="0"/>
          </a:p>
          <a:p>
            <a:r>
              <a:rPr lang="en-US" dirty="0"/>
              <a:t>On multilingual coverage, Arabic NLP mainly islam - arabic. we lack Biblical Hebrew, Greek</a:t>
            </a:r>
            <a:endParaRPr lang="en-US" dirty="0"/>
          </a:p>
          <a:p>
            <a:endParaRPr lang="en-US" dirty="0"/>
          </a:p>
          <a:p>
            <a:r>
              <a:rPr lang="en-US" b="1" dirty="0">
                <a:solidFill>
                  <a:srgbClr val="0F1E3D"/>
                </a:solidFill>
                <a:latin typeface="Calibri" pitchFamily="34" charset="0"/>
                <a:ea typeface="Calibri" pitchFamily="34" charset="-122"/>
                <a:cs typeface="Calibri" pitchFamily="34" charset="-120"/>
                <a:sym typeface="+mn-ea"/>
              </a:rPr>
              <a:t>we lack benchmark on Commentary and interpretation</a:t>
            </a:r>
            <a:endParaRPr lang="en-US" dirty="0"/>
          </a:p>
          <a:p>
            <a:endParaRPr lang="en-US" dirty="0"/>
          </a:p>
          <a:p>
            <a:r>
              <a:rPr lang="en-US" dirty="0"/>
              <a:t>And for the resource layer, the Arabic corpora have been heavily converted into benchmarks. but other religions havent!</a:t>
            </a:r>
            <a:endParaRPr lang="en-US" dirty="0"/>
          </a:p>
          <a:p>
            <a:r>
              <a:rPr lang="en-US" dirty="0"/>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Christianity is one of CEI's priority traditions, and the picture sharpens here. Six of the 47 are Christian gate-passers. That's it. Inside those six, Bible QA dominates. Catholic alignment work is emerging. Protestant denominational reasoning has essentially no coverage.
What's missing is everything past the surface.
None of the six are in a counseling format, so pastoral judgment is empty. A parent whose child is deconstructing. A man fighting pornography. A woman in an abusive marriage. A seminarian in vocational doubt. These are situations pastors handle, and we have no benchmark for any of them.
The six treat Christianity as a monolithic tradition. Women's ordination, infant versus believer's baptism, predestination, real presence: places where faithful Christians legitimately disagree are not scored.
Verse retrieval and recall format dominate. Detection of prooftexting, like Jeremiah 29:11 ripped out of its exile context, or weaponized Romans 13, isn't tested. We can measure whether a model knows the verse. We can't measure whether it interprets responsibly.
And on applied ethics: embryo selection, AI personhood, drone warfare, transgender pastoral care, wealth inequality. These are where Christian ethics actually has to do work, and most of the existing assets favor doctrine knowledge over hard moral judgment.
The natural CEI agenda follows from this. Pastoral and denominational scenarios. Hermeneutic-quality tasks. Applied ethics with real ambiguity. Rubrics built and reviewed by pastors, theologians, chaplains, seminary faculty. That's the move past Bible 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192020" y="2552065"/>
            <a:ext cx="7808595" cy="1753235"/>
          </a:xfrm>
          <a:prstGeom prst="rect">
            <a:avLst/>
          </a:prstGeom>
        </p:spPr>
        <p:txBody>
          <a:bodyPr wrap="square">
            <a:spAutoFit/>
          </a:bodyPr>
          <a:p>
            <a:pPr algn="ctr"/>
            <a:r>
              <a:rPr lang="en-US" altLang="zh-CN" sz="3600" b="1"/>
              <a:t>What Is Structurally Absent, </a:t>
            </a:r>
            <a:endParaRPr lang="en-US" altLang="zh-CN" sz="3600" b="1"/>
          </a:p>
          <a:p>
            <a:pPr algn="ctr"/>
            <a:r>
              <a:rPr lang="en-US" altLang="zh-CN" sz="3600" b="1"/>
              <a:t>Among the 47 Gate-Passers? (could be further brainstormed)</a:t>
            </a:r>
            <a:endParaRPr lang="en-US" altLang="zh-CN" sz="36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 cy="457200"/>
          </a:xfrm>
          <a:prstGeom prst="rect">
            <a:avLst/>
          </a:prstGeom>
          <a:noFill/>
        </p:spPr>
        <p:txBody>
          <a:bodyPr wrap="square" lIns="0" tIns="0" rIns="0" bIns="0" rtlCol="0" anchor="ctr"/>
          <a:lstStyle/>
          <a:p>
            <a:pPr marL="0" indent="0" algn="l">
              <a:buNone/>
            </a:pPr>
            <a:r>
              <a:rPr lang="en-US" sz="1800" b="1" kern="0" spc="300" dirty="0">
                <a:solidFill>
                  <a:srgbClr val="B8860B"/>
                </a:solidFill>
                <a:latin typeface="Calibri" pitchFamily="34" charset="0"/>
                <a:ea typeface="Calibri" pitchFamily="34" charset="-122"/>
                <a:cs typeface="Calibri" pitchFamily="34" charset="-120"/>
              </a:rPr>
              <a:t>01</a:t>
            </a:r>
            <a:endParaRPr lang="en-US" sz="1800" dirty="0"/>
          </a:p>
        </p:txBody>
      </p:sp>
      <p:sp>
        <p:nvSpPr>
          <p:cNvPr id="3" name="Text 1"/>
          <p:cNvSpPr/>
          <p:nvPr/>
        </p:nvSpPr>
        <p:spPr>
          <a:xfrm>
            <a:off x="1188720" y="274320"/>
            <a:ext cx="10424160" cy="457200"/>
          </a:xfrm>
          <a:prstGeom prst="rect">
            <a:avLst/>
          </a:prstGeom>
          <a:noFill/>
        </p:spPr>
        <p:txBody>
          <a:bodyPr wrap="square" lIns="0" tIns="0" rIns="0" bIns="0" rtlCol="0" anchor="ctr"/>
          <a:lstStyle/>
          <a:p>
            <a:pPr marL="0" indent="0" algn="l">
              <a:buNone/>
            </a:pPr>
            <a:r>
              <a:rPr lang="en-US" sz="1800" b="1" kern="0" spc="500" dirty="0">
                <a:solidFill>
                  <a:srgbClr val="B8860B"/>
                </a:solidFill>
                <a:latin typeface="Calibri" pitchFamily="34" charset="0"/>
                <a:ea typeface="Calibri" pitchFamily="34" charset="-122"/>
                <a:cs typeface="Calibri" pitchFamily="34" charset="-120"/>
              </a:rPr>
              <a:t>TRACK A  ·  ALIGNMENT</a:t>
            </a:r>
            <a:endParaRPr lang="en-US" sz="1800" dirty="0"/>
          </a:p>
        </p:txBody>
      </p:sp>
      <p:sp>
        <p:nvSpPr>
          <p:cNvPr id="4" name="Text 2"/>
          <p:cNvSpPr/>
          <p:nvPr/>
        </p:nvSpPr>
        <p:spPr>
          <a:xfrm>
            <a:off x="548640" y="777240"/>
            <a:ext cx="11064240" cy="640080"/>
          </a:xfrm>
          <a:prstGeom prst="rect">
            <a:avLst/>
          </a:prstGeom>
          <a:noFill/>
        </p:spPr>
        <p:txBody>
          <a:bodyPr wrap="square" lIns="0" tIns="0" rIns="0" bIns="0" rtlCol="0" anchor="t"/>
          <a:lstStyle/>
          <a:p>
            <a:pPr marL="0" indent="0" algn="l">
              <a:buNone/>
            </a:pPr>
            <a:r>
              <a:rPr lang="en-US" sz="3000" b="1" dirty="0">
                <a:solidFill>
                  <a:srgbClr val="0F1E3D"/>
                </a:solidFill>
                <a:latin typeface="Georgia" panose="02040502050405090303" pitchFamily="34" charset="0"/>
                <a:ea typeface="Georgia" panose="02040502050405090303" pitchFamily="34" charset="-122"/>
                <a:cs typeface="Georgia" panose="02040502050405090303" pitchFamily="34" charset="-120"/>
              </a:rPr>
              <a:t>Religious judgment is underbuilt</a:t>
            </a:r>
            <a:endParaRPr lang="en-US" sz="3000" dirty="0"/>
          </a:p>
        </p:txBody>
      </p:sp>
      <p:sp>
        <p:nvSpPr>
          <p:cNvPr id="5" name="Text 3"/>
          <p:cNvSpPr/>
          <p:nvPr/>
        </p:nvSpPr>
        <p:spPr>
          <a:xfrm>
            <a:off x="548640" y="1417320"/>
            <a:ext cx="11064240" cy="457200"/>
          </a:xfrm>
          <a:prstGeom prst="rect">
            <a:avLst/>
          </a:prstGeom>
          <a:noFill/>
        </p:spPr>
        <p:txBody>
          <a:bodyPr wrap="square" lIns="0" tIns="0" rIns="0" bIns="0" rtlCol="0" anchor="t"/>
          <a:lstStyle/>
          <a:p>
            <a:pPr marL="0" indent="0" algn="l">
              <a:buNone/>
            </a:pPr>
            <a:r>
              <a:rPr lang="en-US" sz="1400" i="1" dirty="0">
                <a:solidFill>
                  <a:srgbClr val="475569"/>
                </a:solidFill>
                <a:latin typeface="Calibri" pitchFamily="34" charset="0"/>
                <a:ea typeface="Calibri" pitchFamily="34" charset="-122"/>
                <a:cs typeface="Calibri" pitchFamily="34" charset="-120"/>
              </a:rPr>
              <a:t>A complete alignment benchmark tests reasoning inside religious value systems. Most current assets test the presence of religious data.</a:t>
            </a:r>
            <a:endParaRPr lang="en-US" sz="1400" dirty="0"/>
          </a:p>
        </p:txBody>
      </p:sp>
      <p:sp>
        <p:nvSpPr>
          <p:cNvPr id="6" name="Text 4"/>
          <p:cNvSpPr/>
          <p:nvPr/>
        </p:nvSpPr>
        <p:spPr>
          <a:xfrm>
            <a:off x="548640" y="2194560"/>
            <a:ext cx="8595360" cy="274320"/>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MISSING LAYERS IN THE ALIGNMENT BENCHMARK ECOSYSTEM</a:t>
            </a:r>
            <a:endParaRPr lang="en-US" sz="1000" dirty="0"/>
          </a:p>
        </p:txBody>
      </p:sp>
      <p:sp>
        <p:nvSpPr>
          <p:cNvPr id="7" name="Shape 5"/>
          <p:cNvSpPr/>
          <p:nvPr/>
        </p:nvSpPr>
        <p:spPr>
          <a:xfrm>
            <a:off x="9326880" y="2240280"/>
            <a:ext cx="201168" cy="128016"/>
          </a:xfrm>
          <a:prstGeom prst="rect">
            <a:avLst/>
          </a:prstGeom>
          <a:solidFill>
            <a:srgbClr val="B8860B"/>
          </a:solidFill>
          <a:ln w="12700">
            <a:solidFill>
              <a:srgbClr val="B8860B"/>
            </a:solidFill>
            <a:prstDash val="solid"/>
          </a:ln>
        </p:spPr>
      </p:sp>
      <p:sp>
        <p:nvSpPr>
          <p:cNvPr id="8" name="Text 6"/>
          <p:cNvSpPr/>
          <p:nvPr/>
        </p:nvSpPr>
        <p:spPr>
          <a:xfrm>
            <a:off x="9601200" y="219456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present</a:t>
            </a:r>
            <a:endParaRPr lang="en-US" sz="900" dirty="0"/>
          </a:p>
        </p:txBody>
      </p:sp>
      <p:sp>
        <p:nvSpPr>
          <p:cNvPr id="9" name="Shape 7"/>
          <p:cNvSpPr/>
          <p:nvPr/>
        </p:nvSpPr>
        <p:spPr>
          <a:xfrm>
            <a:off x="10469880" y="2240280"/>
            <a:ext cx="201168" cy="128016"/>
          </a:xfrm>
          <a:prstGeom prst="rect">
            <a:avLst/>
          </a:prstGeom>
          <a:solidFill>
            <a:srgbClr val="E5E7EB"/>
          </a:solidFill>
          <a:ln w="12700">
            <a:solidFill>
              <a:srgbClr val="E5E7EB"/>
            </a:solidFill>
            <a:prstDash val="solid"/>
          </a:ln>
        </p:spPr>
      </p:sp>
      <p:sp>
        <p:nvSpPr>
          <p:cNvPr id="10" name="Text 8"/>
          <p:cNvSpPr/>
          <p:nvPr/>
        </p:nvSpPr>
        <p:spPr>
          <a:xfrm>
            <a:off x="10744200" y="219456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missing</a:t>
            </a:r>
            <a:endParaRPr lang="en-US" sz="900" dirty="0"/>
          </a:p>
        </p:txBody>
      </p:sp>
      <p:sp>
        <p:nvSpPr>
          <p:cNvPr id="11" name="Text 9"/>
          <p:cNvSpPr/>
          <p:nvPr/>
        </p:nvSpPr>
        <p:spPr>
          <a:xfrm>
            <a:off x="548640" y="260604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Tradition coverage</a:t>
            </a:r>
            <a:endParaRPr lang="en-US" sz="1300" dirty="0"/>
          </a:p>
        </p:txBody>
      </p:sp>
      <p:sp>
        <p:nvSpPr>
          <p:cNvPr id="12" name="Shape 10"/>
          <p:cNvSpPr/>
          <p:nvPr/>
        </p:nvSpPr>
        <p:spPr>
          <a:xfrm>
            <a:off x="3566160" y="2798064"/>
            <a:ext cx="2926080" cy="164592"/>
          </a:xfrm>
          <a:prstGeom prst="rect">
            <a:avLst/>
          </a:prstGeom>
          <a:solidFill>
            <a:srgbClr val="E5E7EB"/>
          </a:solidFill>
          <a:ln w="12700">
            <a:solidFill>
              <a:srgbClr val="E5E7EB"/>
            </a:solidFill>
            <a:prstDash val="solid"/>
          </a:ln>
        </p:spPr>
      </p:sp>
      <p:sp>
        <p:nvSpPr>
          <p:cNvPr id="13" name="Shape 11"/>
          <p:cNvSpPr/>
          <p:nvPr/>
        </p:nvSpPr>
        <p:spPr>
          <a:xfrm>
            <a:off x="3566160" y="2798064"/>
            <a:ext cx="1258214" cy="164592"/>
          </a:xfrm>
          <a:prstGeom prst="rect">
            <a:avLst/>
          </a:prstGeom>
          <a:solidFill>
            <a:srgbClr val="B8860B"/>
          </a:solidFill>
          <a:ln w="12700">
            <a:solidFill>
              <a:srgbClr val="B8860B"/>
            </a:solidFill>
            <a:prstDash val="solid"/>
          </a:ln>
        </p:spPr>
      </p:sp>
      <p:sp>
        <p:nvSpPr>
          <p:cNvPr id="14" name="Text 12"/>
          <p:cNvSpPr/>
          <p:nvPr/>
        </p:nvSpPr>
        <p:spPr>
          <a:xfrm>
            <a:off x="6675120" y="260604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Islam 28, Christianity 6, Buddhism 6, Hinduism 4, Sikhism 2, Confucianism 1.</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Judaism, Jainism, Taoism, Shinto, Ubuntu, Indigenous, Bahá'í, Zoroastrian.</a:t>
            </a:r>
            <a:endParaRPr lang="en-US" sz="1000" dirty="0"/>
          </a:p>
        </p:txBody>
      </p:sp>
      <p:sp>
        <p:nvSpPr>
          <p:cNvPr id="15" name="Shape 13"/>
          <p:cNvSpPr/>
          <p:nvPr/>
        </p:nvSpPr>
        <p:spPr>
          <a:xfrm>
            <a:off x="548640" y="3172968"/>
            <a:ext cx="11064240" cy="0"/>
          </a:xfrm>
          <a:prstGeom prst="line">
            <a:avLst/>
          </a:prstGeom>
          <a:noFill/>
          <a:ln w="9525">
            <a:solidFill>
              <a:srgbClr val="F1F5F9"/>
            </a:solidFill>
            <a:prstDash val="solid"/>
          </a:ln>
        </p:spPr>
      </p:sp>
      <p:sp>
        <p:nvSpPr>
          <p:cNvPr id="16" name="Text 14"/>
          <p:cNvSpPr/>
          <p:nvPr/>
        </p:nvSpPr>
        <p:spPr>
          <a:xfrm>
            <a:off x="548640" y="320040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Applied religious ethics</a:t>
            </a:r>
            <a:endParaRPr lang="en-US" sz="1300" dirty="0"/>
          </a:p>
        </p:txBody>
      </p:sp>
      <p:sp>
        <p:nvSpPr>
          <p:cNvPr id="17" name="Shape 15"/>
          <p:cNvSpPr/>
          <p:nvPr/>
        </p:nvSpPr>
        <p:spPr>
          <a:xfrm>
            <a:off x="3566160" y="3392424"/>
            <a:ext cx="2926080" cy="164592"/>
          </a:xfrm>
          <a:prstGeom prst="rect">
            <a:avLst/>
          </a:prstGeom>
          <a:solidFill>
            <a:srgbClr val="E5E7EB"/>
          </a:solidFill>
          <a:ln w="12700">
            <a:solidFill>
              <a:srgbClr val="E5E7EB"/>
            </a:solidFill>
            <a:prstDash val="solid"/>
          </a:ln>
        </p:spPr>
      </p:sp>
      <p:sp>
        <p:nvSpPr>
          <p:cNvPr id="18" name="Shape 16"/>
          <p:cNvSpPr/>
          <p:nvPr/>
        </p:nvSpPr>
        <p:spPr>
          <a:xfrm>
            <a:off x="3566160" y="3392424"/>
            <a:ext cx="380390" cy="164592"/>
          </a:xfrm>
          <a:prstGeom prst="rect">
            <a:avLst/>
          </a:prstGeom>
          <a:solidFill>
            <a:srgbClr val="B8860B"/>
          </a:solidFill>
          <a:ln w="12700">
            <a:solidFill>
              <a:srgbClr val="B8860B"/>
            </a:solidFill>
            <a:prstDash val="solid"/>
          </a:ln>
        </p:spPr>
      </p:sp>
      <p:sp>
        <p:nvSpPr>
          <p:cNvPr id="19" name="Text 17"/>
          <p:cNvSpPr/>
          <p:nvPr/>
        </p:nvSpPr>
        <p:spPr>
          <a:xfrm>
            <a:off x="6675120" y="320040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6 of 47 reach values-reasoning depth (A3 ≥ 75); the rest test recall.</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Muslim end-of-life care, Catholic IVF, Jew weighing Shabbat against emergency.</a:t>
            </a:r>
            <a:endParaRPr lang="en-US" sz="1000" dirty="0"/>
          </a:p>
        </p:txBody>
      </p:sp>
      <p:sp>
        <p:nvSpPr>
          <p:cNvPr id="20" name="Shape 18"/>
          <p:cNvSpPr/>
          <p:nvPr/>
        </p:nvSpPr>
        <p:spPr>
          <a:xfrm>
            <a:off x="548640" y="3767328"/>
            <a:ext cx="11064240" cy="0"/>
          </a:xfrm>
          <a:prstGeom prst="line">
            <a:avLst/>
          </a:prstGeom>
          <a:noFill/>
          <a:ln w="9525">
            <a:solidFill>
              <a:srgbClr val="F1F5F9"/>
            </a:solidFill>
            <a:prstDash val="solid"/>
          </a:ln>
        </p:spPr>
      </p:sp>
      <p:sp>
        <p:nvSpPr>
          <p:cNvPr id="21" name="Text 19"/>
          <p:cNvSpPr/>
          <p:nvPr/>
        </p:nvSpPr>
        <p:spPr>
          <a:xfrm>
            <a:off x="548640" y="379476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Pastoral and spiritual judgment</a:t>
            </a:r>
            <a:endParaRPr lang="en-US" sz="1300" dirty="0"/>
          </a:p>
        </p:txBody>
      </p:sp>
      <p:sp>
        <p:nvSpPr>
          <p:cNvPr id="22" name="Shape 20"/>
          <p:cNvSpPr/>
          <p:nvPr/>
        </p:nvSpPr>
        <p:spPr>
          <a:xfrm>
            <a:off x="3566160" y="3986784"/>
            <a:ext cx="2926080" cy="164592"/>
          </a:xfrm>
          <a:prstGeom prst="rect">
            <a:avLst/>
          </a:prstGeom>
          <a:solidFill>
            <a:srgbClr val="E5E7EB"/>
          </a:solidFill>
          <a:ln w="12700">
            <a:solidFill>
              <a:srgbClr val="E5E7EB"/>
            </a:solidFill>
            <a:prstDash val="solid"/>
          </a:ln>
        </p:spPr>
      </p:sp>
      <p:sp>
        <p:nvSpPr>
          <p:cNvPr id="23" name="Shape 21"/>
          <p:cNvSpPr/>
          <p:nvPr/>
        </p:nvSpPr>
        <p:spPr>
          <a:xfrm>
            <a:off x="3566160" y="3986784"/>
            <a:ext cx="117043" cy="164592"/>
          </a:xfrm>
          <a:prstGeom prst="rect">
            <a:avLst/>
          </a:prstGeom>
          <a:solidFill>
            <a:srgbClr val="B8860B"/>
          </a:solidFill>
          <a:ln w="12700">
            <a:solidFill>
              <a:srgbClr val="B8860B"/>
            </a:solidFill>
            <a:prstDash val="solid"/>
          </a:ln>
        </p:spPr>
      </p:sp>
      <p:sp>
        <p:nvSpPr>
          <p:cNvPr id="24" name="Text 22"/>
          <p:cNvSpPr/>
          <p:nvPr/>
        </p:nvSpPr>
        <p:spPr>
          <a:xfrm>
            <a:off x="6675120" y="379476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None of the 47 use a counseling-format design.</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Grieving widow questioning God, teen torn between faith and identity, convert in doubt.</a:t>
            </a:r>
            <a:endParaRPr lang="en-US" sz="1000" dirty="0"/>
          </a:p>
        </p:txBody>
      </p:sp>
      <p:sp>
        <p:nvSpPr>
          <p:cNvPr id="25" name="Shape 23"/>
          <p:cNvSpPr/>
          <p:nvPr/>
        </p:nvSpPr>
        <p:spPr>
          <a:xfrm>
            <a:off x="548640" y="4361688"/>
            <a:ext cx="11064240" cy="0"/>
          </a:xfrm>
          <a:prstGeom prst="line">
            <a:avLst/>
          </a:prstGeom>
          <a:noFill/>
          <a:ln w="9525">
            <a:solidFill>
              <a:srgbClr val="F1F5F9"/>
            </a:solidFill>
            <a:prstDash val="solid"/>
          </a:ln>
        </p:spPr>
      </p:sp>
      <p:sp>
        <p:nvSpPr>
          <p:cNvPr id="26" name="Text 24"/>
          <p:cNvSpPr/>
          <p:nvPr/>
        </p:nvSpPr>
        <p:spPr>
          <a:xfrm>
            <a:off x="548640" y="438912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Intra-tradition disagreement</a:t>
            </a:r>
            <a:endParaRPr lang="en-US" sz="1300" dirty="0"/>
          </a:p>
        </p:txBody>
      </p:sp>
      <p:sp>
        <p:nvSpPr>
          <p:cNvPr id="27" name="Shape 25"/>
          <p:cNvSpPr/>
          <p:nvPr/>
        </p:nvSpPr>
        <p:spPr>
          <a:xfrm>
            <a:off x="3566160" y="4581144"/>
            <a:ext cx="2926080" cy="164592"/>
          </a:xfrm>
          <a:prstGeom prst="rect">
            <a:avLst/>
          </a:prstGeom>
          <a:solidFill>
            <a:srgbClr val="E5E7EB"/>
          </a:solidFill>
          <a:ln w="12700">
            <a:solidFill>
              <a:srgbClr val="E5E7EB"/>
            </a:solidFill>
            <a:prstDash val="solid"/>
          </a:ln>
        </p:spPr>
      </p:sp>
      <p:sp>
        <p:nvSpPr>
          <p:cNvPr id="28" name="Shape 26"/>
          <p:cNvSpPr/>
          <p:nvPr/>
        </p:nvSpPr>
        <p:spPr>
          <a:xfrm>
            <a:off x="3566160" y="4581144"/>
            <a:ext cx="175565" cy="164592"/>
          </a:xfrm>
          <a:prstGeom prst="rect">
            <a:avLst/>
          </a:prstGeom>
          <a:solidFill>
            <a:srgbClr val="B8860B"/>
          </a:solidFill>
          <a:ln w="12700">
            <a:solidFill>
              <a:srgbClr val="B8860B"/>
            </a:solidFill>
            <a:prstDash val="solid"/>
          </a:ln>
        </p:spPr>
      </p:sp>
      <p:sp>
        <p:nvSpPr>
          <p:cNvPr id="29" name="Text 27"/>
          <p:cNvSpPr/>
          <p:nvPr/>
        </p:nvSpPr>
        <p:spPr>
          <a:xfrm>
            <a:off x="6675120" y="438912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94% of the 47 treat their tradition as monolithic.</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Sunni vs Shia, Reform vs Orthodox, Theravada vs Mahayana, Catholic vs Protestant.</a:t>
            </a:r>
            <a:endParaRPr lang="en-US" sz="1000" dirty="0"/>
          </a:p>
        </p:txBody>
      </p:sp>
      <p:sp>
        <p:nvSpPr>
          <p:cNvPr id="30" name="Shape 28"/>
          <p:cNvSpPr/>
          <p:nvPr/>
        </p:nvSpPr>
        <p:spPr>
          <a:xfrm>
            <a:off x="548640" y="4956048"/>
            <a:ext cx="11064240" cy="0"/>
          </a:xfrm>
          <a:prstGeom prst="line">
            <a:avLst/>
          </a:prstGeom>
          <a:noFill/>
          <a:ln w="9525">
            <a:solidFill>
              <a:srgbClr val="F1F5F9"/>
            </a:solidFill>
            <a:prstDash val="solid"/>
          </a:ln>
        </p:spPr>
      </p:sp>
      <p:sp>
        <p:nvSpPr>
          <p:cNvPr id="31" name="Text 29"/>
          <p:cNvSpPr/>
          <p:nvPr/>
        </p:nvSpPr>
        <p:spPr>
          <a:xfrm>
            <a:off x="548640" y="498348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Tradition-specific reasoning</a:t>
            </a:r>
            <a:endParaRPr lang="en-US" sz="1300" dirty="0"/>
          </a:p>
        </p:txBody>
      </p:sp>
      <p:sp>
        <p:nvSpPr>
          <p:cNvPr id="32" name="Shape 30"/>
          <p:cNvSpPr/>
          <p:nvPr/>
        </p:nvSpPr>
        <p:spPr>
          <a:xfrm>
            <a:off x="3566160" y="5175504"/>
            <a:ext cx="2926080" cy="164592"/>
          </a:xfrm>
          <a:prstGeom prst="rect">
            <a:avLst/>
          </a:prstGeom>
          <a:solidFill>
            <a:srgbClr val="E5E7EB"/>
          </a:solidFill>
          <a:ln w="12700">
            <a:solidFill>
              <a:srgbClr val="E5E7EB"/>
            </a:solidFill>
            <a:prstDash val="solid"/>
          </a:ln>
        </p:spPr>
      </p:sp>
      <p:sp>
        <p:nvSpPr>
          <p:cNvPr id="33" name="Shape 31"/>
          <p:cNvSpPr/>
          <p:nvPr/>
        </p:nvSpPr>
        <p:spPr>
          <a:xfrm>
            <a:off x="3566160" y="5175504"/>
            <a:ext cx="555955" cy="164592"/>
          </a:xfrm>
          <a:prstGeom prst="rect">
            <a:avLst/>
          </a:prstGeom>
          <a:solidFill>
            <a:srgbClr val="B8860B"/>
          </a:solidFill>
          <a:ln w="12700">
            <a:solidFill>
              <a:srgbClr val="B8860B"/>
            </a:solidFill>
            <a:prstDash val="solid"/>
          </a:ln>
        </p:spPr>
      </p:sp>
      <p:sp>
        <p:nvSpPr>
          <p:cNvPr id="34" name="Text 32"/>
          <p:cNvSpPr/>
          <p:nvPr/>
        </p:nvSpPr>
        <p:spPr>
          <a:xfrm>
            <a:off x="6675120" y="498348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19% of the 47 reach A3 ≥ 50; most fall to generic factual recall.</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Tasks that require halakha, fiqh, dharma, magisterium, or li to answer.</a:t>
            </a:r>
            <a:endParaRPr lang="en-US" sz="1000" dirty="0"/>
          </a:p>
        </p:txBody>
      </p:sp>
      <p:sp>
        <p:nvSpPr>
          <p:cNvPr id="35" name="Shape 33"/>
          <p:cNvSpPr/>
          <p:nvPr/>
        </p:nvSpPr>
        <p:spPr>
          <a:xfrm>
            <a:off x="548640" y="5550408"/>
            <a:ext cx="11064240" cy="0"/>
          </a:xfrm>
          <a:prstGeom prst="line">
            <a:avLst/>
          </a:prstGeom>
          <a:noFill/>
          <a:ln w="9525">
            <a:solidFill>
              <a:srgbClr val="F1F5F9"/>
            </a:solidFill>
            <a:prstDash val="solid"/>
          </a:ln>
        </p:spPr>
      </p:sp>
      <p:sp>
        <p:nvSpPr>
          <p:cNvPr id="36" name="Text 34"/>
          <p:cNvSpPr/>
          <p:nvPr/>
        </p:nvSpPr>
        <p:spPr>
          <a:xfrm>
            <a:off x="548640" y="557784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Expert-reviewed rubrics</a:t>
            </a:r>
            <a:endParaRPr lang="en-US" sz="1300" dirty="0"/>
          </a:p>
        </p:txBody>
      </p:sp>
      <p:sp>
        <p:nvSpPr>
          <p:cNvPr id="37" name="Shape 35"/>
          <p:cNvSpPr/>
          <p:nvPr/>
        </p:nvSpPr>
        <p:spPr>
          <a:xfrm>
            <a:off x="3566160" y="5769864"/>
            <a:ext cx="2926080" cy="164592"/>
          </a:xfrm>
          <a:prstGeom prst="rect">
            <a:avLst/>
          </a:prstGeom>
          <a:solidFill>
            <a:srgbClr val="E5E7EB"/>
          </a:solidFill>
          <a:ln w="12700">
            <a:solidFill>
              <a:srgbClr val="E5E7EB"/>
            </a:solidFill>
            <a:prstDash val="solid"/>
          </a:ln>
        </p:spPr>
      </p:sp>
      <p:sp>
        <p:nvSpPr>
          <p:cNvPr id="38" name="Shape 36"/>
          <p:cNvSpPr/>
          <p:nvPr/>
        </p:nvSpPr>
        <p:spPr>
          <a:xfrm>
            <a:off x="3566160" y="5769864"/>
            <a:ext cx="438912" cy="164592"/>
          </a:xfrm>
          <a:prstGeom prst="rect">
            <a:avLst/>
          </a:prstGeom>
          <a:solidFill>
            <a:srgbClr val="B8860B"/>
          </a:solidFill>
          <a:ln w="12700">
            <a:solidFill>
              <a:srgbClr val="B8860B"/>
            </a:solidFill>
            <a:prstDash val="solid"/>
          </a:ln>
        </p:spPr>
      </p:sp>
      <p:sp>
        <p:nvSpPr>
          <p:cNvPr id="39" name="Text 37"/>
          <p:cNvSpPr/>
          <p:nvPr/>
        </p:nvSpPr>
        <p:spPr>
          <a:xfrm>
            <a:off x="6675120" y="557784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Theological advisory input is rare; the 12-member council on this dashboard is the exception.</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Rabbi, imam, monk, or theologian review of items at scale.</a:t>
            </a:r>
            <a:endParaRPr lang="en-US" sz="1000" dirty="0"/>
          </a:p>
        </p:txBody>
      </p:sp>
      <p:sp>
        <p:nvSpPr>
          <p:cNvPr id="40" name="Shape 38"/>
          <p:cNvSpPr/>
          <p:nvPr/>
        </p:nvSpPr>
        <p:spPr>
          <a:xfrm>
            <a:off x="548640" y="6144768"/>
            <a:ext cx="11064240" cy="0"/>
          </a:xfrm>
          <a:prstGeom prst="line">
            <a:avLst/>
          </a:prstGeom>
          <a:noFill/>
          <a:ln w="9525">
            <a:solidFill>
              <a:srgbClr val="F1F5F9"/>
            </a:solidFill>
            <a:prstDash val="solid"/>
          </a:ln>
        </p:spPr>
      </p:sp>
      <p:sp>
        <p:nvSpPr>
          <p:cNvPr id="41" name="Shape 39"/>
          <p:cNvSpPr/>
          <p:nvPr/>
        </p:nvSpPr>
        <p:spPr>
          <a:xfrm>
            <a:off x="0" y="6217920"/>
            <a:ext cx="12161520" cy="640080"/>
          </a:xfrm>
          <a:prstGeom prst="rect">
            <a:avLst/>
          </a:prstGeom>
          <a:solidFill>
            <a:srgbClr val="0F1E3D"/>
          </a:solidFill>
          <a:ln w="12700">
            <a:solidFill>
              <a:srgbClr val="0F1E3D"/>
            </a:solidFill>
            <a:prstDash val="solid"/>
          </a:ln>
        </p:spPr>
      </p:sp>
      <p:sp>
        <p:nvSpPr>
          <p:cNvPr id="42" name="Text 40"/>
          <p:cNvSpPr/>
          <p:nvPr/>
        </p:nvSpPr>
        <p:spPr>
          <a:xfrm>
            <a:off x="548640" y="6217920"/>
            <a:ext cx="1280160" cy="640080"/>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THE GAP</a:t>
            </a:r>
            <a:endParaRPr lang="en-US" sz="1000" dirty="0"/>
          </a:p>
        </p:txBody>
      </p:sp>
      <p:sp>
        <p:nvSpPr>
          <p:cNvPr id="43" name="Text 41"/>
          <p:cNvSpPr/>
          <p:nvPr/>
        </p:nvSpPr>
        <p:spPr>
          <a:xfrm>
            <a:off x="1828800" y="6217920"/>
            <a:ext cx="10332720" cy="640080"/>
          </a:xfrm>
          <a:prstGeom prst="rect">
            <a:avLst/>
          </a:prstGeom>
          <a:noFill/>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Religious-judgment benchmarks built scenario-by-scenario inside specific traditions, with expert review.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 cy="457200"/>
          </a:xfrm>
          <a:prstGeom prst="rect">
            <a:avLst/>
          </a:prstGeom>
          <a:noFill/>
        </p:spPr>
        <p:txBody>
          <a:bodyPr wrap="square" lIns="0" tIns="0" rIns="0" bIns="0" rtlCol="0" anchor="ctr"/>
          <a:lstStyle/>
          <a:p>
            <a:pPr marL="0" indent="0" algn="l">
              <a:buNone/>
            </a:pPr>
            <a:r>
              <a:rPr lang="en-US" sz="1800" b="1" kern="0" spc="300" dirty="0">
                <a:solidFill>
                  <a:srgbClr val="B8860B"/>
                </a:solidFill>
                <a:latin typeface="Calibri" pitchFamily="34" charset="0"/>
                <a:ea typeface="Calibri" pitchFamily="34" charset="-122"/>
                <a:cs typeface="Calibri" pitchFamily="34" charset="-120"/>
              </a:rPr>
              <a:t>02</a:t>
            </a:r>
            <a:endParaRPr lang="en-US" sz="1800" dirty="0"/>
          </a:p>
        </p:txBody>
      </p:sp>
      <p:sp>
        <p:nvSpPr>
          <p:cNvPr id="3" name="Text 1"/>
          <p:cNvSpPr/>
          <p:nvPr/>
        </p:nvSpPr>
        <p:spPr>
          <a:xfrm>
            <a:off x="1188720" y="274320"/>
            <a:ext cx="10424160" cy="457200"/>
          </a:xfrm>
          <a:prstGeom prst="rect">
            <a:avLst/>
          </a:prstGeom>
          <a:noFill/>
        </p:spPr>
        <p:txBody>
          <a:bodyPr wrap="square" lIns="0" tIns="0" rIns="0" bIns="0" rtlCol="0" anchor="ctr"/>
          <a:lstStyle/>
          <a:p>
            <a:pPr marL="0" indent="0" algn="l">
              <a:buNone/>
            </a:pPr>
            <a:r>
              <a:rPr lang="en-US" sz="1800" b="1" kern="0" spc="500" dirty="0">
                <a:solidFill>
                  <a:srgbClr val="B8860B"/>
                </a:solidFill>
                <a:latin typeface="Calibri" pitchFamily="34" charset="0"/>
                <a:ea typeface="Calibri" pitchFamily="34" charset="-122"/>
                <a:cs typeface="Calibri" pitchFamily="34" charset="-120"/>
              </a:rPr>
              <a:t>TRACK B  ·  KNOWLEDGE</a:t>
            </a:r>
            <a:endParaRPr lang="en-US" sz="1800" dirty="0"/>
          </a:p>
        </p:txBody>
      </p:sp>
      <p:sp>
        <p:nvSpPr>
          <p:cNvPr id="4" name="Text 2"/>
          <p:cNvSpPr/>
          <p:nvPr/>
        </p:nvSpPr>
        <p:spPr>
          <a:xfrm>
            <a:off x="548640" y="777240"/>
            <a:ext cx="11064240" cy="640080"/>
          </a:xfrm>
          <a:prstGeom prst="rect">
            <a:avLst/>
          </a:prstGeom>
          <a:noFill/>
        </p:spPr>
        <p:txBody>
          <a:bodyPr wrap="square" lIns="0" tIns="0" rIns="0" bIns="0" rtlCol="0" anchor="t"/>
          <a:lstStyle/>
          <a:p>
            <a:pPr marL="0" indent="0" algn="l">
              <a:buNone/>
            </a:pPr>
            <a:r>
              <a:rPr lang="en-US" sz="3000" b="1" dirty="0">
                <a:solidFill>
                  <a:srgbClr val="0F1E3D"/>
                </a:solidFill>
                <a:latin typeface="Georgia" panose="02040502050405090303" pitchFamily="34" charset="0"/>
                <a:ea typeface="Georgia" panose="02040502050405090303" pitchFamily="34" charset="-122"/>
                <a:cs typeface="Georgia" panose="02040502050405090303" pitchFamily="34" charset="-120"/>
              </a:rPr>
              <a:t>Knowledge tasks are not source-aware</a:t>
            </a:r>
            <a:endParaRPr lang="en-US" sz="3000" dirty="0"/>
          </a:p>
        </p:txBody>
      </p:sp>
      <p:sp>
        <p:nvSpPr>
          <p:cNvPr id="5" name="Text 3"/>
          <p:cNvSpPr/>
          <p:nvPr/>
        </p:nvSpPr>
        <p:spPr>
          <a:xfrm>
            <a:off x="548640" y="1417320"/>
            <a:ext cx="11064240" cy="457200"/>
          </a:xfrm>
          <a:prstGeom prst="rect">
            <a:avLst/>
          </a:prstGeom>
          <a:noFill/>
        </p:spPr>
        <p:txBody>
          <a:bodyPr wrap="square" lIns="0" tIns="0" rIns="0" bIns="0" rtlCol="0" anchor="t"/>
          <a:lstStyle/>
          <a:p>
            <a:pPr marL="0" indent="0" algn="l">
              <a:buNone/>
            </a:pPr>
            <a:r>
              <a:rPr lang="en-US" sz="1400" i="1" dirty="0">
                <a:solidFill>
                  <a:srgbClr val="475569"/>
                </a:solidFill>
                <a:latin typeface="Calibri" pitchFamily="34" charset="0"/>
                <a:ea typeface="Calibri" pitchFamily="34" charset="-122"/>
                <a:cs typeface="Calibri" pitchFamily="34" charset="-120"/>
              </a:rPr>
              <a:t>A complete MultiFaithBench tests source-grounded religious knowledge across traditions, languages, and authority structures. Most current assets stop at scripture or fact recall.</a:t>
            </a:r>
            <a:endParaRPr lang="en-US" sz="1400" dirty="0"/>
          </a:p>
        </p:txBody>
      </p:sp>
      <p:sp>
        <p:nvSpPr>
          <p:cNvPr id="6" name="Shape 4"/>
          <p:cNvSpPr/>
          <p:nvPr/>
        </p:nvSpPr>
        <p:spPr>
          <a:xfrm>
            <a:off x="868680" y="1965960"/>
            <a:ext cx="3931920" cy="777240"/>
          </a:xfrm>
          <a:prstGeom prst="rect">
            <a:avLst/>
          </a:prstGeom>
          <a:solidFill>
            <a:srgbClr val="E2E8F0"/>
          </a:solidFill>
          <a:ln w="12700">
            <a:solidFill>
              <a:srgbClr val="E2E8F0"/>
            </a:solidFill>
            <a:prstDash val="solid"/>
          </a:ln>
        </p:spPr>
      </p:sp>
      <p:sp>
        <p:nvSpPr>
          <p:cNvPr id="7" name="Text 5"/>
          <p:cNvSpPr/>
          <p:nvPr/>
        </p:nvSpPr>
        <p:spPr>
          <a:xfrm>
            <a:off x="1051560" y="2057400"/>
            <a:ext cx="3566160" cy="292608"/>
          </a:xfrm>
          <a:prstGeom prst="rect">
            <a:avLst/>
          </a:prstGeom>
          <a:noFill/>
        </p:spPr>
        <p:txBody>
          <a:bodyPr wrap="square" lIns="0" tIns="0" rIns="0" bIns="0" rtlCol="0" anchor="ctr"/>
          <a:lstStyle/>
          <a:p>
            <a:pPr marL="0" indent="0" algn="l">
              <a:buNone/>
            </a:pPr>
            <a:r>
              <a:rPr lang="en-US" sz="1100" b="1" kern="0" spc="200" dirty="0">
                <a:solidFill>
                  <a:srgbClr val="475569"/>
                </a:solidFill>
                <a:latin typeface="Calibri" pitchFamily="34" charset="0"/>
                <a:ea typeface="Calibri" pitchFamily="34" charset="-122"/>
                <a:cs typeface="Calibri" pitchFamily="34" charset="-120"/>
              </a:rPr>
              <a:t>RESOURCE LAYER</a:t>
            </a:r>
            <a:endParaRPr lang="en-US" sz="1100" dirty="0"/>
          </a:p>
        </p:txBody>
      </p:sp>
      <p:sp>
        <p:nvSpPr>
          <p:cNvPr id="8" name="Text 6"/>
          <p:cNvSpPr/>
          <p:nvPr/>
        </p:nvSpPr>
        <p:spPr>
          <a:xfrm>
            <a:off x="1051560" y="2350008"/>
            <a:ext cx="3566160" cy="365760"/>
          </a:xfrm>
          <a:prstGeom prst="rect">
            <a:avLst/>
          </a:prstGeom>
          <a:noFill/>
        </p:spPr>
        <p:txBody>
          <a:bodyPr wrap="square" lIns="0" tIns="0" rIns="0" bIns="0" rtlCol="0" anchor="t"/>
          <a:lstStyle/>
          <a:p>
            <a:pPr marL="0" indent="0" algn="l">
              <a:buNone/>
            </a:pPr>
            <a:r>
              <a:rPr lang="en-US" sz="1100" dirty="0">
                <a:solidFill>
                  <a:srgbClr val="475569"/>
                </a:solidFill>
                <a:latin typeface="Calibri" pitchFamily="34" charset="0"/>
                <a:ea typeface="Calibri" pitchFamily="34" charset="-122"/>
                <a:cs typeface="Calibri" pitchFamily="34" charset="-120"/>
              </a:rPr>
              <a:t>Religious text and corpora exist. No question, label, or metric.</a:t>
            </a:r>
            <a:endParaRPr lang="en-US" sz="1100" dirty="0"/>
          </a:p>
        </p:txBody>
      </p:sp>
      <p:sp>
        <p:nvSpPr>
          <p:cNvPr id="9" name="Shape 7"/>
          <p:cNvSpPr/>
          <p:nvPr/>
        </p:nvSpPr>
        <p:spPr>
          <a:xfrm>
            <a:off x="4754880" y="2244852"/>
            <a:ext cx="201168" cy="219456"/>
          </a:xfrm>
          <a:prstGeom prst="chevron">
            <a:avLst/>
          </a:prstGeom>
          <a:solidFill>
            <a:srgbClr val="94A3B8"/>
          </a:solidFill>
          <a:ln w="12700">
            <a:solidFill>
              <a:srgbClr val="94A3B8"/>
            </a:solidFill>
            <a:prstDash val="solid"/>
          </a:ln>
        </p:spPr>
      </p:sp>
      <p:sp>
        <p:nvSpPr>
          <p:cNvPr id="10" name="Shape 8"/>
          <p:cNvSpPr/>
          <p:nvPr/>
        </p:nvSpPr>
        <p:spPr>
          <a:xfrm>
            <a:off x="4937760" y="1965960"/>
            <a:ext cx="3108960" cy="777240"/>
          </a:xfrm>
          <a:prstGeom prst="rect">
            <a:avLst/>
          </a:prstGeom>
          <a:solidFill>
            <a:srgbClr val="1F3358"/>
          </a:solidFill>
          <a:ln w="12700">
            <a:solidFill>
              <a:srgbClr val="1F3358"/>
            </a:solidFill>
            <a:prstDash val="solid"/>
          </a:ln>
        </p:spPr>
      </p:sp>
      <p:sp>
        <p:nvSpPr>
          <p:cNvPr id="11" name="Text 9"/>
          <p:cNvSpPr/>
          <p:nvPr/>
        </p:nvSpPr>
        <p:spPr>
          <a:xfrm>
            <a:off x="5120640" y="2057400"/>
            <a:ext cx="2743200" cy="292608"/>
          </a:xfrm>
          <a:prstGeom prst="rect">
            <a:avLst/>
          </a:prstGeom>
          <a:noFill/>
        </p:spPr>
        <p:txBody>
          <a:bodyPr wrap="square" lIns="0" tIns="0" rIns="0" bIns="0" rtlCol="0" anchor="ctr"/>
          <a:lstStyle/>
          <a:p>
            <a:pPr marL="0" indent="0" algn="l">
              <a:buNone/>
            </a:pPr>
            <a:r>
              <a:rPr lang="en-US" sz="1100" b="1" kern="0" spc="200" dirty="0">
                <a:solidFill>
                  <a:srgbClr val="FF0000"/>
                </a:solidFill>
                <a:latin typeface="Calibri" pitchFamily="34" charset="0"/>
                <a:ea typeface="Calibri" pitchFamily="34" charset="-122"/>
                <a:cs typeface="Calibri" pitchFamily="34" charset="-120"/>
              </a:rPr>
              <a:t>TRACK B</a:t>
            </a:r>
            <a:endParaRPr lang="en-US" sz="1100" b="1" kern="0" spc="200" dirty="0">
              <a:solidFill>
                <a:srgbClr val="FF0000"/>
              </a:solidFill>
              <a:latin typeface="Calibri" pitchFamily="34" charset="0"/>
              <a:ea typeface="Calibri" pitchFamily="34" charset="-122"/>
              <a:cs typeface="Calibri" pitchFamily="34" charset="-120"/>
            </a:endParaRPr>
          </a:p>
        </p:txBody>
      </p:sp>
      <p:sp>
        <p:nvSpPr>
          <p:cNvPr id="12" name="Text 10"/>
          <p:cNvSpPr/>
          <p:nvPr/>
        </p:nvSpPr>
        <p:spPr>
          <a:xfrm>
            <a:off x="5120640" y="2350008"/>
            <a:ext cx="2743200" cy="36576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Question + answer + metric exist. The benchmark runs.</a:t>
            </a:r>
            <a:endParaRPr lang="en-US" sz="1100" dirty="0"/>
          </a:p>
        </p:txBody>
      </p:sp>
      <p:sp>
        <p:nvSpPr>
          <p:cNvPr id="15" name="Text 13"/>
          <p:cNvSpPr/>
          <p:nvPr/>
        </p:nvSpPr>
        <p:spPr>
          <a:xfrm>
            <a:off x="8366760" y="2057400"/>
            <a:ext cx="2743200" cy="292608"/>
          </a:xfrm>
          <a:prstGeom prst="rect">
            <a:avLst/>
          </a:prstGeom>
          <a:noFill/>
        </p:spPr>
        <p:txBody>
          <a:bodyPr wrap="square" lIns="0" tIns="0" rIns="0" bIns="0" rtlCol="0" anchor="ctr"/>
          <a:lstStyle/>
          <a:p>
            <a:pPr marL="0" indent="0" algn="l">
              <a:buNone/>
            </a:pPr>
            <a:r>
              <a:rPr lang="en-US" sz="1100" b="1" kern="0" spc="200" dirty="0">
                <a:solidFill>
                  <a:srgbClr val="FFFFFF"/>
                </a:solidFill>
                <a:latin typeface="Calibri" pitchFamily="34" charset="0"/>
                <a:ea typeface="Calibri" pitchFamily="34" charset="-122"/>
                <a:cs typeface="Calibri" pitchFamily="34" charset="-120"/>
              </a:rPr>
              <a:t>Want to build them into: SOURCE-AWARE TRACK B</a:t>
            </a:r>
            <a:endParaRPr lang="en-US" sz="1100" dirty="0"/>
          </a:p>
        </p:txBody>
      </p:sp>
      <p:sp>
        <p:nvSpPr>
          <p:cNvPr id="16" name="Text 14"/>
          <p:cNvSpPr/>
          <p:nvPr/>
        </p:nvSpPr>
        <p:spPr>
          <a:xfrm>
            <a:off x="8366760" y="2350008"/>
            <a:ext cx="2743200" cy="36576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Cites, respects authority, faithful to source. The </a:t>
            </a:r>
            <a:r>
              <a:rPr lang="en-US" sz="1100" i="1" dirty="0">
                <a:solidFill>
                  <a:srgbClr val="FFFFFF"/>
                </a:solidFill>
                <a:latin typeface="Calibri" pitchFamily="34" charset="0"/>
                <a:ea typeface="Calibri" pitchFamily="34" charset="-122"/>
                <a:cs typeface="Calibri" pitchFamily="34" charset="-120"/>
              </a:rPr>
              <a:t>missing </a:t>
            </a:r>
            <a:r>
              <a:rPr lang="en-US" sz="1100" dirty="0">
                <a:solidFill>
                  <a:srgbClr val="FFFFFF"/>
                </a:solidFill>
                <a:latin typeface="Calibri" pitchFamily="34" charset="0"/>
                <a:ea typeface="Calibri" pitchFamily="34" charset="-122"/>
                <a:cs typeface="Calibri" pitchFamily="34" charset="-120"/>
              </a:rPr>
              <a:t>tier.</a:t>
            </a:r>
            <a:endParaRPr lang="en-US" sz="1100" dirty="0"/>
          </a:p>
        </p:txBody>
      </p:sp>
      <p:sp>
        <p:nvSpPr>
          <p:cNvPr id="17" name="Text 15"/>
          <p:cNvSpPr/>
          <p:nvPr/>
        </p:nvSpPr>
        <p:spPr>
          <a:xfrm>
            <a:off x="548640" y="2834640"/>
            <a:ext cx="8595360" cy="274320"/>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MISSING LAYERS IN THE KNOWLEDGE BENCHMARK ECOSYSTEM</a:t>
            </a:r>
            <a:endParaRPr lang="en-US" sz="1000" dirty="0"/>
          </a:p>
        </p:txBody>
      </p:sp>
      <p:sp>
        <p:nvSpPr>
          <p:cNvPr id="18" name="Shape 16"/>
          <p:cNvSpPr/>
          <p:nvPr/>
        </p:nvSpPr>
        <p:spPr>
          <a:xfrm>
            <a:off x="9326880" y="2880360"/>
            <a:ext cx="201168" cy="128016"/>
          </a:xfrm>
          <a:prstGeom prst="rect">
            <a:avLst/>
          </a:prstGeom>
          <a:solidFill>
            <a:srgbClr val="B8860B"/>
          </a:solidFill>
          <a:ln w="12700">
            <a:solidFill>
              <a:srgbClr val="B8860B"/>
            </a:solidFill>
            <a:prstDash val="solid"/>
          </a:ln>
        </p:spPr>
      </p:sp>
      <p:sp>
        <p:nvSpPr>
          <p:cNvPr id="19" name="Text 17"/>
          <p:cNvSpPr/>
          <p:nvPr/>
        </p:nvSpPr>
        <p:spPr>
          <a:xfrm>
            <a:off x="9601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present</a:t>
            </a:r>
            <a:endParaRPr lang="en-US" sz="900" dirty="0"/>
          </a:p>
        </p:txBody>
      </p:sp>
      <p:sp>
        <p:nvSpPr>
          <p:cNvPr id="20" name="Shape 18"/>
          <p:cNvSpPr/>
          <p:nvPr/>
        </p:nvSpPr>
        <p:spPr>
          <a:xfrm>
            <a:off x="10469880" y="2880360"/>
            <a:ext cx="201168" cy="128016"/>
          </a:xfrm>
          <a:prstGeom prst="rect">
            <a:avLst/>
          </a:prstGeom>
          <a:solidFill>
            <a:srgbClr val="E5E7EB"/>
          </a:solidFill>
          <a:ln w="12700">
            <a:solidFill>
              <a:srgbClr val="E5E7EB"/>
            </a:solidFill>
            <a:prstDash val="solid"/>
          </a:ln>
        </p:spPr>
      </p:sp>
      <p:sp>
        <p:nvSpPr>
          <p:cNvPr id="21" name="Text 19"/>
          <p:cNvSpPr/>
          <p:nvPr/>
        </p:nvSpPr>
        <p:spPr>
          <a:xfrm>
            <a:off x="10744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missing</a:t>
            </a:r>
            <a:endParaRPr lang="en-US" sz="900" dirty="0"/>
          </a:p>
        </p:txBody>
      </p:sp>
      <p:sp>
        <p:nvSpPr>
          <p:cNvPr id="22" name="Text 20"/>
          <p:cNvSpPr/>
          <p:nvPr/>
        </p:nvSpPr>
        <p:spPr>
          <a:xfrm>
            <a:off x="548640" y="324612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Balanced tradition coverage</a:t>
            </a:r>
            <a:endParaRPr lang="en-US" sz="1300" dirty="0"/>
          </a:p>
        </p:txBody>
      </p:sp>
      <p:sp>
        <p:nvSpPr>
          <p:cNvPr id="23" name="Shape 21"/>
          <p:cNvSpPr/>
          <p:nvPr/>
        </p:nvSpPr>
        <p:spPr>
          <a:xfrm>
            <a:off x="3566160" y="3438144"/>
            <a:ext cx="2926080" cy="164592"/>
          </a:xfrm>
          <a:prstGeom prst="rect">
            <a:avLst/>
          </a:prstGeom>
          <a:solidFill>
            <a:srgbClr val="E5E7EB"/>
          </a:solidFill>
          <a:ln w="12700">
            <a:solidFill>
              <a:srgbClr val="E5E7EB"/>
            </a:solidFill>
            <a:prstDash val="solid"/>
          </a:ln>
        </p:spPr>
      </p:sp>
      <p:sp>
        <p:nvSpPr>
          <p:cNvPr id="24" name="Shape 22"/>
          <p:cNvSpPr/>
          <p:nvPr/>
        </p:nvSpPr>
        <p:spPr>
          <a:xfrm>
            <a:off x="3566160" y="3438144"/>
            <a:ext cx="731520" cy="164592"/>
          </a:xfrm>
          <a:prstGeom prst="rect">
            <a:avLst/>
          </a:prstGeom>
          <a:solidFill>
            <a:srgbClr val="B8860B"/>
          </a:solidFill>
          <a:ln w="12700">
            <a:solidFill>
              <a:srgbClr val="B8860B"/>
            </a:solidFill>
            <a:prstDash val="solid"/>
          </a:ln>
        </p:spPr>
      </p:sp>
      <p:sp>
        <p:nvSpPr>
          <p:cNvPr id="25" name="Text 23"/>
          <p:cNvSpPr/>
          <p:nvPr/>
        </p:nvSpPr>
        <p:spPr>
          <a:xfrm>
            <a:off x="6675120" y="324612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60% of the 47 are Islamic, mostly Quranic QA repurposed from Arabic NLP.</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Source-grounded QA for Sikh, Jain, Daoist, Bahá'í, indigenous traditions.</a:t>
            </a:r>
            <a:endParaRPr lang="en-US" sz="1000" dirty="0"/>
          </a:p>
        </p:txBody>
      </p:sp>
      <p:sp>
        <p:nvSpPr>
          <p:cNvPr id="26" name="Shape 24"/>
          <p:cNvSpPr/>
          <p:nvPr/>
        </p:nvSpPr>
        <p:spPr>
          <a:xfrm>
            <a:off x="548640" y="3750183"/>
            <a:ext cx="11064240" cy="0"/>
          </a:xfrm>
          <a:prstGeom prst="line">
            <a:avLst/>
          </a:prstGeom>
          <a:noFill/>
          <a:ln w="9525">
            <a:solidFill>
              <a:srgbClr val="F1F5F9"/>
            </a:solidFill>
            <a:prstDash val="solid"/>
          </a:ln>
        </p:spPr>
      </p:sp>
      <p:sp>
        <p:nvSpPr>
          <p:cNvPr id="27" name="Text 25"/>
          <p:cNvSpPr/>
          <p:nvPr/>
        </p:nvSpPr>
        <p:spPr>
          <a:xfrm>
            <a:off x="548640" y="3721608"/>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Authority-aware answering</a:t>
            </a:r>
            <a:endParaRPr lang="en-US" sz="1300" dirty="0"/>
          </a:p>
        </p:txBody>
      </p:sp>
      <p:sp>
        <p:nvSpPr>
          <p:cNvPr id="28" name="Shape 26"/>
          <p:cNvSpPr/>
          <p:nvPr/>
        </p:nvSpPr>
        <p:spPr>
          <a:xfrm>
            <a:off x="3566160" y="3913632"/>
            <a:ext cx="2926080" cy="164592"/>
          </a:xfrm>
          <a:prstGeom prst="rect">
            <a:avLst/>
          </a:prstGeom>
          <a:solidFill>
            <a:srgbClr val="E5E7EB"/>
          </a:solidFill>
          <a:ln w="12700">
            <a:solidFill>
              <a:srgbClr val="E5E7EB"/>
            </a:solidFill>
            <a:prstDash val="solid"/>
          </a:ln>
        </p:spPr>
      </p:sp>
      <p:sp>
        <p:nvSpPr>
          <p:cNvPr id="29" name="Shape 27"/>
          <p:cNvSpPr/>
          <p:nvPr/>
        </p:nvSpPr>
        <p:spPr>
          <a:xfrm>
            <a:off x="3566160" y="3913632"/>
            <a:ext cx="292608" cy="164592"/>
          </a:xfrm>
          <a:prstGeom prst="rect">
            <a:avLst/>
          </a:prstGeom>
          <a:solidFill>
            <a:srgbClr val="B8860B"/>
          </a:solidFill>
          <a:ln w="12700">
            <a:solidFill>
              <a:srgbClr val="B8860B"/>
            </a:solidFill>
            <a:prstDash val="solid"/>
          </a:ln>
        </p:spPr>
      </p:sp>
      <p:sp>
        <p:nvSpPr>
          <p:cNvPr id="30" name="Text 28"/>
          <p:cNvSpPr/>
          <p:nvPr/>
        </p:nvSpPr>
        <p:spPr>
          <a:xfrm>
            <a:off x="6675120" y="3721608"/>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T2 fara'id Arabic MCQ tests inheritance law knowledge, not authority awareness.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Tasks needing Catechism (Catholic), four schools (Sunni), lineage (Tibetan).</a:t>
            </a:r>
            <a:endParaRPr lang="en-US" sz="1000" dirty="0"/>
          </a:p>
        </p:txBody>
      </p:sp>
      <p:sp>
        <p:nvSpPr>
          <p:cNvPr id="31" name="Shape 29"/>
          <p:cNvSpPr/>
          <p:nvPr/>
        </p:nvSpPr>
        <p:spPr>
          <a:xfrm>
            <a:off x="548640" y="4246626"/>
            <a:ext cx="11064240" cy="0"/>
          </a:xfrm>
          <a:prstGeom prst="line">
            <a:avLst/>
          </a:prstGeom>
          <a:noFill/>
          <a:ln w="9525">
            <a:solidFill>
              <a:srgbClr val="F1F5F9"/>
            </a:solidFill>
            <a:prstDash val="solid"/>
          </a:ln>
        </p:spPr>
      </p:sp>
      <p:sp>
        <p:nvSpPr>
          <p:cNvPr id="32" name="Text 30"/>
          <p:cNvSpPr/>
          <p:nvPr/>
        </p:nvSpPr>
        <p:spPr>
          <a:xfrm>
            <a:off x="548640" y="4197096"/>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Source faithfulness</a:t>
            </a:r>
            <a:endParaRPr lang="en-US" sz="1300" dirty="0"/>
          </a:p>
        </p:txBody>
      </p:sp>
      <p:sp>
        <p:nvSpPr>
          <p:cNvPr id="33" name="Shape 31"/>
          <p:cNvSpPr/>
          <p:nvPr/>
        </p:nvSpPr>
        <p:spPr>
          <a:xfrm>
            <a:off x="3566160" y="4389120"/>
            <a:ext cx="2926080" cy="164592"/>
          </a:xfrm>
          <a:prstGeom prst="rect">
            <a:avLst/>
          </a:prstGeom>
          <a:solidFill>
            <a:srgbClr val="E5E7EB"/>
          </a:solidFill>
          <a:ln w="12700">
            <a:solidFill>
              <a:srgbClr val="E5E7EB"/>
            </a:solidFill>
            <a:prstDash val="solid"/>
          </a:ln>
        </p:spPr>
      </p:sp>
      <p:sp>
        <p:nvSpPr>
          <p:cNvPr id="34" name="Shape 32"/>
          <p:cNvSpPr/>
          <p:nvPr/>
        </p:nvSpPr>
        <p:spPr>
          <a:xfrm>
            <a:off x="3566160" y="4389120"/>
            <a:ext cx="234086" cy="164592"/>
          </a:xfrm>
          <a:prstGeom prst="rect">
            <a:avLst/>
          </a:prstGeom>
          <a:solidFill>
            <a:srgbClr val="B8860B"/>
          </a:solidFill>
          <a:ln w="12700">
            <a:solidFill>
              <a:srgbClr val="B8860B"/>
            </a:solidFill>
            <a:prstDash val="solid"/>
          </a:ln>
        </p:spPr>
      </p:sp>
      <p:sp>
        <p:nvSpPr>
          <p:cNvPr id="35" name="Text 33"/>
          <p:cNvSpPr/>
          <p:nvPr/>
        </p:nvSpPr>
        <p:spPr>
          <a:xfrm>
            <a:off x="6675120" y="4197096"/>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Scripture retrieval is common; faithfulness to cited passage is not scored.</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Scoring whether an answer stays inside the cited passage and avoids modern gloss.</a:t>
            </a:r>
            <a:endParaRPr lang="en-US" sz="1000" dirty="0"/>
          </a:p>
        </p:txBody>
      </p:sp>
      <p:sp>
        <p:nvSpPr>
          <p:cNvPr id="36" name="Shape 34"/>
          <p:cNvSpPr/>
          <p:nvPr/>
        </p:nvSpPr>
        <p:spPr>
          <a:xfrm>
            <a:off x="548640" y="4764024"/>
            <a:ext cx="11064240" cy="0"/>
          </a:xfrm>
          <a:prstGeom prst="line">
            <a:avLst/>
          </a:prstGeom>
          <a:noFill/>
          <a:ln w="9525">
            <a:solidFill>
              <a:srgbClr val="F1F5F9"/>
            </a:solidFill>
            <a:prstDash val="solid"/>
          </a:ln>
        </p:spPr>
      </p:sp>
      <p:sp>
        <p:nvSpPr>
          <p:cNvPr id="37" name="Text 35"/>
          <p:cNvSpPr/>
          <p:nvPr/>
        </p:nvSpPr>
        <p:spPr>
          <a:xfrm>
            <a:off x="548640" y="4672584"/>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Multilingual and sacred languages</a:t>
            </a:r>
            <a:endParaRPr lang="en-US" sz="1300" dirty="0"/>
          </a:p>
        </p:txBody>
      </p:sp>
      <p:sp>
        <p:nvSpPr>
          <p:cNvPr id="38" name="Shape 36"/>
          <p:cNvSpPr/>
          <p:nvPr/>
        </p:nvSpPr>
        <p:spPr>
          <a:xfrm>
            <a:off x="3566160" y="4864608"/>
            <a:ext cx="2926080" cy="164592"/>
          </a:xfrm>
          <a:prstGeom prst="rect">
            <a:avLst/>
          </a:prstGeom>
          <a:solidFill>
            <a:srgbClr val="E5E7EB"/>
          </a:solidFill>
          <a:ln w="12700">
            <a:solidFill>
              <a:srgbClr val="E5E7EB"/>
            </a:solidFill>
            <a:prstDash val="solid"/>
          </a:ln>
        </p:spPr>
      </p:sp>
      <p:sp>
        <p:nvSpPr>
          <p:cNvPr id="39" name="Shape 37"/>
          <p:cNvSpPr/>
          <p:nvPr/>
        </p:nvSpPr>
        <p:spPr>
          <a:xfrm>
            <a:off x="3566160" y="4864608"/>
            <a:ext cx="585216" cy="164592"/>
          </a:xfrm>
          <a:prstGeom prst="rect">
            <a:avLst/>
          </a:prstGeom>
          <a:solidFill>
            <a:srgbClr val="B8860B"/>
          </a:solidFill>
          <a:ln w="12700">
            <a:solidFill>
              <a:srgbClr val="B8860B"/>
            </a:solidFill>
            <a:prstDash val="solid"/>
          </a:ln>
        </p:spPr>
      </p:sp>
      <p:sp>
        <p:nvSpPr>
          <p:cNvPr id="40" name="Text 38"/>
          <p:cNvSpPr/>
          <p:nvPr/>
        </p:nvSpPr>
        <p:spPr>
          <a:xfrm>
            <a:off x="6675120" y="4672584"/>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Arabic NLP (NADI, OSACT lineage) anchors the 28 Islamic benchmarks.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Stress tests for Hebrew, Koine Greek, Pali, Sanskrit, Gurmukhi, Classical Chinese.</a:t>
            </a:r>
            <a:endParaRPr lang="en-US" sz="1000" dirty="0"/>
          </a:p>
        </p:txBody>
      </p:sp>
      <p:sp>
        <p:nvSpPr>
          <p:cNvPr id="41" name="Shape 39"/>
          <p:cNvSpPr/>
          <p:nvPr/>
        </p:nvSpPr>
        <p:spPr>
          <a:xfrm>
            <a:off x="548640" y="5239512"/>
            <a:ext cx="11064240" cy="0"/>
          </a:xfrm>
          <a:prstGeom prst="line">
            <a:avLst/>
          </a:prstGeom>
          <a:noFill/>
          <a:ln w="9525">
            <a:solidFill>
              <a:srgbClr val="F1F5F9"/>
            </a:solidFill>
            <a:prstDash val="solid"/>
          </a:ln>
        </p:spPr>
      </p:sp>
      <p:sp>
        <p:nvSpPr>
          <p:cNvPr id="42" name="Text 40"/>
          <p:cNvSpPr/>
          <p:nvPr/>
        </p:nvSpPr>
        <p:spPr>
          <a:xfrm>
            <a:off x="548640" y="5148072"/>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Commentary and interpretation</a:t>
            </a:r>
            <a:endParaRPr lang="en-US" sz="1300" dirty="0"/>
          </a:p>
        </p:txBody>
      </p:sp>
      <p:sp>
        <p:nvSpPr>
          <p:cNvPr id="43" name="Shape 41"/>
          <p:cNvSpPr/>
          <p:nvPr/>
        </p:nvSpPr>
        <p:spPr>
          <a:xfrm>
            <a:off x="3566160" y="5340096"/>
            <a:ext cx="2926080" cy="164592"/>
          </a:xfrm>
          <a:prstGeom prst="rect">
            <a:avLst/>
          </a:prstGeom>
          <a:solidFill>
            <a:srgbClr val="E5E7EB"/>
          </a:solidFill>
          <a:ln w="12700">
            <a:solidFill>
              <a:srgbClr val="E5E7EB"/>
            </a:solidFill>
            <a:prstDash val="solid"/>
          </a:ln>
        </p:spPr>
      </p:sp>
      <p:sp>
        <p:nvSpPr>
          <p:cNvPr id="44" name="Shape 42"/>
          <p:cNvSpPr/>
          <p:nvPr/>
        </p:nvSpPr>
        <p:spPr>
          <a:xfrm>
            <a:off x="3566160" y="5340096"/>
            <a:ext cx="292608" cy="164592"/>
          </a:xfrm>
          <a:prstGeom prst="rect">
            <a:avLst/>
          </a:prstGeom>
          <a:solidFill>
            <a:srgbClr val="B8860B"/>
          </a:solidFill>
          <a:ln w="12700">
            <a:solidFill>
              <a:srgbClr val="B8860B"/>
            </a:solidFill>
            <a:prstDash val="solid"/>
          </a:ln>
        </p:spPr>
      </p:sp>
      <p:sp>
        <p:nvSpPr>
          <p:cNvPr id="45" name="Text 43"/>
          <p:cNvSpPr/>
          <p:nvPr/>
        </p:nvSpPr>
        <p:spPr>
          <a:xfrm>
            <a:off x="6675120" y="5148072"/>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The 47 stop at scripture text and recall format.</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Tafsir, Talmudic reasoning, patristic exegesis, denominational hermeneutics.</a:t>
            </a:r>
            <a:endParaRPr lang="en-US" sz="1000" dirty="0"/>
          </a:p>
        </p:txBody>
      </p:sp>
      <p:sp>
        <p:nvSpPr>
          <p:cNvPr id="46" name="Shape 44"/>
          <p:cNvSpPr/>
          <p:nvPr/>
        </p:nvSpPr>
        <p:spPr>
          <a:xfrm>
            <a:off x="548640" y="5715000"/>
            <a:ext cx="11064240" cy="0"/>
          </a:xfrm>
          <a:prstGeom prst="line">
            <a:avLst/>
          </a:prstGeom>
          <a:noFill/>
          <a:ln w="9525">
            <a:solidFill>
              <a:srgbClr val="F1F5F9"/>
            </a:solidFill>
            <a:prstDash val="solid"/>
          </a:ln>
        </p:spPr>
      </p:sp>
      <p:sp>
        <p:nvSpPr>
          <p:cNvPr id="47" name="Text 45"/>
          <p:cNvSpPr/>
          <p:nvPr/>
        </p:nvSpPr>
        <p:spPr>
          <a:xfrm>
            <a:off x="548640" y="562356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Resource-to-benchmark conversion</a:t>
            </a:r>
            <a:endParaRPr lang="en-US" sz="1300" dirty="0"/>
          </a:p>
        </p:txBody>
      </p:sp>
      <p:sp>
        <p:nvSpPr>
          <p:cNvPr id="48" name="Shape 46"/>
          <p:cNvSpPr/>
          <p:nvPr/>
        </p:nvSpPr>
        <p:spPr>
          <a:xfrm>
            <a:off x="3566160" y="5815584"/>
            <a:ext cx="2926080" cy="164592"/>
          </a:xfrm>
          <a:prstGeom prst="rect">
            <a:avLst/>
          </a:prstGeom>
          <a:solidFill>
            <a:srgbClr val="E5E7EB"/>
          </a:solidFill>
          <a:ln w="12700">
            <a:solidFill>
              <a:srgbClr val="E5E7EB"/>
            </a:solidFill>
            <a:prstDash val="solid"/>
          </a:ln>
        </p:spPr>
      </p:sp>
      <p:sp>
        <p:nvSpPr>
          <p:cNvPr id="49" name="Shape 47"/>
          <p:cNvSpPr/>
          <p:nvPr/>
        </p:nvSpPr>
        <p:spPr>
          <a:xfrm>
            <a:off x="3566160" y="5815584"/>
            <a:ext cx="731520" cy="164592"/>
          </a:xfrm>
          <a:prstGeom prst="rect">
            <a:avLst/>
          </a:prstGeom>
          <a:solidFill>
            <a:srgbClr val="B8860B"/>
          </a:solidFill>
          <a:ln w="12700">
            <a:solidFill>
              <a:srgbClr val="B8860B"/>
            </a:solidFill>
            <a:prstDash val="solid"/>
          </a:ln>
        </p:spPr>
      </p:sp>
      <p:sp>
        <p:nvSpPr>
          <p:cNvPr id="50" name="Text 48"/>
          <p:cNvSpPr/>
          <p:nvPr/>
        </p:nvSpPr>
        <p:spPr>
          <a:xfrm>
            <a:off x="6675120" y="5715000"/>
            <a:ext cx="551688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Arabic corpora are converted heavily; few other corpora become benchmarks.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Runnable QA from the Summa, Talmud, Sunan, Pali Canon, Guru Granth Sahib.</a:t>
            </a:r>
            <a:endParaRPr lang="en-US" sz="1000" dirty="0">
              <a:solidFill>
                <a:srgbClr val="475569"/>
              </a:solidFill>
              <a:latin typeface="Calibri" pitchFamily="34" charset="0"/>
              <a:ea typeface="Calibri" pitchFamily="34" charset="-122"/>
              <a:cs typeface="Calibri" pitchFamily="34" charset="-120"/>
            </a:endParaRPr>
          </a:p>
        </p:txBody>
      </p:sp>
      <p:sp>
        <p:nvSpPr>
          <p:cNvPr id="51" name="Shape 49"/>
          <p:cNvSpPr/>
          <p:nvPr/>
        </p:nvSpPr>
        <p:spPr>
          <a:xfrm>
            <a:off x="548640" y="6190488"/>
            <a:ext cx="11064240" cy="0"/>
          </a:xfrm>
          <a:prstGeom prst="line">
            <a:avLst/>
          </a:prstGeom>
          <a:noFill/>
          <a:ln w="9525">
            <a:solidFill>
              <a:srgbClr val="F1F5F9"/>
            </a:solidFill>
            <a:prstDash val="solid"/>
          </a:ln>
        </p:spPr>
      </p:sp>
      <p:sp>
        <p:nvSpPr>
          <p:cNvPr id="52" name="Shape 50"/>
          <p:cNvSpPr/>
          <p:nvPr/>
        </p:nvSpPr>
        <p:spPr>
          <a:xfrm>
            <a:off x="0" y="6217920"/>
            <a:ext cx="12161520" cy="640080"/>
          </a:xfrm>
          <a:prstGeom prst="rect">
            <a:avLst/>
          </a:prstGeom>
          <a:solidFill>
            <a:srgbClr val="0F1E3D"/>
          </a:solidFill>
          <a:ln w="12700">
            <a:solidFill>
              <a:srgbClr val="0F1E3D"/>
            </a:solidFill>
            <a:prstDash val="solid"/>
          </a:ln>
        </p:spPr>
      </p:sp>
      <p:sp>
        <p:nvSpPr>
          <p:cNvPr id="53" name="Text 51"/>
          <p:cNvSpPr/>
          <p:nvPr/>
        </p:nvSpPr>
        <p:spPr>
          <a:xfrm>
            <a:off x="548640" y="6217920"/>
            <a:ext cx="1280160" cy="640080"/>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THE GAP</a:t>
            </a:r>
            <a:endParaRPr lang="en-US" sz="1000" dirty="0"/>
          </a:p>
        </p:txBody>
      </p:sp>
      <p:sp>
        <p:nvSpPr>
          <p:cNvPr id="54" name="Text 52"/>
          <p:cNvSpPr/>
          <p:nvPr/>
        </p:nvSpPr>
        <p:spPr>
          <a:xfrm>
            <a:off x="1828800" y="6217920"/>
            <a:ext cx="10332720" cy="640080"/>
          </a:xfrm>
          <a:prstGeom prst="rect">
            <a:avLst/>
          </a:prstGeom>
          <a:noFill/>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Source-aware Track B: benchmarks that cite, respect authority structures, and stress-test sacred languages.</a:t>
            </a:r>
            <a:endParaRPr lang="en-US" sz="1400" dirty="0"/>
          </a:p>
        </p:txBody>
      </p:sp>
      <p:sp>
        <p:nvSpPr>
          <p:cNvPr id="55" name="Shape 39"/>
          <p:cNvSpPr/>
          <p:nvPr/>
        </p:nvSpPr>
        <p:spPr>
          <a:xfrm>
            <a:off x="675640" y="4683252"/>
            <a:ext cx="11064240" cy="0"/>
          </a:xfrm>
          <a:prstGeom prst="line">
            <a:avLst/>
          </a:prstGeom>
          <a:noFill/>
          <a:ln w="9525">
            <a:solidFill>
              <a:srgbClr val="F1F5F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 cy="457200"/>
          </a:xfrm>
          <a:prstGeom prst="rect">
            <a:avLst/>
          </a:prstGeom>
          <a:noFill/>
        </p:spPr>
        <p:txBody>
          <a:bodyPr wrap="square" lIns="0" tIns="0" rIns="0" bIns="0" rtlCol="0" anchor="ctr"/>
          <a:lstStyle/>
          <a:p>
            <a:pPr marL="0" indent="0" algn="l">
              <a:buNone/>
            </a:pPr>
            <a:r>
              <a:rPr lang="en-US" sz="1800" b="1" kern="0" spc="300" dirty="0">
                <a:solidFill>
                  <a:srgbClr val="B8860B"/>
                </a:solidFill>
                <a:latin typeface="Calibri" pitchFamily="34" charset="0"/>
                <a:ea typeface="Calibri" pitchFamily="34" charset="-122"/>
                <a:cs typeface="Calibri" pitchFamily="34" charset="-120"/>
              </a:rPr>
              <a:t>03</a:t>
            </a:r>
            <a:endParaRPr lang="en-US" sz="1800" dirty="0"/>
          </a:p>
        </p:txBody>
      </p:sp>
      <p:sp>
        <p:nvSpPr>
          <p:cNvPr id="3" name="Text 1"/>
          <p:cNvSpPr/>
          <p:nvPr/>
        </p:nvSpPr>
        <p:spPr>
          <a:xfrm>
            <a:off x="1188720" y="274320"/>
            <a:ext cx="10424160" cy="457200"/>
          </a:xfrm>
          <a:prstGeom prst="rect">
            <a:avLst/>
          </a:prstGeom>
          <a:noFill/>
        </p:spPr>
        <p:txBody>
          <a:bodyPr wrap="square" lIns="0" tIns="0" rIns="0" bIns="0" rtlCol="0" anchor="ctr"/>
          <a:lstStyle/>
          <a:p>
            <a:pPr marL="0" indent="0" algn="l">
              <a:buNone/>
            </a:pPr>
            <a:r>
              <a:rPr lang="en-US" sz="1800" b="1" kern="0" spc="500" dirty="0">
                <a:solidFill>
                  <a:srgbClr val="B8860B"/>
                </a:solidFill>
                <a:latin typeface="Calibri" pitchFamily="34" charset="0"/>
                <a:ea typeface="Calibri" pitchFamily="34" charset="-122"/>
                <a:cs typeface="Calibri" pitchFamily="34" charset="-120"/>
              </a:rPr>
              <a:t>PRIORITY GAP  ·  CHRISTIAN</a:t>
            </a:r>
            <a:endParaRPr lang="en-US" sz="1800" dirty="0"/>
          </a:p>
        </p:txBody>
      </p:sp>
      <p:sp>
        <p:nvSpPr>
          <p:cNvPr id="4" name="Text 2"/>
          <p:cNvSpPr/>
          <p:nvPr/>
        </p:nvSpPr>
        <p:spPr>
          <a:xfrm>
            <a:off x="548640" y="777240"/>
            <a:ext cx="11064240" cy="640080"/>
          </a:xfrm>
          <a:prstGeom prst="rect">
            <a:avLst/>
          </a:prstGeom>
          <a:noFill/>
        </p:spPr>
        <p:txBody>
          <a:bodyPr wrap="square" lIns="0" tIns="0" rIns="0" bIns="0" rtlCol="0" anchor="t"/>
          <a:lstStyle/>
          <a:p>
            <a:pPr marL="0" indent="0" algn="l">
              <a:buNone/>
            </a:pPr>
            <a:r>
              <a:rPr lang="en-US" sz="3000" b="1" dirty="0">
                <a:solidFill>
                  <a:srgbClr val="0F1E3D"/>
                </a:solidFill>
                <a:latin typeface="Georgia" panose="02040502050405090303" pitchFamily="34" charset="0"/>
                <a:ea typeface="Georgia" panose="02040502050405090303" pitchFamily="34" charset="-122"/>
                <a:cs typeface="Georgia" panose="02040502050405090303" pitchFamily="34" charset="-120"/>
              </a:rPr>
              <a:t>Christian alignment stops at Bible QA</a:t>
            </a:r>
            <a:endParaRPr lang="en-US" sz="3000" dirty="0"/>
          </a:p>
        </p:txBody>
      </p:sp>
      <p:sp>
        <p:nvSpPr>
          <p:cNvPr id="5" name="Text 3"/>
          <p:cNvSpPr/>
          <p:nvPr/>
        </p:nvSpPr>
        <p:spPr>
          <a:xfrm>
            <a:off x="548640" y="1417320"/>
            <a:ext cx="11064240" cy="457200"/>
          </a:xfrm>
          <a:prstGeom prst="rect">
            <a:avLst/>
          </a:prstGeom>
          <a:noFill/>
        </p:spPr>
        <p:txBody>
          <a:bodyPr wrap="square" lIns="0" tIns="0" rIns="0" bIns="0" rtlCol="0" anchor="t"/>
          <a:lstStyle/>
          <a:p>
            <a:pPr marL="0" indent="0" algn="l">
              <a:buNone/>
            </a:pPr>
            <a:r>
              <a:rPr lang="en-US" sz="1400" i="1" dirty="0">
                <a:solidFill>
                  <a:srgbClr val="475569"/>
                </a:solidFill>
                <a:latin typeface="Calibri" pitchFamily="34" charset="0"/>
                <a:ea typeface="Calibri" pitchFamily="34" charset="-122"/>
                <a:cs typeface="Calibri" pitchFamily="34" charset="-120"/>
              </a:rPr>
              <a:t>Catholic alignment work is emerging. Pastoral judgment, denominational reasoning, and applied Christian ethics remain thin across the field.</a:t>
            </a:r>
            <a:endParaRPr lang="en-US" sz="1400" dirty="0"/>
          </a:p>
        </p:txBody>
      </p:sp>
      <p:sp>
        <p:nvSpPr>
          <p:cNvPr id="6" name="Shape 4"/>
          <p:cNvSpPr/>
          <p:nvPr/>
        </p:nvSpPr>
        <p:spPr>
          <a:xfrm>
            <a:off x="548640" y="1965960"/>
            <a:ext cx="5394960" cy="777240"/>
          </a:xfrm>
          <a:prstGeom prst="rect">
            <a:avLst/>
          </a:prstGeom>
          <a:solidFill>
            <a:srgbClr val="F8FAFC"/>
          </a:solidFill>
          <a:ln w="9525">
            <a:solidFill>
              <a:srgbClr val="E2E8F0"/>
            </a:solidFill>
            <a:prstDash val="solid"/>
          </a:ln>
        </p:spPr>
      </p:sp>
      <p:sp>
        <p:nvSpPr>
          <p:cNvPr id="7" name="Shape 5"/>
          <p:cNvSpPr/>
          <p:nvPr/>
        </p:nvSpPr>
        <p:spPr>
          <a:xfrm>
            <a:off x="548640" y="1965960"/>
            <a:ext cx="54864" cy="777240"/>
          </a:xfrm>
          <a:prstGeom prst="rect">
            <a:avLst/>
          </a:prstGeom>
          <a:solidFill>
            <a:srgbClr val="B8860B"/>
          </a:solidFill>
          <a:ln w="12700">
            <a:solidFill>
              <a:srgbClr val="B8860B"/>
            </a:solidFill>
            <a:prstDash val="solid"/>
          </a:ln>
        </p:spPr>
      </p:sp>
      <p:sp>
        <p:nvSpPr>
          <p:cNvPr id="8" name="Text 6"/>
          <p:cNvSpPr/>
          <p:nvPr/>
        </p:nvSpPr>
        <p:spPr>
          <a:xfrm>
            <a:off x="777240" y="2057400"/>
            <a:ext cx="5029200" cy="292608"/>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WHAT EXISTS</a:t>
            </a:r>
            <a:endParaRPr lang="en-US" sz="1000" dirty="0"/>
          </a:p>
        </p:txBody>
      </p:sp>
      <p:sp>
        <p:nvSpPr>
          <p:cNvPr id="9" name="Text 7"/>
          <p:cNvSpPr/>
          <p:nvPr/>
        </p:nvSpPr>
        <p:spPr>
          <a:xfrm>
            <a:off x="777240" y="2331720"/>
            <a:ext cx="5029200" cy="502920"/>
          </a:xfrm>
          <a:prstGeom prst="rect">
            <a:avLst/>
          </a:prstGeom>
          <a:noFill/>
        </p:spPr>
        <p:txBody>
          <a:bodyPr wrap="square" lIns="0" tIns="0" rIns="0" bIns="0" rtlCol="0" anchor="t"/>
          <a:lstStyle/>
          <a:p>
            <a:pPr marL="0" indent="0" algn="l">
              <a:buNone/>
            </a:pPr>
            <a:r>
              <a:rPr lang="en-US" sz="1200" dirty="0">
                <a:solidFill>
                  <a:srgbClr val="475569"/>
                </a:solidFill>
                <a:latin typeface="Calibri" pitchFamily="34" charset="0"/>
                <a:ea typeface="Calibri" pitchFamily="34" charset="-122"/>
                <a:cs typeface="Calibri" pitchFamily="34" charset="-120"/>
              </a:rPr>
              <a:t>Some Catholic alignment work. Bible and scripture QA resources. Belief checks at the surface level.</a:t>
            </a:r>
            <a:endParaRPr lang="en-US" sz="1200" dirty="0"/>
          </a:p>
        </p:txBody>
      </p:sp>
      <p:sp>
        <p:nvSpPr>
          <p:cNvPr id="10" name="Shape 8"/>
          <p:cNvSpPr/>
          <p:nvPr/>
        </p:nvSpPr>
        <p:spPr>
          <a:xfrm>
            <a:off x="6217920" y="1965960"/>
            <a:ext cx="5394960" cy="777240"/>
          </a:xfrm>
          <a:prstGeom prst="rect">
            <a:avLst/>
          </a:prstGeom>
          <a:solidFill>
            <a:srgbClr val="F8FAFC"/>
          </a:solidFill>
          <a:ln w="9525">
            <a:solidFill>
              <a:srgbClr val="E2E8F0"/>
            </a:solidFill>
            <a:prstDash val="solid"/>
          </a:ln>
        </p:spPr>
      </p:sp>
      <p:sp>
        <p:nvSpPr>
          <p:cNvPr id="11" name="Shape 9"/>
          <p:cNvSpPr/>
          <p:nvPr/>
        </p:nvSpPr>
        <p:spPr>
          <a:xfrm>
            <a:off x="6217920" y="1965960"/>
            <a:ext cx="54864" cy="777240"/>
          </a:xfrm>
          <a:prstGeom prst="rect">
            <a:avLst/>
          </a:prstGeom>
          <a:solidFill>
            <a:srgbClr val="0F1E3D"/>
          </a:solidFill>
          <a:ln w="12700">
            <a:solidFill>
              <a:srgbClr val="0F1E3D"/>
            </a:solidFill>
            <a:prstDash val="solid"/>
          </a:ln>
        </p:spPr>
      </p:sp>
      <p:sp>
        <p:nvSpPr>
          <p:cNvPr id="12" name="Text 10"/>
          <p:cNvSpPr/>
          <p:nvPr/>
        </p:nvSpPr>
        <p:spPr>
          <a:xfrm>
            <a:off x="6446520" y="2057400"/>
            <a:ext cx="5029200" cy="292608"/>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WHAT IS MISSING</a:t>
            </a:r>
            <a:endParaRPr lang="en-US" sz="1000" dirty="0"/>
          </a:p>
        </p:txBody>
      </p:sp>
      <p:sp>
        <p:nvSpPr>
          <p:cNvPr id="13" name="Text 11"/>
          <p:cNvSpPr/>
          <p:nvPr/>
        </p:nvSpPr>
        <p:spPr>
          <a:xfrm>
            <a:off x="6446520" y="2331720"/>
            <a:ext cx="5029200" cy="502920"/>
          </a:xfrm>
          <a:prstGeom prst="rect">
            <a:avLst/>
          </a:prstGeom>
          <a:noFill/>
        </p:spPr>
        <p:txBody>
          <a:bodyPr wrap="square" lIns="0" tIns="0" rIns="0" bIns="0" rtlCol="0" anchor="t"/>
          <a:lstStyle/>
          <a:p>
            <a:pPr marL="0" indent="0" algn="l">
              <a:buNone/>
            </a:pPr>
            <a:r>
              <a:rPr lang="en-US" sz="1200" dirty="0">
                <a:solidFill>
                  <a:srgbClr val="0F1E3D"/>
                </a:solidFill>
                <a:latin typeface="Calibri" pitchFamily="34" charset="0"/>
                <a:ea typeface="Calibri" pitchFamily="34" charset="-122"/>
                <a:cs typeface="Calibri" pitchFamily="34" charset="-120"/>
              </a:rPr>
              <a:t>Pastoral judgment. Denominational reasoning. Applied ethics. Hermeneutic quality. Church-grounded review.</a:t>
            </a:r>
            <a:endParaRPr lang="en-US" sz="1200" dirty="0"/>
          </a:p>
        </p:txBody>
      </p:sp>
      <p:sp>
        <p:nvSpPr>
          <p:cNvPr id="14" name="Text 12"/>
          <p:cNvSpPr/>
          <p:nvPr/>
        </p:nvSpPr>
        <p:spPr>
          <a:xfrm>
            <a:off x="548640" y="2834640"/>
            <a:ext cx="8595360" cy="274320"/>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MISSING LAYERS IN CHRISTIAN BENCHMARK DESIGN</a:t>
            </a:r>
            <a:endParaRPr lang="en-US" sz="1000" dirty="0"/>
          </a:p>
        </p:txBody>
      </p:sp>
      <p:sp>
        <p:nvSpPr>
          <p:cNvPr id="15" name="Shape 13"/>
          <p:cNvSpPr/>
          <p:nvPr/>
        </p:nvSpPr>
        <p:spPr>
          <a:xfrm>
            <a:off x="9326880" y="2880360"/>
            <a:ext cx="201168" cy="128016"/>
          </a:xfrm>
          <a:prstGeom prst="rect">
            <a:avLst/>
          </a:prstGeom>
          <a:solidFill>
            <a:srgbClr val="B8860B"/>
          </a:solidFill>
          <a:ln w="12700">
            <a:solidFill>
              <a:srgbClr val="B8860B"/>
            </a:solidFill>
            <a:prstDash val="solid"/>
          </a:ln>
        </p:spPr>
      </p:sp>
      <p:sp>
        <p:nvSpPr>
          <p:cNvPr id="16" name="Text 14"/>
          <p:cNvSpPr/>
          <p:nvPr/>
        </p:nvSpPr>
        <p:spPr>
          <a:xfrm>
            <a:off x="9601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present</a:t>
            </a:r>
            <a:endParaRPr lang="en-US" sz="900" dirty="0"/>
          </a:p>
        </p:txBody>
      </p:sp>
      <p:sp>
        <p:nvSpPr>
          <p:cNvPr id="17" name="Shape 15"/>
          <p:cNvSpPr/>
          <p:nvPr/>
        </p:nvSpPr>
        <p:spPr>
          <a:xfrm>
            <a:off x="10469880" y="2880360"/>
            <a:ext cx="201168" cy="128016"/>
          </a:xfrm>
          <a:prstGeom prst="rect">
            <a:avLst/>
          </a:prstGeom>
          <a:solidFill>
            <a:srgbClr val="E5E7EB"/>
          </a:solidFill>
          <a:ln w="12700">
            <a:solidFill>
              <a:srgbClr val="E5E7EB"/>
            </a:solidFill>
            <a:prstDash val="solid"/>
          </a:ln>
        </p:spPr>
      </p:sp>
      <p:sp>
        <p:nvSpPr>
          <p:cNvPr id="18" name="Text 16"/>
          <p:cNvSpPr/>
          <p:nvPr/>
        </p:nvSpPr>
        <p:spPr>
          <a:xfrm>
            <a:off x="10744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missing</a:t>
            </a:r>
            <a:endParaRPr lang="en-US" sz="900" dirty="0"/>
          </a:p>
        </p:txBody>
      </p:sp>
      <p:sp>
        <p:nvSpPr>
          <p:cNvPr id="19" name="Text 17"/>
          <p:cNvSpPr/>
          <p:nvPr/>
        </p:nvSpPr>
        <p:spPr>
          <a:xfrm>
            <a:off x="548640" y="324612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Protestant denominational reasoning</a:t>
            </a:r>
            <a:endParaRPr lang="en-US" sz="1300" dirty="0"/>
          </a:p>
        </p:txBody>
      </p:sp>
      <p:sp>
        <p:nvSpPr>
          <p:cNvPr id="20" name="Shape 18"/>
          <p:cNvSpPr/>
          <p:nvPr/>
        </p:nvSpPr>
        <p:spPr>
          <a:xfrm>
            <a:off x="3566160" y="3438144"/>
            <a:ext cx="2926080" cy="164592"/>
          </a:xfrm>
          <a:prstGeom prst="rect">
            <a:avLst/>
          </a:prstGeom>
          <a:solidFill>
            <a:srgbClr val="E5E7EB"/>
          </a:solidFill>
          <a:ln w="12700">
            <a:solidFill>
              <a:srgbClr val="E5E7EB"/>
            </a:solidFill>
            <a:prstDash val="solid"/>
          </a:ln>
        </p:spPr>
      </p:sp>
      <p:sp>
        <p:nvSpPr>
          <p:cNvPr id="21" name="Shape 19"/>
          <p:cNvSpPr/>
          <p:nvPr/>
        </p:nvSpPr>
        <p:spPr>
          <a:xfrm>
            <a:off x="3566160" y="3438144"/>
            <a:ext cx="292608" cy="164592"/>
          </a:xfrm>
          <a:prstGeom prst="rect">
            <a:avLst/>
          </a:prstGeom>
          <a:solidFill>
            <a:srgbClr val="B8860B"/>
          </a:solidFill>
          <a:ln w="12700">
            <a:solidFill>
              <a:srgbClr val="B8860B"/>
            </a:solidFill>
            <a:prstDash val="solid"/>
          </a:ln>
        </p:spPr>
      </p:sp>
      <p:sp>
        <p:nvSpPr>
          <p:cNvPr id="22" name="Text 20"/>
          <p:cNvSpPr/>
          <p:nvPr/>
        </p:nvSpPr>
        <p:spPr>
          <a:xfrm>
            <a:off x="6675120" y="324612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Of 6 Christian gate-passers, none span denominational divides; Bible QA dominates.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Lutheran law-gospel, Reformed covenant, Methodist sanctification, Anabaptist polity.</a:t>
            </a:r>
            <a:endParaRPr lang="en-US" sz="1000" dirty="0"/>
          </a:p>
        </p:txBody>
      </p:sp>
      <p:sp>
        <p:nvSpPr>
          <p:cNvPr id="23" name="Shape 21"/>
          <p:cNvSpPr/>
          <p:nvPr/>
        </p:nvSpPr>
        <p:spPr>
          <a:xfrm>
            <a:off x="548640" y="3813048"/>
            <a:ext cx="11064240" cy="0"/>
          </a:xfrm>
          <a:prstGeom prst="line">
            <a:avLst/>
          </a:prstGeom>
          <a:noFill/>
          <a:ln w="9525">
            <a:solidFill>
              <a:srgbClr val="F1F5F9"/>
            </a:solidFill>
            <a:prstDash val="solid"/>
          </a:ln>
        </p:spPr>
      </p:sp>
      <p:sp>
        <p:nvSpPr>
          <p:cNvPr id="24" name="Text 22"/>
          <p:cNvSpPr/>
          <p:nvPr/>
        </p:nvSpPr>
        <p:spPr>
          <a:xfrm>
            <a:off x="548640" y="3721608"/>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Pastoral counseling and spiritual care</a:t>
            </a:r>
            <a:endParaRPr lang="en-US" sz="1300" dirty="0"/>
          </a:p>
        </p:txBody>
      </p:sp>
      <p:sp>
        <p:nvSpPr>
          <p:cNvPr id="25" name="Shape 23"/>
          <p:cNvSpPr/>
          <p:nvPr/>
        </p:nvSpPr>
        <p:spPr>
          <a:xfrm>
            <a:off x="3566160" y="3913632"/>
            <a:ext cx="2926080" cy="164592"/>
          </a:xfrm>
          <a:prstGeom prst="rect">
            <a:avLst/>
          </a:prstGeom>
          <a:solidFill>
            <a:srgbClr val="E5E7EB"/>
          </a:solidFill>
          <a:ln w="12700">
            <a:solidFill>
              <a:srgbClr val="E5E7EB"/>
            </a:solidFill>
            <a:prstDash val="solid"/>
          </a:ln>
        </p:spPr>
      </p:sp>
      <p:sp>
        <p:nvSpPr>
          <p:cNvPr id="26" name="Shape 24"/>
          <p:cNvSpPr/>
          <p:nvPr/>
        </p:nvSpPr>
        <p:spPr>
          <a:xfrm>
            <a:off x="3566160" y="3913632"/>
            <a:ext cx="117043" cy="164592"/>
          </a:xfrm>
          <a:prstGeom prst="rect">
            <a:avLst/>
          </a:prstGeom>
          <a:solidFill>
            <a:srgbClr val="B8860B"/>
          </a:solidFill>
          <a:ln w="12700">
            <a:solidFill>
              <a:srgbClr val="B8860B"/>
            </a:solidFill>
            <a:prstDash val="solid"/>
          </a:ln>
        </p:spPr>
      </p:sp>
      <p:sp>
        <p:nvSpPr>
          <p:cNvPr id="27" name="Text 25"/>
          <p:cNvSpPr/>
          <p:nvPr/>
        </p:nvSpPr>
        <p:spPr>
          <a:xfrm>
            <a:off x="6675120" y="3760978"/>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None of the 6 Christian benchmarks use a counseling or care format.</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Deconstructing child, pornography struggle, abusive marriage, vocational doubt.</a:t>
            </a:r>
            <a:endParaRPr lang="en-US" sz="1000" dirty="0"/>
          </a:p>
        </p:txBody>
      </p:sp>
      <p:sp>
        <p:nvSpPr>
          <p:cNvPr id="28" name="Shape 26"/>
          <p:cNvSpPr/>
          <p:nvPr/>
        </p:nvSpPr>
        <p:spPr>
          <a:xfrm>
            <a:off x="548640" y="4288536"/>
            <a:ext cx="11064240" cy="0"/>
          </a:xfrm>
          <a:prstGeom prst="line">
            <a:avLst/>
          </a:prstGeom>
          <a:noFill/>
          <a:ln w="9525">
            <a:solidFill>
              <a:srgbClr val="F1F5F9"/>
            </a:solidFill>
            <a:prstDash val="solid"/>
          </a:ln>
        </p:spPr>
      </p:sp>
      <p:sp>
        <p:nvSpPr>
          <p:cNvPr id="29" name="Text 27"/>
          <p:cNvSpPr/>
          <p:nvPr/>
        </p:nvSpPr>
        <p:spPr>
          <a:xfrm>
            <a:off x="548640" y="4197096"/>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Applied Christian ethics</a:t>
            </a:r>
            <a:endParaRPr lang="en-US" sz="1300" dirty="0"/>
          </a:p>
        </p:txBody>
      </p:sp>
      <p:sp>
        <p:nvSpPr>
          <p:cNvPr id="30" name="Shape 28"/>
          <p:cNvSpPr/>
          <p:nvPr/>
        </p:nvSpPr>
        <p:spPr>
          <a:xfrm>
            <a:off x="3566160" y="4389120"/>
            <a:ext cx="2926080" cy="164592"/>
          </a:xfrm>
          <a:prstGeom prst="rect">
            <a:avLst/>
          </a:prstGeom>
          <a:solidFill>
            <a:srgbClr val="E5E7EB"/>
          </a:solidFill>
          <a:ln w="12700">
            <a:solidFill>
              <a:srgbClr val="E5E7EB"/>
            </a:solidFill>
            <a:prstDash val="solid"/>
          </a:ln>
        </p:spPr>
      </p:sp>
      <p:sp>
        <p:nvSpPr>
          <p:cNvPr id="31" name="Shape 29"/>
          <p:cNvSpPr/>
          <p:nvPr/>
        </p:nvSpPr>
        <p:spPr>
          <a:xfrm>
            <a:off x="3566160" y="4389120"/>
            <a:ext cx="438912" cy="164592"/>
          </a:xfrm>
          <a:prstGeom prst="rect">
            <a:avLst/>
          </a:prstGeom>
          <a:solidFill>
            <a:srgbClr val="B8860B"/>
          </a:solidFill>
          <a:ln w="12700">
            <a:solidFill>
              <a:srgbClr val="B8860B"/>
            </a:solidFill>
            <a:prstDash val="solid"/>
          </a:ln>
        </p:spPr>
      </p:sp>
      <p:sp>
        <p:nvSpPr>
          <p:cNvPr id="32" name="Text 30"/>
          <p:cNvSpPr/>
          <p:nvPr/>
        </p:nvSpPr>
        <p:spPr>
          <a:xfrm>
            <a:off x="6675120" y="4217035"/>
            <a:ext cx="535305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Most of the 6 favor doctrine and scripture knowledge over hard moral judgment.</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Embryo selection, AI personhood, drone warfare, transgender pastoral care, wealth gap.</a:t>
            </a:r>
            <a:endParaRPr lang="en-US" sz="1000" dirty="0"/>
          </a:p>
        </p:txBody>
      </p:sp>
      <p:sp>
        <p:nvSpPr>
          <p:cNvPr id="33" name="Shape 31"/>
          <p:cNvSpPr/>
          <p:nvPr/>
        </p:nvSpPr>
        <p:spPr>
          <a:xfrm>
            <a:off x="548640" y="4764024"/>
            <a:ext cx="11064240" cy="0"/>
          </a:xfrm>
          <a:prstGeom prst="line">
            <a:avLst/>
          </a:prstGeom>
          <a:noFill/>
          <a:ln w="9525">
            <a:solidFill>
              <a:srgbClr val="F1F5F9"/>
            </a:solidFill>
            <a:prstDash val="solid"/>
          </a:ln>
        </p:spPr>
      </p:sp>
      <p:sp>
        <p:nvSpPr>
          <p:cNvPr id="34" name="Text 32"/>
          <p:cNvSpPr/>
          <p:nvPr/>
        </p:nvSpPr>
        <p:spPr>
          <a:xfrm>
            <a:off x="548640" y="4672584"/>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Scripture interpretation quality</a:t>
            </a:r>
            <a:endParaRPr lang="en-US" sz="1300" dirty="0"/>
          </a:p>
        </p:txBody>
      </p:sp>
      <p:sp>
        <p:nvSpPr>
          <p:cNvPr id="35" name="Shape 33"/>
          <p:cNvSpPr/>
          <p:nvPr/>
        </p:nvSpPr>
        <p:spPr>
          <a:xfrm>
            <a:off x="3566160" y="4864608"/>
            <a:ext cx="2926080" cy="164592"/>
          </a:xfrm>
          <a:prstGeom prst="rect">
            <a:avLst/>
          </a:prstGeom>
          <a:solidFill>
            <a:srgbClr val="E5E7EB"/>
          </a:solidFill>
          <a:ln w="12700">
            <a:solidFill>
              <a:srgbClr val="E5E7EB"/>
            </a:solidFill>
            <a:prstDash val="solid"/>
          </a:ln>
        </p:spPr>
      </p:sp>
      <p:sp>
        <p:nvSpPr>
          <p:cNvPr id="36" name="Shape 34"/>
          <p:cNvSpPr/>
          <p:nvPr/>
        </p:nvSpPr>
        <p:spPr>
          <a:xfrm>
            <a:off x="3566160" y="4864608"/>
            <a:ext cx="438912" cy="164592"/>
          </a:xfrm>
          <a:prstGeom prst="rect">
            <a:avLst/>
          </a:prstGeom>
          <a:solidFill>
            <a:srgbClr val="B8860B"/>
          </a:solidFill>
          <a:ln w="12700">
            <a:solidFill>
              <a:srgbClr val="B8860B"/>
            </a:solidFill>
            <a:prstDash val="solid"/>
          </a:ln>
        </p:spPr>
      </p:sp>
      <p:sp>
        <p:nvSpPr>
          <p:cNvPr id="37" name="Text 35"/>
          <p:cNvSpPr/>
          <p:nvPr/>
        </p:nvSpPr>
        <p:spPr>
          <a:xfrm>
            <a:off x="6675120" y="4672330"/>
            <a:ext cx="5259705"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Verse retrieval and recall format dominate the Christian assets.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Detection of prooftexting (Jer 29:11 misused), genre confusion, weaponized iuse</a:t>
            </a:r>
            <a:endParaRPr lang="en-US" sz="1000" dirty="0"/>
          </a:p>
        </p:txBody>
      </p:sp>
      <p:sp>
        <p:nvSpPr>
          <p:cNvPr id="38" name="Shape 36"/>
          <p:cNvSpPr/>
          <p:nvPr/>
        </p:nvSpPr>
        <p:spPr>
          <a:xfrm>
            <a:off x="548640" y="5239512"/>
            <a:ext cx="11064240" cy="0"/>
          </a:xfrm>
          <a:prstGeom prst="line">
            <a:avLst/>
          </a:prstGeom>
          <a:noFill/>
          <a:ln w="9525">
            <a:solidFill>
              <a:srgbClr val="F1F5F9"/>
            </a:solidFill>
            <a:prstDash val="solid"/>
          </a:ln>
        </p:spPr>
      </p:sp>
      <p:sp>
        <p:nvSpPr>
          <p:cNvPr id="39" name="Text 37"/>
          <p:cNvSpPr/>
          <p:nvPr/>
        </p:nvSpPr>
        <p:spPr>
          <a:xfrm>
            <a:off x="548640" y="5148072"/>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Disagreement and humility</a:t>
            </a:r>
            <a:endParaRPr lang="en-US" sz="1300" dirty="0"/>
          </a:p>
        </p:txBody>
      </p:sp>
      <p:sp>
        <p:nvSpPr>
          <p:cNvPr id="40" name="Shape 38"/>
          <p:cNvSpPr/>
          <p:nvPr/>
        </p:nvSpPr>
        <p:spPr>
          <a:xfrm>
            <a:off x="3566160" y="5340096"/>
            <a:ext cx="2926080" cy="164592"/>
          </a:xfrm>
          <a:prstGeom prst="rect">
            <a:avLst/>
          </a:prstGeom>
          <a:solidFill>
            <a:srgbClr val="E5E7EB"/>
          </a:solidFill>
          <a:ln w="12700">
            <a:solidFill>
              <a:srgbClr val="E5E7EB"/>
            </a:solidFill>
            <a:prstDash val="solid"/>
          </a:ln>
        </p:spPr>
      </p:sp>
      <p:sp>
        <p:nvSpPr>
          <p:cNvPr id="41" name="Shape 39"/>
          <p:cNvSpPr/>
          <p:nvPr/>
        </p:nvSpPr>
        <p:spPr>
          <a:xfrm>
            <a:off x="3566160" y="5340096"/>
            <a:ext cx="234086" cy="164592"/>
          </a:xfrm>
          <a:prstGeom prst="rect">
            <a:avLst/>
          </a:prstGeom>
          <a:solidFill>
            <a:srgbClr val="B8860B"/>
          </a:solidFill>
          <a:ln w="12700">
            <a:solidFill>
              <a:srgbClr val="B8860B"/>
            </a:solidFill>
            <a:prstDash val="solid"/>
          </a:ln>
        </p:spPr>
      </p:sp>
      <p:sp>
        <p:nvSpPr>
          <p:cNvPr id="42" name="Text 40"/>
          <p:cNvSpPr/>
          <p:nvPr/>
        </p:nvSpPr>
        <p:spPr>
          <a:xfrm>
            <a:off x="6675120" y="5148072"/>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The 6 Christian benchmarks treat Christianity as monolithic.</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Women's ordination, baptism, predestination, real presence: 'faithful Christians disagree'.</a:t>
            </a:r>
            <a:endParaRPr lang="en-US" sz="1000" dirty="0"/>
          </a:p>
        </p:txBody>
      </p:sp>
      <p:sp>
        <p:nvSpPr>
          <p:cNvPr id="43" name="Shape 41"/>
          <p:cNvSpPr/>
          <p:nvPr/>
        </p:nvSpPr>
        <p:spPr>
          <a:xfrm>
            <a:off x="548640" y="5715000"/>
            <a:ext cx="11064240" cy="0"/>
          </a:xfrm>
          <a:prstGeom prst="line">
            <a:avLst/>
          </a:prstGeom>
          <a:noFill/>
          <a:ln w="9525">
            <a:solidFill>
              <a:srgbClr val="F1F5F9"/>
            </a:solidFill>
            <a:prstDash val="solid"/>
          </a:ln>
        </p:spPr>
      </p:sp>
      <p:sp>
        <p:nvSpPr>
          <p:cNvPr id="44" name="Text 42"/>
          <p:cNvSpPr/>
          <p:nvPr/>
        </p:nvSpPr>
        <p:spPr>
          <a:xfrm>
            <a:off x="548640" y="562356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Church and community review</a:t>
            </a:r>
            <a:endParaRPr lang="en-US" sz="1300" dirty="0"/>
          </a:p>
        </p:txBody>
      </p:sp>
      <p:sp>
        <p:nvSpPr>
          <p:cNvPr id="45" name="Shape 43"/>
          <p:cNvSpPr/>
          <p:nvPr/>
        </p:nvSpPr>
        <p:spPr>
          <a:xfrm>
            <a:off x="3566160" y="5815584"/>
            <a:ext cx="2926080" cy="164592"/>
          </a:xfrm>
          <a:prstGeom prst="rect">
            <a:avLst/>
          </a:prstGeom>
          <a:solidFill>
            <a:srgbClr val="E5E7EB"/>
          </a:solidFill>
          <a:ln w="12700">
            <a:solidFill>
              <a:srgbClr val="E5E7EB"/>
            </a:solidFill>
            <a:prstDash val="solid"/>
          </a:ln>
        </p:spPr>
      </p:sp>
      <p:sp>
        <p:nvSpPr>
          <p:cNvPr id="46" name="Shape 44"/>
          <p:cNvSpPr/>
          <p:nvPr/>
        </p:nvSpPr>
        <p:spPr>
          <a:xfrm>
            <a:off x="3566160" y="5815584"/>
            <a:ext cx="292608" cy="164592"/>
          </a:xfrm>
          <a:prstGeom prst="rect">
            <a:avLst/>
          </a:prstGeom>
          <a:solidFill>
            <a:srgbClr val="B8860B"/>
          </a:solidFill>
          <a:ln w="12700">
            <a:solidFill>
              <a:srgbClr val="B8860B"/>
            </a:solidFill>
            <a:prstDash val="solid"/>
          </a:ln>
        </p:spPr>
      </p:sp>
      <p:sp>
        <p:nvSpPr>
          <p:cNvPr id="47" name="Text 45"/>
          <p:cNvSpPr/>
          <p:nvPr/>
        </p:nvSpPr>
        <p:spPr>
          <a:xfrm>
            <a:off x="6675120" y="562356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Some Catholic alignment work shows advisory input; broader review is rare.</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Pastor, theologian, chaplain, or seminary faculty review panels.</a:t>
            </a:r>
            <a:endParaRPr lang="en-US" sz="1000" dirty="0"/>
          </a:p>
        </p:txBody>
      </p:sp>
      <p:sp>
        <p:nvSpPr>
          <p:cNvPr id="48" name="Shape 46"/>
          <p:cNvSpPr/>
          <p:nvPr/>
        </p:nvSpPr>
        <p:spPr>
          <a:xfrm>
            <a:off x="548640" y="6190488"/>
            <a:ext cx="11064240" cy="0"/>
          </a:xfrm>
          <a:prstGeom prst="line">
            <a:avLst/>
          </a:prstGeom>
          <a:noFill/>
          <a:ln w="9525">
            <a:solidFill>
              <a:srgbClr val="F1F5F9"/>
            </a:solidFill>
            <a:prstDash val="solid"/>
          </a:ln>
        </p:spPr>
      </p:sp>
      <p:sp>
        <p:nvSpPr>
          <p:cNvPr id="49" name="Shape 47"/>
          <p:cNvSpPr/>
          <p:nvPr/>
        </p:nvSpPr>
        <p:spPr>
          <a:xfrm>
            <a:off x="0" y="6217920"/>
            <a:ext cx="12161520" cy="640080"/>
          </a:xfrm>
          <a:prstGeom prst="rect">
            <a:avLst/>
          </a:prstGeom>
          <a:solidFill>
            <a:srgbClr val="0F1E3D"/>
          </a:solidFill>
          <a:ln w="12700">
            <a:solidFill>
              <a:srgbClr val="0F1E3D"/>
            </a:solidFill>
            <a:prstDash val="solid"/>
          </a:ln>
        </p:spPr>
      </p:sp>
      <p:sp>
        <p:nvSpPr>
          <p:cNvPr id="50" name="Text 48"/>
          <p:cNvSpPr/>
          <p:nvPr/>
        </p:nvSpPr>
        <p:spPr>
          <a:xfrm>
            <a:off x="548640" y="6217920"/>
            <a:ext cx="1280160" cy="640080"/>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THE GAP</a:t>
            </a:r>
            <a:endParaRPr lang="en-US" sz="1000" dirty="0"/>
          </a:p>
        </p:txBody>
      </p:sp>
      <p:sp>
        <p:nvSpPr>
          <p:cNvPr id="51" name="Text 49"/>
          <p:cNvSpPr/>
          <p:nvPr/>
        </p:nvSpPr>
        <p:spPr>
          <a:xfrm>
            <a:off x="1828800" y="6217920"/>
            <a:ext cx="10332720" cy="640080"/>
          </a:xfrm>
          <a:prstGeom prst="rect">
            <a:avLst/>
          </a:prstGeom>
          <a:noFill/>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Christian benchmarks for pastoral judgment and denominational hermeneutics, reviewed by church and seminary experts.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5186</Words>
  <Application>WPS Presentation</Application>
  <PresentationFormat>On-screen Show (16:9)</PresentationFormat>
  <Paragraphs>167</Paragraphs>
  <Slides>4</Slides>
  <Notes>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vt:i4>
      </vt:variant>
    </vt:vector>
  </HeadingPairs>
  <TitlesOfParts>
    <vt:vector size="21" baseType="lpstr">
      <vt:lpstr>Arial</vt:lpstr>
      <vt:lpstr>SimSun</vt:lpstr>
      <vt:lpstr>Wingdings</vt:lpstr>
      <vt:lpstr>Calibri</vt:lpstr>
      <vt:lpstr>Helvetica Neue</vt:lpstr>
      <vt:lpstr>Calibri</vt:lpstr>
      <vt:lpstr>Calibri</vt:lpstr>
      <vt:lpstr>Georgia</vt:lpstr>
      <vt:lpstr>Georgia</vt:lpstr>
      <vt:lpstr>Georgia</vt:lpstr>
      <vt:lpstr>Microsoft YaHei</vt:lpstr>
      <vt:lpstr>汉仪旗黑</vt:lpstr>
      <vt:lpstr>Arial Unicode MS</vt:lpstr>
      <vt:lpstr>宋体-简</vt:lpstr>
      <vt:lpstr>等线</vt:lpstr>
      <vt:lpstr>苹方-简</vt:lpstr>
      <vt:lpstr>Office Theme</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Religious Benchmark Gap — Macro View</dc:title>
  <dc:creator>PptxGenJS</dc:creator>
  <dc:subject>PptxGenJS Presentation</dc:subject>
  <cp:lastModifiedBy>Hanzhen Zhu</cp:lastModifiedBy>
  <cp:revision>4</cp:revision>
  <dcterms:created xsi:type="dcterms:W3CDTF">2026-05-05T22:00:54Z</dcterms:created>
  <dcterms:modified xsi:type="dcterms:W3CDTF">2026-05-05T22:00:54Z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727ECF4EAAD068442465FA698A895C0B_42</vt:lpwstr>
  </property>
  <property fmtid="{D5CDD505-2E9C-101B-9397-08002B2CF9AE}" pid="3" name="KSOProductBuildVer">
    <vt:lpwstr>1033-12.1.25867.25867</vt:lpwstr>
  </property>
</Properties>
</file>