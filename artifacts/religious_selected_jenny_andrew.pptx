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9" r:id="rId5"/>
    <p:sldId id="257" r:id="rId6"/>
    <p:sldId id="258"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4" r:id="rId21"/>
    <p:sldId id="275" r:id="rId22"/>
    <p:sldId id="277" r:id="rId23"/>
    <p:sldId id="288" r:id="rId24"/>
    <p:sldId id="285" r:id="rId25"/>
    <p:sldId id="286" r:id="rId26"/>
    <p:sldId id="287" r:id="rId27"/>
    <p:sldId id="281" r:id="rId28"/>
    <p:sldId id="282" r:id="rId29"/>
    <p:sldId id="283"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ym typeface="+mn-ea"/>
              </a:rPr>
              <a:t>I want to start with the main point:</a:t>
            </a:r>
            <a:endParaRPr lang="en-US" dirty="0">
              <a:sym typeface="+mn-ea"/>
            </a:endParaRPr>
          </a:p>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Jimmy’s dashboard started with 401 candidates, but only 47 passed both hard gates. That is a useful first filter, but it is not enough. Passing the gates only means a dataset is usable and clearly related to religion. It does not mean the benchmark actually tests how good it is.</a:t>
            </a:r>
            <a:endParaRPr lang="en-US" altLang="en-US" dirty="0"/>
          </a:p>
          <a:p>
            <a:endParaRPr lang="en-US" altLang="en-US" dirty="0"/>
          </a:p>
          <a:p>
            <a:r>
              <a:rPr lang="en-US" altLang="en-US" dirty="0"/>
              <a:t> We should sort the 47 papers, so we build a protfolio and see what each test</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ym typeface="+mn-ea"/>
            </a:endParaRPr>
          </a:p>
          <a:p>
            <a:r>
              <a:rPr lang="en-US" dirty="0">
                <a:sym typeface="+mn-ea"/>
              </a:rPr>
              <a:t>the 47 </a:t>
            </a:r>
            <a:r>
              <a:rPr lang="en-US" b="1" dirty="0">
                <a:sym typeface="+mn-ea"/>
              </a:rPr>
              <a:t>Gate-Passer</a:t>
            </a:r>
            <a:r>
              <a:rPr lang="en-US" dirty="0">
                <a:sym typeface="+mn-ea"/>
              </a:rPr>
              <a:t>s, andrew and i reviewed each paper , break into 4 categories: </a:t>
            </a:r>
            <a:r>
              <a:rPr lang="en-US" b="1" dirty="0">
                <a:sym typeface="+mn-ea"/>
              </a:rPr>
              <a:t>values alignment</a:t>
            </a:r>
            <a:r>
              <a:rPr lang="en-US" dirty="0">
                <a:sym typeface="+mn-ea"/>
              </a:rPr>
              <a:t>, knowledge or </a:t>
            </a:r>
            <a:r>
              <a:rPr lang="en-US" b="1" dirty="0">
                <a:sym typeface="+mn-ea"/>
              </a:rPr>
              <a:t>doctrine</a:t>
            </a:r>
            <a:r>
              <a:rPr lang="en-US" dirty="0">
                <a:sym typeface="+mn-ea"/>
              </a:rPr>
              <a:t>, those of the ones we r selecting</a:t>
            </a:r>
            <a:endParaRPr lang="en-US" dirty="0">
              <a:sym typeface="+mn-ea"/>
            </a:endParaRPr>
          </a:p>
          <a:p>
            <a:endParaRPr lang="en-US" dirty="0">
              <a:sym typeface="+mn-ea"/>
            </a:endParaRPr>
          </a:p>
          <a:p>
            <a:r>
              <a:rPr lang="en-US" dirty="0">
                <a:sym typeface="+mn-ea"/>
              </a:rPr>
              <a:t>others are resource-layer religious NLP (not benchmark), and weak-fit papers</a:t>
            </a:r>
            <a:endParaRPr lang="en-US" dirty="0">
              <a:sym typeface="+mn-ea"/>
            </a:endParaRPr>
          </a:p>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overall, selected ones:</a:t>
            </a:r>
            <a:endParaRPr lang="en-US"/>
          </a:p>
          <a:p>
            <a:r>
              <a:rPr lang="en-US"/>
              <a:t>3 track a, 5 track b</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four-bucket map.</a:t>
            </a:r>
            <a:r>
              <a:rPr lang="en-US"/>
              <a:t> here also list some runners up...</a:t>
            </a:r>
            <a:endParaRPr lang="en-US"/>
          </a:p>
          <a:p>
            <a:r>
              <a:t> The red items are Andrew's par</a:t>
            </a:r>
            <a:r>
              <a:rPr lang="en-US"/>
              <a:t>t</a:t>
            </a:r>
            <a:endParaRPr lang="en-US"/>
          </a:p>
          <a:p>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a:t>
            </a:r>
            <a:r>
              <a:rPr lang="en-US" dirty="0"/>
              <a:t>w I will focus first on </a:t>
            </a:r>
            <a:r>
              <a:rPr lang="en-US" b="1" dirty="0"/>
              <a:t>Track A</a:t>
            </a:r>
            <a:r>
              <a:rPr lang="en-US" dirty="0"/>
              <a:t>. This is the track for a religious-</a:t>
            </a:r>
            <a:r>
              <a:rPr lang="en-US" b="1" dirty="0"/>
              <a:t>values alignment</a:t>
            </a:r>
            <a:r>
              <a:rPr lang="en-US" dirty="0"/>
              <a:t> benchmarks are rare, but we did find some candidates and some opportunities to make some into strong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t>
            </a:r>
            <a:r>
              <a:rPr lang="en-US" b="1" dirty="0"/>
              <a:t>Track A</a:t>
            </a:r>
            <a:r>
              <a:rPr lang="en-US" dirty="0"/>
              <a:t>, three </a:t>
            </a:r>
            <a:r>
              <a:rPr lang="en-US" b="1" dirty="0"/>
              <a:t>Tier 1</a:t>
            </a:r>
            <a:r>
              <a:rPr lang="en-US" dirty="0"/>
              <a:t> candidates,  three runner 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#35 IslamTrust</a:t>
            </a:r>
            <a:r>
              <a:rPr lang="en-US" dirty="0"/>
              <a:t> is the clearest Islamic </a:t>
            </a:r>
            <a:r>
              <a:rPr lang="en-US" b="1" dirty="0"/>
              <a:t>values-alignment</a:t>
            </a:r>
            <a:r>
              <a:rPr lang="en-US" dirty="0"/>
              <a:t> candidate. The central question is whether the model answers from an Islamic values frame, or whether it defaults to </a:t>
            </a:r>
            <a:r>
              <a:rPr lang="en-US" b="1" dirty="0"/>
              <a:t>generic secular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#47 CatholicBench</a:t>
            </a:r>
            <a:r>
              <a:rPr lang="en-US" dirty="0"/>
              <a:t> is valuable because it combines </a:t>
            </a:r>
            <a:r>
              <a:rPr lang="en-US" b="1" dirty="0"/>
              <a:t>doctrine</a:t>
            </a:r>
            <a:r>
              <a:rPr lang="en-US" dirty="0"/>
              <a:t> and pastoral judgment. A model can be doctrinally correct but pastorally poor, and </a:t>
            </a:r>
            <a:r>
              <a:rPr lang="en-US" dirty="0">
                <a:sym typeface="+mn-ea"/>
              </a:rPr>
              <a:t> pastoral judgment is like </a:t>
            </a:r>
            <a:r>
              <a:rPr lang="en-US" dirty="0"/>
              <a:t>moral reasoning</a:t>
            </a:r>
            <a:endParaRPr lang="en-US" dirty="0"/>
          </a:p>
          <a:p>
            <a:endParaRPr lang="en-US" dirty="0"/>
          </a:p>
          <a:p>
            <a:r>
              <a:rPr lang="en-US" dirty="0"/>
              <a:t> That makes it a strong </a:t>
            </a:r>
            <a:r>
              <a:rPr lang="en-US" b="1" dirty="0"/>
              <a:t>Track A</a:t>
            </a:r>
            <a:r>
              <a:rPr lang="en-US" dirty="0"/>
              <a:t> candidate,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#26 BuddhismEval</a:t>
            </a:r>
            <a:r>
              <a:rPr lang="en-US" dirty="0"/>
              <a:t> is important for pluralism. </a:t>
            </a:r>
            <a:endParaRPr lang="en-US" dirty="0"/>
          </a:p>
          <a:p>
            <a:r>
              <a:rPr lang="en-US" dirty="0"/>
              <a:t>It is a ready-to-run non-Abrahamic benchmark with Buddhist ethical and philosophical reasoning in English and Sinhala.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These are the Track A runners-up. They are valuable, but not ready for immediate values-alignment runs.</a:t>
            </a:r>
            <a:endParaRPr lang="en-US" altLang="en-US" dirty="0"/>
          </a:p>
          <a:p>
            <a:endParaRPr lang="en-US" altLang="en-US" dirty="0"/>
          </a:p>
          <a:p>
            <a:r>
              <a:rPr lang="en-US" altLang="en-US" dirty="0"/>
              <a:t>#34 Confucian Analects has strong Confucian concepts like ren, li, and role ethics, but it does not yet give us standardized labels, or metrics. #43 Religion &amp; Morality has rich cross-cultural data, but it is survey data, not a LLM model benchmark. #44/#45 FatwaSet </a:t>
            </a:r>
            <a:r>
              <a:rPr lang="en-US" b="1" dirty="0">
                <a:solidFill>
                  <a:srgbClr val="1C1C1C"/>
                </a:solidFill>
                <a:sym typeface="+mn-ea"/>
              </a:rPr>
              <a:t>good data of </a:t>
            </a:r>
            <a:r>
              <a:rPr lang="en-US" dirty="0">
                <a:solidFill>
                  <a:srgbClr val="1C1C1C"/>
                </a:solidFill>
                <a:sym typeface="+mn-ea"/>
              </a:rPr>
              <a:t>Islamic knowledge </a:t>
            </a:r>
            <a:r>
              <a:rPr lang="en-US" b="1" dirty="0">
                <a:solidFill>
                  <a:srgbClr val="1C1C1C"/>
                </a:solidFill>
                <a:sym typeface="+mn-ea"/>
              </a:rPr>
              <a:t>QA</a:t>
            </a:r>
            <a:r>
              <a:rPr lang="en-US" dirty="0">
                <a:solidFill>
                  <a:srgbClr val="1C1C1C"/>
                </a:solidFill>
                <a:sym typeface="+mn-ea"/>
              </a:rPr>
              <a:t> but lackmoral </a:t>
            </a:r>
            <a:r>
              <a:rPr lang="en-US" b="1" dirty="0">
                <a:solidFill>
                  <a:srgbClr val="1C1C1C"/>
                </a:solidFill>
                <a:sym typeface="+mn-ea"/>
              </a:rPr>
              <a:t>reasoning, but its selected for track b</a:t>
            </a:r>
            <a:endParaRPr lang="en-US" altLang="en-US" dirty="0"/>
          </a:p>
          <a:p>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a:t>
            </a:r>
            <a:r>
              <a:rPr lang="en-US" dirty="0"/>
              <a:t>w I will move to </a:t>
            </a:r>
            <a:r>
              <a:rPr lang="en-US" b="1" dirty="0"/>
              <a:t>Track B</a:t>
            </a:r>
            <a:r>
              <a:rPr lang="en-US" dirty="0"/>
              <a:t>. </a:t>
            </a:r>
            <a:r>
              <a:rPr lang="en-US" b="1" dirty="0"/>
              <a:t>Track B</a:t>
            </a:r>
            <a:r>
              <a:rPr lang="en-US" dirty="0"/>
              <a:t> answers a different question. It is the </a:t>
            </a:r>
            <a:r>
              <a:rPr lang="en-US" b="1" dirty="0"/>
              <a:t>MultiFaithBench</a:t>
            </a:r>
            <a:r>
              <a:rPr lang="en-US" dirty="0"/>
              <a:t> direction: </a:t>
            </a:r>
            <a:r>
              <a:rPr lang="en-US" b="1" dirty="0"/>
              <a:t>scripture</a:t>
            </a:r>
            <a:r>
              <a:rPr lang="en-US" dirty="0"/>
              <a:t> </a:t>
            </a:r>
            <a:r>
              <a:rPr lang="en-US" b="1" dirty="0"/>
              <a:t>QA</a:t>
            </a:r>
            <a:r>
              <a:rPr lang="en-US" dirty="0"/>
              <a:t>, </a:t>
            </a:r>
            <a:r>
              <a:rPr lang="en-US" b="1" dirty="0"/>
              <a:t>doctrine</a:t>
            </a:r>
            <a:r>
              <a:rPr lang="en-US" dirty="0"/>
              <a:t> </a:t>
            </a:r>
            <a:r>
              <a:rPr lang="en-US" b="1" dirty="0"/>
              <a:t>QA</a:t>
            </a:r>
            <a:r>
              <a:rPr lang="en-US" dirty="0"/>
              <a:t>, factual knowledge, </a:t>
            </a:r>
            <a:r>
              <a:rPr lang="en-US" b="1" dirty="0"/>
              <a:t>source faithfulness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ym typeface="+mn-ea"/>
              </a:rPr>
              <a:t>The strongest </a:t>
            </a:r>
            <a:r>
              <a:rPr lang="en-US" b="1" dirty="0">
                <a:sym typeface="+mn-ea"/>
              </a:rPr>
              <a:t>Track B</a:t>
            </a:r>
            <a:r>
              <a:rPr lang="en-US" dirty="0">
                <a:sym typeface="+mn-ea"/>
              </a:rPr>
              <a:t> are here:</a:t>
            </a:r>
            <a:endParaRPr lang="en-US" b="1" dirty="0"/>
          </a:p>
          <a:p>
            <a:r>
              <a:rPr lang="en-US" dirty="0">
                <a:sym typeface="+mn-ea"/>
              </a:rPr>
              <a:t>those test religious </a:t>
            </a:r>
            <a:r>
              <a:rPr lang="en-US" b="1" dirty="0">
                <a:sym typeface="+mn-ea"/>
              </a:rPr>
              <a:t>knowledge </a:t>
            </a:r>
            <a:r>
              <a:rPr lang="en-US" dirty="0">
                <a:sym typeface="+mn-ea"/>
              </a:rPr>
              <a:t>and </a:t>
            </a:r>
            <a:r>
              <a:rPr lang="en-US" b="1" dirty="0">
                <a:sym typeface="+mn-ea"/>
              </a:rPr>
              <a:t>source-groundedness</a:t>
            </a:r>
            <a:r>
              <a:rPr lang="en-US" dirty="0">
                <a:sym typeface="+mn-ea"/>
              </a:rPr>
              <a:t>, not </a:t>
            </a:r>
            <a:r>
              <a:rPr lang="en-US" b="1" dirty="0">
                <a:sym typeface="+mn-ea"/>
              </a:rPr>
              <a:t>values alignment</a:t>
            </a:r>
            <a:endParaRPr lang="en-US" dirty="0"/>
          </a:p>
          <a:p/>
          <a:p>
            <a:r>
              <a:t>The red items are Andrew's part; </a:t>
            </a:r>
            <a:r>
              <a:rPr lang="en-US"/>
              <a:t> </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ym typeface="+mn-ea"/>
              </a:rPr>
              <a:t>#42 QASiNa</a:t>
            </a:r>
            <a:r>
              <a:rPr lang="en-US" dirty="0">
                <a:sym typeface="+mn-ea"/>
              </a:rPr>
              <a:t> is useful because it tests source discipline in Islamic </a:t>
            </a:r>
            <a:r>
              <a:rPr lang="en-US" b="1" dirty="0">
                <a:sym typeface="+mn-ea"/>
              </a:rPr>
              <a:t>QA</a:t>
            </a:r>
            <a:r>
              <a:rPr lang="en-US" dirty="0">
                <a:sym typeface="+mn-ea"/>
              </a:rPr>
              <a:t>. </a:t>
            </a:r>
            <a:r>
              <a:rPr lang="en-US" b="1" dirty="0">
                <a:sym typeface="+mn-ea"/>
              </a:rPr>
              <a:t>QASiNa</a:t>
            </a:r>
            <a:r>
              <a:rPr lang="en-US" dirty="0">
                <a:sym typeface="+mn-ea"/>
              </a:rPr>
              <a:t> lets us measure not only answer accuracy, but whether the model stays inside the provided context.</a:t>
            </a:r>
            <a:endParaRPr lang="en-US" dirty="0">
              <a:sym typeface="+mn-ea"/>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ym typeface="+mn-ea"/>
              </a:rPr>
              <a:t>#37 BibleQA, faithbench</a:t>
            </a:r>
            <a:r>
              <a:rPr lang="en-US" dirty="0">
                <a:sym typeface="+mn-ea"/>
              </a:rPr>
              <a:t> and </a:t>
            </a:r>
            <a:r>
              <a:rPr lang="en-US" b="1" dirty="0">
                <a:sym typeface="+mn-ea"/>
              </a:rPr>
              <a:t>#44/#45 FatwaSet</a:t>
            </a:r>
            <a:r>
              <a:rPr lang="en-US" dirty="0">
                <a:sym typeface="+mn-ea"/>
              </a:rPr>
              <a:t> are the other core </a:t>
            </a:r>
            <a:r>
              <a:rPr lang="en-US" b="1" dirty="0">
                <a:sym typeface="+mn-ea"/>
              </a:rPr>
              <a:t>Track B tier one</a:t>
            </a:r>
            <a:r>
              <a:rPr lang="en-US" dirty="0">
                <a:sym typeface="+mn-ea"/>
              </a:rPr>
              <a:t> paths. I would merge #44 and #45 rather than count them twice.</a:t>
            </a:r>
            <a:endParaRPr lang="en-US" dirty="0">
              <a:sym typeface="+mn-ea"/>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ym typeface="+mn-ea"/>
              </a:rPr>
              <a:t>These are runners up for </a:t>
            </a:r>
            <a:r>
              <a:rPr lang="en-US" b="1" dirty="0">
                <a:sym typeface="+mn-ea"/>
              </a:rPr>
              <a:t>Track B </a:t>
            </a:r>
            <a:r>
              <a:rPr lang="en-US" dirty="0">
                <a:sym typeface="+mn-ea"/>
              </a:rPr>
              <a:t>that </a:t>
            </a:r>
            <a:r>
              <a:rPr lang="en-US" dirty="0">
                <a:sym typeface="+mn-ea"/>
              </a:rPr>
              <a:t>might </a:t>
            </a:r>
            <a:r>
              <a:rPr lang="en-US" b="1" dirty="0">
                <a:sym typeface="+mn-ea"/>
              </a:rPr>
              <a:t>not </a:t>
            </a:r>
            <a:r>
              <a:rPr lang="en-US" dirty="0">
                <a:sym typeface="+mn-ea"/>
              </a:rPr>
              <a:t>be discarded, because they help with tradition coverage, especially Sikh and Hindu coverage. But they are not benchmarks yet. </a:t>
            </a:r>
            <a:endParaRPr lang="en-US" dirty="0"/>
          </a:p>
          <a:p>
            <a:r>
              <a:rPr lang="en-US" dirty="0">
                <a:sym typeface="+mn-ea"/>
              </a:rPr>
              <a:t>To use them, we need to create questions, labels, retrieval targets, and expert-reviewed </a:t>
            </a:r>
            <a:r>
              <a:rPr lang="en-US" b="1" dirty="0">
                <a:sym typeface="+mn-ea"/>
              </a:rPr>
              <a:t>rubric</a:t>
            </a:r>
            <a:r>
              <a:rPr lang="en-US" dirty="0">
                <a:sym typeface="+mn-ea"/>
              </a:rPr>
              <a:t>s.</a:t>
            </a:r>
            <a:endParaRPr lang="en-US" dirty="0"/>
          </a:p>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many discarded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ym typeface="+mn-ea"/>
              </a:rPr>
              <a:t>This is the negative finding, that do not serve either our </a:t>
            </a:r>
            <a:r>
              <a:rPr lang="en-US" b="1" dirty="0">
                <a:sym typeface="+mn-ea"/>
              </a:rPr>
              <a:t>Track A</a:t>
            </a:r>
            <a:r>
              <a:rPr lang="en-US" dirty="0">
                <a:sym typeface="+mn-ea"/>
              </a:rPr>
              <a:t> or </a:t>
            </a:r>
            <a:r>
              <a:rPr lang="en-US" b="1" dirty="0">
                <a:sym typeface="+mn-ea"/>
              </a:rPr>
              <a:t>Track B</a:t>
            </a:r>
            <a:r>
              <a:rPr lang="en-US" dirty="0">
                <a:sym typeface="+mn-ea"/>
              </a:rPr>
              <a:t> . </a:t>
            </a:r>
            <a:endParaRPr lang="en-US" dirty="0">
              <a:sym typeface="+mn-ea"/>
            </a:endParaRPr>
          </a:p>
          <a:p>
            <a:endParaRPr lang="en-US" b="1" dirty="0">
              <a:sym typeface="+mn-ea"/>
            </a:endParaRPr>
          </a:p>
          <a:p>
            <a:r>
              <a:rPr lang="en-US" b="1" dirty="0">
                <a:sym typeface="+mn-ea"/>
              </a:rPr>
              <a:t>for example,</a:t>
            </a:r>
            <a:endParaRPr lang="en-US" b="1" dirty="0">
              <a:sym typeface="+mn-ea"/>
            </a:endParaRPr>
          </a:p>
          <a:p>
            <a:r>
              <a:rPr lang="en-US" b="1" dirty="0">
                <a:sym typeface="+mn-ea"/>
              </a:rPr>
              <a:t>#30 REDDITBIAS</a:t>
            </a:r>
            <a:r>
              <a:rPr lang="en-US" dirty="0">
                <a:sym typeface="+mn-ea"/>
              </a:rPr>
              <a:t> is bias work, </a:t>
            </a:r>
            <a:r>
              <a:rPr lang="en-US" b="1" dirty="0">
                <a:sym typeface="+mn-ea"/>
              </a:rPr>
              <a:t>#36 ValueNet</a:t>
            </a:r>
            <a:r>
              <a:rPr lang="en-US" dirty="0">
                <a:sym typeface="+mn-ea"/>
              </a:rPr>
              <a:t> is general values, </a:t>
            </a:r>
            <a:r>
              <a:rPr lang="en-US" b="1" dirty="0">
                <a:sym typeface="+mn-ea"/>
              </a:rPr>
              <a:t>#41 CulturalVQA</a:t>
            </a:r>
            <a:r>
              <a:rPr lang="en-US" dirty="0">
                <a:sym typeface="+mn-ea"/>
              </a:rPr>
              <a:t> is cultural recognition, </a:t>
            </a:r>
            <a:endParaRPr lang="en-US" dirty="0">
              <a:sym typeface="+mn-ea"/>
            </a:endParaRPr>
          </a:p>
          <a:p>
            <a:r>
              <a:rPr lang="en-US" dirty="0">
                <a:sym typeface="+mn-ea"/>
              </a:rPr>
              <a:t>so they are not directly </a:t>
            </a:r>
            <a:r>
              <a:rPr lang="en-US" b="1" dirty="0">
                <a:sym typeface="+mn-ea"/>
              </a:rPr>
              <a:t>religious benchmark</a:t>
            </a:r>
            <a:r>
              <a:rPr lang="en-US" dirty="0">
                <a:sym typeface="+mn-ea"/>
              </a:rPr>
              <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broader failure pattern, summarized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ym typeface="+mn-ea"/>
              </a:rPr>
              <a:t>My recommendation is to run those first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Jimmy screened 401 candidates. 47 passed both gates. But mean values relevance is only 33.6 out of 100, and just 12 percent of the 47 reach strong values alignment. Passing the gate doesn't mean the benchmark works.
</a:t>
            </a:r>
            <a:endParaRPr lang="en-US" dirty="0"/>
          </a:p>
          <a:p>
            <a:r>
              <a:rPr lang="en-US" dirty="0"/>
              <a:t>it’s worthwhile to brainstorm what's missing across the field. i summarize Six layers </a:t>
            </a:r>
            <a:endParaRPr lang="en-US" dirty="0"/>
          </a:p>
          <a:p>
            <a:r>
              <a:rPr lang="en-US" dirty="0"/>
              <a:t>
Tradition coverage. 6 of 14 traditions have any benchmark. Islam alone holds 28 of the 47. 8 traditions have nothing.
Applied ethics. Only 6 of the 47 reach values-reasoning depth. The rest test recall.
Pastoral judgment. None of the 47 use a counseling format. Grief, doubt, identity, conversion: no benchmark touches them.
Intra-tradition disagreement. 94 percent of the 47 treat their tradition as monolithic. Sunni vs Shia, Reform vs Orthodox, Catholic vs Protestant: not scored.
Tradition-specific reasoning. Only 19 percent reach the values floor. The rest can be solved with generic moral language.
Expert review. Theological reviewers are rare. The 12-member council on this dashboard is the exception.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B is religious knowledge with a working benchmark: question, answer, metric. Below it sits the resource layer, which is text and corpora without questions yet. Above it sits the layer the field hasn't built. Source-aware Track B. That's the gap.
Look at what's actually in the 47. 60 percent are Islamic, mostly Quranic QA repurposed from Arabic NLP. The dashboard's named flagship is T2 fara'id, an Arabic MCQ on inheritance law. It tests inheritance law. It does not test whether a model knows what counts as authoritative: Catechism for Catholics, four schools for Sunnis, lineage for Tibetan Buddhists.
Scripture retrieval is common. Faithfulness to the cited passage isn't scored. A model can answer fluently while inserting modern gloss, and we'd miss it.
On languages, Arabic NLP carries the field. Hebrew, Koine Greek, Pali, Sanskrit, Gurmukhi, Classical Chinese: no stress tests.
On corpora, Arabic is heavily converted. The Summa, Talmud, Sunan, Pali Canon, Guru Granth Sahib all sit as resources without runnable QA on top.
The gap is source-aware Track B: benchmarks that cite, respect authority, and stay faithful to source. That's where MultiFaithBench should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Christianity is one of CEI's priority traditions. 6 of the 47 are Christian. Inside those 6, Bible QA dominates. Catholic alignment work is emerging. Protestant denominational reasoning has no real coverage.
Everything past the surface is missing.
None of the 6 use a counseling format. Pastoral judgment is empty. A parent of a deconstructing child. A man fighting pornography. A woman in an abusive marriage. A seminarian in doubt. Pastors handle these every week. We have no benchmark for any of them.
The 6 treat Christianity as monolithic. Women's ordination, baptism, predestination, real presence: places where faithful Christians legitimately disagree are not scored.
Verse retrieval and recall format dominate. Prooftexting (Jeremiah 29:11 ripped from its exile context, weaponized Romans 13) is not detected. We can measure whether a model knows the verse. We cannot measure whether it interprets responsibly.
Applied ethics: embryo selection, AI personhood, drone warfare, transgender pastoral care, wealth inequality. This is where Christian ethics actually does work. The 6 favor doctrine over moral judgment.
So the CEI agenda is clear. Pastoral and denominational scenarios. Hermeneutic-quality tasks. Applied ethics with real ambiguity. Rubrics reviewed by pastors, theologians, chaplains, seminary faculty. That's the move past Bible QA.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slide is for paper-specific questions from #25 to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appendix remains the traceability matrix for #37 to #47. </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9184" cy="6858000"/>
          </a:xfrm>
          <a:prstGeom prst="rect">
            <a:avLst/>
          </a:prstGeom>
          <a:solidFill>
            <a:srgbClr val="111111"/>
          </a:solidFill>
          <a:ln w="12700">
            <a:solidFill>
              <a:srgbClr val="111111"/>
            </a:solidFill>
            <a:prstDash val="solid"/>
          </a:ln>
        </p:spPr>
        <p:txBody>
          <a:bodyPr/>
          <a:p/>
        </p:txBody>
      </p:sp>
      <p:sp>
        <p:nvSpPr>
          <p:cNvPr id="3" name="Text 1"/>
          <p:cNvSpPr/>
          <p:nvPr/>
        </p:nvSpPr>
        <p:spPr>
          <a:xfrm>
            <a:off x="685800" y="566928"/>
            <a:ext cx="3840480" cy="219456"/>
          </a:xfrm>
          <a:prstGeom prst="rect">
            <a:avLst/>
          </a:prstGeom>
          <a:noFill/>
        </p:spPr>
        <p:txBody>
          <a:bodyPr wrap="square" lIns="0" tIns="0" rIns="0" bIns="0" rtlCol="0" anchor="ctr"/>
          <a:lstStyle/>
          <a:p>
            <a:pPr marL="0" indent="0">
              <a:buNone/>
            </a:pPr>
            <a:r>
              <a:rPr lang="en-US" sz="1220" b="1" dirty="0">
                <a:solidFill>
                  <a:srgbClr val="6C737F"/>
                </a:solidFill>
              </a:rPr>
              <a:t>RELIGIOUS BENCHMARKS</a:t>
            </a:r>
            <a:endParaRPr lang="en-US" sz="1220" dirty="0"/>
          </a:p>
        </p:txBody>
      </p:sp>
      <p:sp>
        <p:nvSpPr>
          <p:cNvPr id="4" name="Text 2"/>
          <p:cNvSpPr/>
          <p:nvPr/>
        </p:nvSpPr>
        <p:spPr>
          <a:xfrm>
            <a:off x="685800" y="1152144"/>
            <a:ext cx="6400800" cy="475488"/>
          </a:xfrm>
          <a:prstGeom prst="rect">
            <a:avLst/>
          </a:prstGeom>
          <a:noFill/>
        </p:spPr>
        <p:txBody>
          <a:bodyPr wrap="square" lIns="0" tIns="0" rIns="0" bIns="0" rtlCol="0" anchor="ctr"/>
          <a:lstStyle/>
          <a:p>
            <a:r>
              <a:t>Gate-Passers </a:t>
            </a:r>
          </a:p>
        </p:txBody>
      </p:sp>
      <p:sp>
        <p:nvSpPr>
          <p:cNvPr id="5" name="Text 3"/>
          <p:cNvSpPr/>
          <p:nvPr/>
        </p:nvSpPr>
        <p:spPr>
          <a:xfrm>
            <a:off x="704088" y="2040128"/>
            <a:ext cx="7680960" cy="310896"/>
          </a:xfrm>
          <a:prstGeom prst="rect">
            <a:avLst/>
          </a:prstGeom>
          <a:noFill/>
        </p:spPr>
        <p:txBody>
          <a:bodyPr wrap="square" lIns="0" tIns="0" rIns="0" bIns="0" rtlCol="0" anchor="ctr"/>
          <a:lstStyle/>
          <a:p>
            <a:pPr marL="0" indent="0">
              <a:buNone/>
            </a:pPr>
            <a:r>
              <a:rPr lang="en-US" sz="1800" dirty="0">
                <a:solidFill>
                  <a:srgbClr val="6C737F"/>
                </a:solidFill>
              </a:rPr>
              <a:t>Track clarification &amp; implementation plan</a:t>
            </a:r>
            <a:endParaRPr lang="en-US" sz="1800" dirty="0">
              <a:solidFill>
                <a:srgbClr val="6C737F"/>
              </a:solidFill>
            </a:endParaRPr>
          </a:p>
          <a:p>
            <a:pPr marL="0" indent="0">
              <a:buNone/>
            </a:pPr>
            <a:r>
              <a:rPr lang="en-US" sz="1800" dirty="0"/>
              <a:t>Jenny Zhu </a:t>
            </a:r>
            <a:endParaRPr lang="en-US" sz="1800" dirty="0"/>
          </a:p>
          <a:p>
            <a:pPr marL="0" indent="0">
              <a:buNone/>
            </a:pPr>
            <a:r>
              <a:rPr lang="en-US" sz="1800" dirty="0"/>
              <a:t>May 5, 2026</a:t>
            </a:r>
            <a:endParaRPr lang="en-US" sz="1800" dirty="0"/>
          </a:p>
        </p:txBody>
      </p:sp>
      <p:sp>
        <p:nvSpPr>
          <p:cNvPr id="7" name="Shape 5"/>
          <p:cNvSpPr/>
          <p:nvPr/>
        </p:nvSpPr>
        <p:spPr>
          <a:xfrm>
            <a:off x="9235440" y="0"/>
            <a:ext cx="2953512" cy="6858000"/>
          </a:xfrm>
          <a:prstGeom prst="rect">
            <a:avLst/>
          </a:prstGeom>
          <a:solidFill>
            <a:srgbClr val="F5F6F8"/>
          </a:solidFill>
          <a:ln w="12700">
            <a:solidFill>
              <a:srgbClr val="F5F6F8"/>
            </a:solidFill>
            <a:prstDash val="solid"/>
          </a:ln>
        </p:spPr>
        <p:txBody>
          <a:bodyPr/>
          <a:p/>
        </p:txBody>
      </p:sp>
      <p:sp>
        <p:nvSpPr>
          <p:cNvPr id="10" name="Shape 8"/>
          <p:cNvSpPr/>
          <p:nvPr/>
        </p:nvSpPr>
        <p:spPr>
          <a:xfrm>
            <a:off x="9573768" y="3090672"/>
            <a:ext cx="2103120" cy="310896"/>
          </a:xfrm>
          <a:prstGeom prst="roundRect">
            <a:avLst>
              <a:gd name="adj" fmla="val 20588"/>
            </a:avLst>
          </a:prstGeom>
          <a:solidFill>
            <a:srgbClr val="E8F4F1"/>
          </a:solidFill>
          <a:ln w="10160">
            <a:solidFill>
              <a:srgbClr val="176B5C"/>
            </a:solidFill>
            <a:prstDash val="solid"/>
          </a:ln>
        </p:spPr>
        <p:txBody>
          <a:bodyPr/>
          <a:p/>
        </p:txBody>
      </p:sp>
      <p:sp>
        <p:nvSpPr>
          <p:cNvPr id="11" name="Text 9"/>
          <p:cNvSpPr/>
          <p:nvPr/>
        </p:nvSpPr>
        <p:spPr>
          <a:xfrm>
            <a:off x="9619488" y="3163824"/>
            <a:ext cx="2011680" cy="128016"/>
          </a:xfrm>
          <a:prstGeom prst="rect">
            <a:avLst/>
          </a:prstGeom>
          <a:noFill/>
        </p:spPr>
        <p:txBody>
          <a:bodyPr wrap="square" lIns="0" tIns="0" rIns="0" bIns="0" rtlCol="0" anchor="ctr">
            <a:normAutofit/>
          </a:bodyPr>
          <a:lstStyle/>
          <a:p>
            <a:pPr marL="0" indent="0" algn="ctr">
              <a:buNone/>
            </a:pPr>
            <a:r>
              <a:rPr lang="en-US" sz="980" b="1" dirty="0">
                <a:solidFill>
                  <a:srgbClr val="176B5C"/>
                </a:solidFill>
              </a:rPr>
              <a:t>Track A</a:t>
            </a:r>
            <a:r>
              <a:rPr lang="en-US" sz="980" b="1" dirty="0">
                <a:solidFill>
                  <a:srgbClr val="176B5C"/>
                </a:solidFill>
              </a:rPr>
              <a:t> · </a:t>
            </a:r>
            <a:r>
              <a:rPr lang="en-US" sz="980" b="1" dirty="0">
                <a:solidFill>
                  <a:srgbClr val="176B5C"/>
                </a:solidFill>
              </a:rPr>
              <a:t>values / alignment</a:t>
            </a:r>
            <a:endParaRPr lang="en-US" sz="980" dirty="0"/>
          </a:p>
        </p:txBody>
      </p:sp>
      <p:sp>
        <p:nvSpPr>
          <p:cNvPr id="12" name="Shape 10"/>
          <p:cNvSpPr/>
          <p:nvPr/>
        </p:nvSpPr>
        <p:spPr>
          <a:xfrm>
            <a:off x="9573768" y="3547872"/>
            <a:ext cx="2103120" cy="310896"/>
          </a:xfrm>
          <a:prstGeom prst="roundRect">
            <a:avLst>
              <a:gd name="adj" fmla="val 20588"/>
            </a:avLst>
          </a:prstGeom>
          <a:solidFill>
            <a:srgbClr val="E8F0F8"/>
          </a:solidFill>
          <a:ln w="10160">
            <a:solidFill>
              <a:srgbClr val="1F4E79"/>
            </a:solidFill>
            <a:prstDash val="solid"/>
          </a:ln>
        </p:spPr>
        <p:txBody>
          <a:bodyPr/>
          <a:p/>
        </p:txBody>
      </p:sp>
      <p:sp>
        <p:nvSpPr>
          <p:cNvPr id="13" name="Text 11"/>
          <p:cNvSpPr/>
          <p:nvPr/>
        </p:nvSpPr>
        <p:spPr>
          <a:xfrm>
            <a:off x="9619488" y="3621024"/>
            <a:ext cx="2011680" cy="128016"/>
          </a:xfrm>
          <a:prstGeom prst="rect">
            <a:avLst/>
          </a:prstGeom>
          <a:noFill/>
        </p:spPr>
        <p:txBody>
          <a:bodyPr wrap="square" lIns="0" tIns="0" rIns="0" bIns="0" rtlCol="0" anchor="ctr">
            <a:normAutofit/>
          </a:bodyPr>
          <a:lstStyle/>
          <a:p>
            <a:pPr marL="0" indent="0" algn="ctr">
              <a:buNone/>
            </a:pPr>
            <a:r>
              <a:rPr lang="en-US" sz="980" b="1" dirty="0">
                <a:solidFill>
                  <a:srgbClr val="1F4E79"/>
                </a:solidFill>
              </a:rPr>
              <a:t>Track B</a:t>
            </a:r>
            <a:r>
              <a:rPr lang="en-US" sz="980" b="1" dirty="0">
                <a:solidFill>
                  <a:srgbClr val="1F4E79"/>
                </a:solidFill>
              </a:rPr>
              <a:t> · </a:t>
            </a:r>
            <a:r>
              <a:rPr lang="en-US" sz="980" b="1" dirty="0">
                <a:solidFill>
                  <a:srgbClr val="1F4E79"/>
                </a:solidFill>
              </a:rPr>
              <a:t>knowledge / doctrine</a:t>
            </a:r>
            <a:endParaRPr lang="en-US" sz="980" dirty="0"/>
          </a:p>
        </p:txBody>
      </p:sp>
      <p:sp>
        <p:nvSpPr>
          <p:cNvPr id="14" name="Shape 12"/>
          <p:cNvSpPr/>
          <p:nvPr/>
        </p:nvSpPr>
        <p:spPr>
          <a:xfrm>
            <a:off x="9573768" y="4005072"/>
            <a:ext cx="2103120" cy="310896"/>
          </a:xfrm>
          <a:prstGeom prst="roundRect">
            <a:avLst>
              <a:gd name="adj" fmla="val 20588"/>
            </a:avLst>
          </a:prstGeom>
          <a:solidFill>
            <a:srgbClr val="F1F2F4"/>
          </a:solidFill>
          <a:ln w="10160">
            <a:solidFill>
              <a:srgbClr val="6B7280"/>
            </a:solidFill>
            <a:prstDash val="solid"/>
          </a:ln>
        </p:spPr>
        <p:txBody>
          <a:bodyPr/>
          <a:p/>
        </p:txBody>
      </p:sp>
      <p:sp>
        <p:nvSpPr>
          <p:cNvPr id="15" name="Text 13"/>
          <p:cNvSpPr/>
          <p:nvPr/>
        </p:nvSpPr>
        <p:spPr>
          <a:xfrm>
            <a:off x="9619488" y="4078224"/>
            <a:ext cx="2011680" cy="128016"/>
          </a:xfrm>
          <a:prstGeom prst="rect">
            <a:avLst/>
          </a:prstGeom>
          <a:noFill/>
        </p:spPr>
        <p:txBody>
          <a:bodyPr wrap="square" lIns="0" tIns="0" rIns="0" bIns="0" rtlCol="0" anchor="ctr">
            <a:normAutofit/>
          </a:bodyPr>
          <a:lstStyle/>
          <a:p>
            <a:pPr marL="0" indent="0" algn="ctr">
              <a:buNone/>
            </a:pPr>
            <a:r>
              <a:rPr lang="en-US" sz="980" b="1" dirty="0">
                <a:solidFill>
                  <a:srgbClr val="6B7280"/>
                </a:solidFill>
              </a:rPr>
              <a:t>Resource layer</a:t>
            </a:r>
            <a:endParaRPr lang="en-US" sz="980" dirty="0"/>
          </a:p>
        </p:txBody>
      </p:sp>
      <p:sp>
        <p:nvSpPr>
          <p:cNvPr id="16" name="Shape 14"/>
          <p:cNvSpPr/>
          <p:nvPr/>
        </p:nvSpPr>
        <p:spPr>
          <a:xfrm>
            <a:off x="9573768" y="4462272"/>
            <a:ext cx="2103120" cy="310896"/>
          </a:xfrm>
          <a:prstGeom prst="roundRect">
            <a:avLst>
              <a:gd name="adj" fmla="val 20588"/>
            </a:avLst>
          </a:prstGeom>
          <a:solidFill>
            <a:srgbClr val="FDECEC"/>
          </a:solidFill>
          <a:ln w="10160">
            <a:solidFill>
              <a:srgbClr val="B42318"/>
            </a:solidFill>
            <a:prstDash val="solid"/>
          </a:ln>
        </p:spPr>
        <p:txBody>
          <a:bodyPr/>
          <a:p/>
        </p:txBody>
      </p:sp>
      <p:sp>
        <p:nvSpPr>
          <p:cNvPr id="17" name="Text 15"/>
          <p:cNvSpPr/>
          <p:nvPr/>
        </p:nvSpPr>
        <p:spPr>
          <a:xfrm>
            <a:off x="9619488" y="4535424"/>
            <a:ext cx="2011680" cy="128016"/>
          </a:xfrm>
          <a:prstGeom prst="rect">
            <a:avLst/>
          </a:prstGeom>
          <a:noFill/>
        </p:spPr>
        <p:txBody>
          <a:bodyPr wrap="square" lIns="0" tIns="0" rIns="0" bIns="0" rtlCol="0" anchor="ctr">
            <a:normAutofit/>
          </a:bodyPr>
          <a:lstStyle/>
          <a:p>
            <a:pPr marL="0" indent="0" algn="ctr">
              <a:buNone/>
            </a:pPr>
            <a:r>
              <a:rPr lang="en-US" sz="980" b="1" dirty="0">
                <a:solidFill>
                  <a:srgbClr val="B42318"/>
                </a:solidFill>
              </a:rPr>
              <a:t>Negative / weak fit</a:t>
            </a:r>
            <a:endParaRPr lang="en-US" sz="980" dirty="0"/>
          </a:p>
        </p:txBody>
      </p:sp>
      <p:sp>
        <p:nvSpPr>
          <p:cNvPr id="18" name="Shape 16"/>
          <p:cNvSpPr/>
          <p:nvPr/>
        </p:nvSpPr>
        <p:spPr>
          <a:xfrm>
            <a:off x="749808" y="5074920"/>
            <a:ext cx="1417320" cy="0"/>
          </a:xfrm>
          <a:prstGeom prst="line">
            <a:avLst/>
          </a:prstGeom>
          <a:noFill/>
          <a:ln w="29210">
            <a:solidFill>
              <a:srgbClr val="D6DAE0"/>
            </a:solidFill>
            <a:prstDash val="solid"/>
          </a:ln>
        </p:spPr>
        <p:txBody>
          <a:bodyPr/>
          <a:p/>
        </p:txBody>
      </p:sp>
      <p:sp>
        <p:nvSpPr>
          <p:cNvPr id="19" name="Text 17"/>
          <p:cNvSpPr/>
          <p:nvPr/>
        </p:nvSpPr>
        <p:spPr>
          <a:xfrm>
            <a:off x="749808" y="5257800"/>
            <a:ext cx="1097280" cy="347472"/>
          </a:xfrm>
          <a:prstGeom prst="rect">
            <a:avLst/>
          </a:prstGeom>
          <a:noFill/>
        </p:spPr>
        <p:txBody>
          <a:bodyPr wrap="square" lIns="0" tIns="0" rIns="0" bIns="0" rtlCol="0" anchor="ctr">
            <a:normAutofit/>
          </a:bodyPr>
          <a:lstStyle/>
          <a:p>
            <a:pPr marL="0" indent="0">
              <a:buNone/>
            </a:pPr>
            <a:r>
              <a:rPr lang="en-US" sz="2000" b="1" dirty="0">
                <a:solidFill>
                  <a:srgbClr val="1C1C1C"/>
                </a:solidFill>
              </a:rPr>
              <a:t>401</a:t>
            </a:r>
            <a:endParaRPr lang="en-US" sz="2000" dirty="0"/>
          </a:p>
        </p:txBody>
      </p:sp>
      <p:sp>
        <p:nvSpPr>
          <p:cNvPr id="20" name="Text 18"/>
          <p:cNvSpPr/>
          <p:nvPr/>
        </p:nvSpPr>
        <p:spPr>
          <a:xfrm>
            <a:off x="749808" y="5623560"/>
            <a:ext cx="1508760" cy="164592"/>
          </a:xfrm>
          <a:prstGeom prst="rect">
            <a:avLst/>
          </a:prstGeom>
          <a:noFill/>
        </p:spPr>
        <p:txBody>
          <a:bodyPr wrap="square" lIns="0" tIns="0" rIns="0" bIns="0" rtlCol="0" anchor="ctr">
            <a:normAutofit/>
          </a:bodyPr>
          <a:lstStyle/>
          <a:p>
            <a:pPr marL="0" indent="0">
              <a:buNone/>
            </a:pPr>
            <a:r>
              <a:rPr lang="en-US" sz="1050" dirty="0">
                <a:solidFill>
                  <a:srgbClr val="6C737F"/>
                </a:solidFill>
              </a:rPr>
              <a:t>candidates</a:t>
            </a:r>
            <a:endParaRPr lang="en-US" sz="1050" dirty="0"/>
          </a:p>
        </p:txBody>
      </p:sp>
      <p:sp>
        <p:nvSpPr>
          <p:cNvPr id="21" name="Shape 19"/>
          <p:cNvSpPr/>
          <p:nvPr/>
        </p:nvSpPr>
        <p:spPr>
          <a:xfrm>
            <a:off x="2743200" y="5074920"/>
            <a:ext cx="1417320" cy="0"/>
          </a:xfrm>
          <a:prstGeom prst="line">
            <a:avLst/>
          </a:prstGeom>
          <a:noFill/>
          <a:ln w="29210">
            <a:solidFill>
              <a:srgbClr val="176B5C"/>
            </a:solidFill>
            <a:prstDash val="solid"/>
          </a:ln>
        </p:spPr>
        <p:txBody>
          <a:bodyPr/>
          <a:p/>
        </p:txBody>
      </p:sp>
      <p:sp>
        <p:nvSpPr>
          <p:cNvPr id="22" name="Text 20"/>
          <p:cNvSpPr/>
          <p:nvPr/>
        </p:nvSpPr>
        <p:spPr>
          <a:xfrm>
            <a:off x="2743200" y="5257800"/>
            <a:ext cx="1097280" cy="347472"/>
          </a:xfrm>
          <a:prstGeom prst="rect">
            <a:avLst/>
          </a:prstGeom>
          <a:noFill/>
        </p:spPr>
        <p:txBody>
          <a:bodyPr wrap="square" lIns="0" tIns="0" rIns="0" bIns="0" rtlCol="0" anchor="ctr">
            <a:normAutofit/>
          </a:bodyPr>
          <a:lstStyle/>
          <a:p>
            <a:pPr marL="0" indent="0">
              <a:buNone/>
            </a:pPr>
            <a:r>
              <a:rPr lang="en-US" sz="2000" b="1" dirty="0">
                <a:solidFill>
                  <a:srgbClr val="1C1C1C"/>
                </a:solidFill>
              </a:rPr>
              <a:t>47</a:t>
            </a:r>
            <a:endParaRPr lang="en-US" sz="2000" dirty="0"/>
          </a:p>
        </p:txBody>
      </p:sp>
      <p:sp>
        <p:nvSpPr>
          <p:cNvPr id="23" name="Text 21"/>
          <p:cNvSpPr/>
          <p:nvPr/>
        </p:nvSpPr>
        <p:spPr>
          <a:xfrm>
            <a:off x="2743200" y="5623560"/>
            <a:ext cx="1508760" cy="164592"/>
          </a:xfrm>
          <a:prstGeom prst="rect">
            <a:avLst/>
          </a:prstGeom>
          <a:noFill/>
        </p:spPr>
        <p:txBody>
          <a:bodyPr wrap="square" lIns="0" tIns="0" rIns="0" bIns="0" rtlCol="0" anchor="ctr">
            <a:normAutofit/>
          </a:bodyPr>
          <a:lstStyle/>
          <a:p>
            <a:pPr marL="0" indent="0">
              <a:buNone/>
            </a:pPr>
            <a:r>
              <a:rPr lang="en-US" sz="1050" b="1" dirty="0">
                <a:solidFill>
                  <a:srgbClr val="6C737F"/>
                </a:solidFill>
              </a:rPr>
              <a:t>gate-passer</a:t>
            </a:r>
            <a:r>
              <a:rPr lang="en-US" sz="1050" dirty="0">
                <a:solidFill>
                  <a:srgbClr val="6C737F"/>
                </a:solidFill>
              </a:rPr>
              <a:t>s</a:t>
            </a:r>
            <a:endParaRPr lang="en-US" sz="1050" dirty="0"/>
          </a:p>
        </p:txBody>
      </p:sp>
      <p:sp>
        <p:nvSpPr>
          <p:cNvPr id="24" name="Shape 22"/>
          <p:cNvSpPr/>
          <p:nvPr/>
        </p:nvSpPr>
        <p:spPr>
          <a:xfrm>
            <a:off x="4736592" y="5074920"/>
            <a:ext cx="1417320" cy="0"/>
          </a:xfrm>
          <a:prstGeom prst="line">
            <a:avLst/>
          </a:prstGeom>
          <a:noFill/>
          <a:ln w="29210">
            <a:solidFill>
              <a:srgbClr val="D6DAE0"/>
            </a:solidFill>
            <a:prstDash val="solid"/>
          </a:ln>
        </p:spPr>
        <p:txBody>
          <a:bodyPr/>
          <a:p/>
        </p:txBody>
      </p:sp>
      <p:sp>
        <p:nvSpPr>
          <p:cNvPr id="25" name="Text 23"/>
          <p:cNvSpPr/>
          <p:nvPr/>
        </p:nvSpPr>
        <p:spPr>
          <a:xfrm>
            <a:off x="4736592" y="5257800"/>
            <a:ext cx="1097280" cy="347472"/>
          </a:xfrm>
          <a:prstGeom prst="rect">
            <a:avLst/>
          </a:prstGeom>
          <a:noFill/>
        </p:spPr>
        <p:txBody>
          <a:bodyPr wrap="square" lIns="0" tIns="0" rIns="0" bIns="0" rtlCol="0" anchor="ctr">
            <a:normAutofit/>
          </a:bodyPr>
          <a:lstStyle/>
          <a:p>
            <a:r>
              <a:rPr lang="en-US"/>
              <a:t>1</a:t>
            </a:r>
            <a:r>
              <a:t>–47</a:t>
            </a:r>
          </a:p>
        </p:txBody>
      </p:sp>
      <p:sp>
        <p:nvSpPr>
          <p:cNvPr id="26" name="Text 24"/>
          <p:cNvSpPr/>
          <p:nvPr/>
        </p:nvSpPr>
        <p:spPr>
          <a:xfrm>
            <a:off x="4736592" y="5623560"/>
            <a:ext cx="1508760" cy="164592"/>
          </a:xfrm>
          <a:prstGeom prst="rect">
            <a:avLst/>
          </a:prstGeom>
          <a:noFill/>
        </p:spPr>
        <p:txBody>
          <a:bodyPr wrap="square" lIns="0" tIns="0" rIns="0" bIns="0" rtlCol="0" anchor="ctr">
            <a:normAutofit/>
          </a:bodyPr>
          <a:lstStyle/>
          <a:p/>
        </p:txBody>
      </p:sp>
      <p:sp>
        <p:nvSpPr>
          <p:cNvPr id="27" name="Shape 25"/>
          <p:cNvSpPr/>
          <p:nvPr/>
        </p:nvSpPr>
        <p:spPr>
          <a:xfrm>
            <a:off x="6729984" y="5074920"/>
            <a:ext cx="1417320" cy="0"/>
          </a:xfrm>
          <a:prstGeom prst="line">
            <a:avLst/>
          </a:prstGeom>
          <a:noFill/>
          <a:ln w="29210">
            <a:solidFill>
              <a:srgbClr val="1F4E79"/>
            </a:solidFill>
            <a:prstDash val="solid"/>
          </a:ln>
        </p:spPr>
        <p:txBody>
          <a:bodyPr/>
          <a:p/>
        </p:txBody>
      </p:sp>
      <p:sp>
        <p:nvSpPr>
          <p:cNvPr id="28" name="Text 26"/>
          <p:cNvSpPr/>
          <p:nvPr/>
        </p:nvSpPr>
        <p:spPr>
          <a:xfrm>
            <a:off x="6729984" y="5276215"/>
            <a:ext cx="1097280" cy="347472"/>
          </a:xfrm>
          <a:prstGeom prst="rect">
            <a:avLst/>
          </a:prstGeom>
          <a:noFill/>
        </p:spPr>
        <p:txBody>
          <a:bodyPr wrap="square" lIns="0" tIns="0" rIns="0" bIns="0" rtlCol="0" anchor="ctr">
            <a:normAutofit/>
          </a:bodyPr>
          <a:lstStyle/>
          <a:p>
            <a:pPr marL="0" indent="0">
              <a:buNone/>
            </a:pPr>
            <a:r>
              <a:rPr sz="2000" b="1">
                <a:solidFill>
                  <a:srgbClr val="C00000"/>
                </a:solidFill>
              </a:rPr>
              <a:t>8</a:t>
            </a:r>
            <a:endParaRPr lang="en-US" sz="2000" b="1" dirty="0">
              <a:solidFill>
                <a:srgbClr val="C00000"/>
              </a:solidFill>
            </a:endParaRPr>
          </a:p>
        </p:txBody>
      </p:sp>
      <p:sp>
        <p:nvSpPr>
          <p:cNvPr id="29" name="Text 27"/>
          <p:cNvSpPr/>
          <p:nvPr/>
        </p:nvSpPr>
        <p:spPr>
          <a:xfrm>
            <a:off x="6729984" y="5623560"/>
            <a:ext cx="1508760" cy="164592"/>
          </a:xfrm>
          <a:prstGeom prst="rect">
            <a:avLst/>
          </a:prstGeom>
          <a:noFill/>
        </p:spPr>
        <p:txBody>
          <a:bodyPr wrap="square" lIns="0" tIns="0" rIns="0" bIns="0" rtlCol="0" anchor="ctr">
            <a:normAutofit/>
          </a:bodyPr>
          <a:lstStyle/>
          <a:p>
            <a:pPr marL="0" indent="0">
              <a:buNone/>
            </a:pPr>
            <a:r>
              <a:rPr lang="en-US" sz="1050" b="1" dirty="0">
                <a:solidFill>
                  <a:srgbClr val="6C737F"/>
                </a:solidFill>
              </a:rPr>
              <a:t>run-now</a:t>
            </a:r>
            <a:r>
              <a:rPr lang="en-US" sz="1050" dirty="0">
                <a:solidFill>
                  <a:srgbClr val="6C737F"/>
                </a:solidFill>
              </a:rPr>
              <a:t> picks</a:t>
            </a:r>
            <a:endParaRPr lang="en-US" sz="1050" dirty="0"/>
          </a:p>
        </p:txBody>
      </p:sp>
      <p:sp>
        <p:nvSpPr>
          <p:cNvPr id="30" name="Text 28"/>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01</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192"/>
            <a:ext cx="2057400" cy="109728"/>
          </a:xfrm>
          <a:prstGeom prst="rect">
            <a:avLst/>
          </a:prstGeom>
          <a:noFill/>
        </p:spPr>
        <p:txBody>
          <a:bodyPr wrap="square" lIns="0" tIns="0" rIns="0" bIns="0" rtlCol="0" anchor="ctr">
            <a:normAutofit/>
          </a:bodyPr>
          <a:lstStyle/>
          <a:p>
            <a:pPr marL="0" indent="0">
              <a:buNone/>
            </a:pPr>
            <a:r>
              <a:rPr lang="en-US" sz="1050" b="1" dirty="0">
                <a:solidFill>
                  <a:srgbClr val="FFFFFF"/>
                </a:solidFill>
              </a:rPr>
              <a:t>CONTEXT</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lang="en-US" sz="2800" dirty="0"/>
              <a:t>47 selections from the dashboard </a:t>
            </a:r>
            <a:endParaRPr lang="en-US" sz="2800"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04</a:t>
            </a:r>
            <a:endParaRPr lang="en-US" sz="1050" dirty="0"/>
          </a:p>
        </p:txBody>
      </p:sp>
      <p:sp>
        <p:nvSpPr>
          <p:cNvPr id="8" name="Shape 6"/>
          <p:cNvSpPr/>
          <p:nvPr/>
        </p:nvSpPr>
        <p:spPr>
          <a:xfrm>
            <a:off x="731520" y="2011680"/>
            <a:ext cx="2331720" cy="1051560"/>
          </a:xfrm>
          <a:prstGeom prst="rect">
            <a:avLst/>
          </a:prstGeom>
          <a:solidFill>
            <a:srgbClr val="F5F6F8"/>
          </a:solidFill>
          <a:ln w="8890">
            <a:solidFill>
              <a:srgbClr val="D6DAE0"/>
            </a:solidFill>
            <a:prstDash val="solid"/>
          </a:ln>
        </p:spPr>
        <p:txBody>
          <a:bodyPr/>
          <a:p/>
        </p:txBody>
      </p:sp>
      <p:sp>
        <p:nvSpPr>
          <p:cNvPr id="9" name="Text 7"/>
          <p:cNvSpPr/>
          <p:nvPr/>
        </p:nvSpPr>
        <p:spPr>
          <a:xfrm>
            <a:off x="896112" y="2231136"/>
            <a:ext cx="1920240" cy="274320"/>
          </a:xfrm>
          <a:prstGeom prst="rect">
            <a:avLst/>
          </a:prstGeom>
          <a:noFill/>
        </p:spPr>
        <p:txBody>
          <a:bodyPr wrap="square" lIns="0" tIns="0" rIns="0" bIns="0" rtlCol="0" anchor="ctr">
            <a:normAutofit/>
          </a:bodyPr>
          <a:lstStyle/>
          <a:p>
            <a:pPr marL="0" indent="0">
              <a:buNone/>
            </a:pPr>
            <a:r>
              <a:rPr lang="en-US" sz="2000" b="1" dirty="0">
                <a:solidFill>
                  <a:srgbClr val="1C1C1C"/>
                </a:solidFill>
              </a:rPr>
              <a:t>401</a:t>
            </a:r>
            <a:endParaRPr lang="en-US" sz="2000" dirty="0"/>
          </a:p>
        </p:txBody>
      </p:sp>
      <p:sp>
        <p:nvSpPr>
          <p:cNvPr id="10" name="Text 8"/>
          <p:cNvSpPr/>
          <p:nvPr/>
        </p:nvSpPr>
        <p:spPr>
          <a:xfrm>
            <a:off x="896112" y="2615184"/>
            <a:ext cx="1920240" cy="219456"/>
          </a:xfrm>
          <a:prstGeom prst="rect">
            <a:avLst/>
          </a:prstGeom>
          <a:noFill/>
        </p:spPr>
        <p:txBody>
          <a:bodyPr wrap="square" lIns="0" tIns="0" rIns="0" bIns="0" rtlCol="0" anchor="ctr">
            <a:normAutofit/>
          </a:bodyPr>
          <a:lstStyle/>
          <a:p>
            <a:pPr marL="0" indent="0">
              <a:buNone/>
            </a:pPr>
            <a:r>
              <a:rPr lang="en-US" sz="1050" dirty="0">
                <a:solidFill>
                  <a:srgbClr val="6C737F"/>
                </a:solidFill>
              </a:rPr>
              <a:t>candidate benchmarks screened</a:t>
            </a:r>
            <a:endParaRPr lang="en-US" sz="1050" dirty="0"/>
          </a:p>
        </p:txBody>
      </p:sp>
      <p:sp>
        <p:nvSpPr>
          <p:cNvPr id="11" name="Shape 9"/>
          <p:cNvSpPr/>
          <p:nvPr/>
        </p:nvSpPr>
        <p:spPr>
          <a:xfrm>
            <a:off x="3520440" y="2011680"/>
            <a:ext cx="2331720" cy="1051560"/>
          </a:xfrm>
          <a:prstGeom prst="rect">
            <a:avLst/>
          </a:prstGeom>
          <a:solidFill>
            <a:srgbClr val="F5F6F8"/>
          </a:solidFill>
          <a:ln w="8890">
            <a:solidFill>
              <a:srgbClr val="D6DAE0"/>
            </a:solidFill>
            <a:prstDash val="solid"/>
          </a:ln>
        </p:spPr>
        <p:txBody>
          <a:bodyPr/>
          <a:p/>
        </p:txBody>
      </p:sp>
      <p:sp>
        <p:nvSpPr>
          <p:cNvPr id="12" name="Text 10"/>
          <p:cNvSpPr/>
          <p:nvPr/>
        </p:nvSpPr>
        <p:spPr>
          <a:xfrm>
            <a:off x="3685032" y="2231136"/>
            <a:ext cx="1920240" cy="274320"/>
          </a:xfrm>
          <a:prstGeom prst="rect">
            <a:avLst/>
          </a:prstGeom>
          <a:noFill/>
        </p:spPr>
        <p:txBody>
          <a:bodyPr wrap="square" lIns="0" tIns="0" rIns="0" bIns="0" rtlCol="0" anchor="ctr">
            <a:normAutofit/>
          </a:bodyPr>
          <a:lstStyle/>
          <a:p>
            <a:pPr marL="0" indent="0">
              <a:buNone/>
            </a:pPr>
            <a:r>
              <a:rPr lang="en-US" sz="2000" b="1" dirty="0">
                <a:solidFill>
                  <a:srgbClr val="1C1C1C"/>
                </a:solidFill>
              </a:rPr>
              <a:t>47</a:t>
            </a:r>
            <a:endParaRPr lang="en-US" sz="2000" dirty="0"/>
          </a:p>
        </p:txBody>
      </p:sp>
      <p:sp>
        <p:nvSpPr>
          <p:cNvPr id="13" name="Text 11"/>
          <p:cNvSpPr/>
          <p:nvPr/>
        </p:nvSpPr>
        <p:spPr>
          <a:xfrm>
            <a:off x="3685032" y="2615184"/>
            <a:ext cx="1920240" cy="219456"/>
          </a:xfrm>
          <a:prstGeom prst="rect">
            <a:avLst/>
          </a:prstGeom>
          <a:noFill/>
        </p:spPr>
        <p:txBody>
          <a:bodyPr wrap="square" lIns="0" tIns="0" rIns="0" bIns="0" rtlCol="0" anchor="ctr">
            <a:normAutofit/>
          </a:bodyPr>
          <a:lstStyle/>
          <a:p>
            <a:pPr marL="0" indent="0">
              <a:buNone/>
            </a:pPr>
            <a:r>
              <a:rPr lang="en-US" sz="1050" dirty="0">
                <a:solidFill>
                  <a:srgbClr val="6C737F"/>
                </a:solidFill>
              </a:rPr>
              <a:t>passed both hard gates</a:t>
            </a:r>
            <a:endParaRPr lang="en-US" sz="1050" dirty="0"/>
          </a:p>
        </p:txBody>
      </p:sp>
      <p:sp>
        <p:nvSpPr>
          <p:cNvPr id="14" name="Shape 12"/>
          <p:cNvSpPr/>
          <p:nvPr/>
        </p:nvSpPr>
        <p:spPr>
          <a:xfrm>
            <a:off x="6309360" y="2011680"/>
            <a:ext cx="2331720" cy="1051560"/>
          </a:xfrm>
          <a:prstGeom prst="rect">
            <a:avLst/>
          </a:prstGeom>
          <a:solidFill>
            <a:srgbClr val="F5F6F8"/>
          </a:solidFill>
          <a:ln w="8890">
            <a:solidFill>
              <a:srgbClr val="D6DAE0"/>
            </a:solidFill>
            <a:prstDash val="solid"/>
          </a:ln>
        </p:spPr>
        <p:txBody>
          <a:bodyPr/>
          <a:p/>
        </p:txBody>
      </p:sp>
      <p:sp>
        <p:nvSpPr>
          <p:cNvPr id="15" name="Text 13"/>
          <p:cNvSpPr/>
          <p:nvPr/>
        </p:nvSpPr>
        <p:spPr>
          <a:xfrm>
            <a:off x="6473952" y="2231136"/>
            <a:ext cx="1920240" cy="274320"/>
          </a:xfrm>
          <a:prstGeom prst="rect">
            <a:avLst/>
          </a:prstGeom>
          <a:noFill/>
        </p:spPr>
        <p:txBody>
          <a:bodyPr wrap="square" lIns="0" tIns="0" rIns="0" bIns="0" rtlCol="0" anchor="ctr">
            <a:normAutofit/>
          </a:bodyPr>
          <a:lstStyle/>
          <a:p>
            <a:pPr marL="0" indent="0">
              <a:buNone/>
            </a:pPr>
            <a:r>
              <a:rPr lang="en-US" sz="2000" b="1" dirty="0">
                <a:solidFill>
                  <a:srgbClr val="1C1C1C"/>
                </a:solidFill>
              </a:rPr>
              <a:t>8 / 14</a:t>
            </a:r>
            <a:endParaRPr lang="en-US" sz="2000" dirty="0"/>
          </a:p>
        </p:txBody>
      </p:sp>
      <p:sp>
        <p:nvSpPr>
          <p:cNvPr id="16" name="Text 14"/>
          <p:cNvSpPr/>
          <p:nvPr/>
        </p:nvSpPr>
        <p:spPr>
          <a:xfrm>
            <a:off x="6473952" y="2615184"/>
            <a:ext cx="1920240" cy="219456"/>
          </a:xfrm>
          <a:prstGeom prst="rect">
            <a:avLst/>
          </a:prstGeom>
          <a:noFill/>
        </p:spPr>
        <p:txBody>
          <a:bodyPr wrap="square" lIns="0" tIns="0" rIns="0" bIns="0" rtlCol="0" anchor="ctr">
            <a:normAutofit/>
          </a:bodyPr>
          <a:lstStyle/>
          <a:p>
            <a:pPr marL="0" indent="0">
              <a:buNone/>
            </a:pPr>
            <a:r>
              <a:rPr lang="en-US" sz="1050" dirty="0">
                <a:solidFill>
                  <a:srgbClr val="6C737F"/>
                </a:solidFill>
              </a:rPr>
              <a:t>traditions have zero </a:t>
            </a:r>
            <a:r>
              <a:rPr lang="en-US" sz="1050" b="1" dirty="0">
                <a:solidFill>
                  <a:srgbClr val="6C737F"/>
                </a:solidFill>
              </a:rPr>
              <a:t>gate-passer</a:t>
            </a:r>
            <a:r>
              <a:rPr lang="en-US" sz="1050" dirty="0">
                <a:solidFill>
                  <a:srgbClr val="6C737F"/>
                </a:solidFill>
              </a:rPr>
              <a:t>s</a:t>
            </a:r>
            <a:endParaRPr lang="en-US" sz="1050" dirty="0"/>
          </a:p>
        </p:txBody>
      </p:sp>
      <p:sp>
        <p:nvSpPr>
          <p:cNvPr id="17" name="Shape 15"/>
          <p:cNvSpPr/>
          <p:nvPr/>
        </p:nvSpPr>
        <p:spPr>
          <a:xfrm>
            <a:off x="9098280" y="2011680"/>
            <a:ext cx="2331720" cy="1051560"/>
          </a:xfrm>
          <a:prstGeom prst="rect">
            <a:avLst/>
          </a:prstGeom>
          <a:solidFill>
            <a:srgbClr val="FFF2CC"/>
          </a:solidFill>
          <a:ln w="8890">
            <a:solidFill>
              <a:srgbClr val="B7791F"/>
            </a:solidFill>
            <a:prstDash val="solid"/>
          </a:ln>
        </p:spPr>
        <p:txBody>
          <a:bodyPr/>
          <a:p/>
        </p:txBody>
      </p:sp>
      <p:sp>
        <p:nvSpPr>
          <p:cNvPr id="18" name="Text 16"/>
          <p:cNvSpPr/>
          <p:nvPr/>
        </p:nvSpPr>
        <p:spPr>
          <a:xfrm>
            <a:off x="9262872" y="2231136"/>
            <a:ext cx="1920240" cy="274320"/>
          </a:xfrm>
          <a:prstGeom prst="rect">
            <a:avLst/>
          </a:prstGeom>
          <a:noFill/>
        </p:spPr>
        <p:txBody>
          <a:bodyPr wrap="square" lIns="0" tIns="0" rIns="0" bIns="0" rtlCol="0" anchor="ctr">
            <a:normAutofit/>
          </a:bodyPr>
          <a:lstStyle/>
          <a:p>
            <a:pPr marL="0" indent="0">
              <a:buNone/>
            </a:pPr>
            <a:r>
              <a:rPr lang="en-US" sz="2000" b="1" dirty="0">
                <a:solidFill>
                  <a:srgbClr val="B7791F"/>
                </a:solidFill>
              </a:rPr>
              <a:t>33.6 / 100</a:t>
            </a:r>
            <a:endParaRPr lang="en-US" sz="2000" dirty="0"/>
          </a:p>
        </p:txBody>
      </p:sp>
      <p:sp>
        <p:nvSpPr>
          <p:cNvPr id="19" name="Text 17"/>
          <p:cNvSpPr/>
          <p:nvPr/>
        </p:nvSpPr>
        <p:spPr>
          <a:xfrm>
            <a:off x="9262872" y="2615184"/>
            <a:ext cx="1920240" cy="219456"/>
          </a:xfrm>
          <a:prstGeom prst="rect">
            <a:avLst/>
          </a:prstGeom>
          <a:noFill/>
        </p:spPr>
        <p:txBody>
          <a:bodyPr wrap="square" lIns="0" tIns="0" rIns="0" bIns="0" rtlCol="0" anchor="ctr">
            <a:normAutofit/>
          </a:bodyPr>
          <a:lstStyle/>
          <a:p>
            <a:pPr marL="0" indent="0">
              <a:buNone/>
            </a:pPr>
            <a:r>
              <a:rPr lang="en-US" sz="1050" dirty="0">
                <a:solidFill>
                  <a:srgbClr val="6C737F"/>
                </a:solidFill>
              </a:rPr>
              <a:t>mean </a:t>
            </a:r>
            <a:r>
              <a:rPr lang="en-US" sz="1050" b="1" dirty="0">
                <a:solidFill>
                  <a:srgbClr val="6C737F"/>
                </a:solidFill>
              </a:rPr>
              <a:t>values-alignment</a:t>
            </a:r>
            <a:r>
              <a:rPr lang="en-US" sz="1050" dirty="0">
                <a:solidFill>
                  <a:srgbClr val="6C737F"/>
                </a:solidFill>
              </a:rPr>
              <a:t> score reported in the dashboard</a:t>
            </a:r>
            <a:endParaRPr lang="en-US" sz="1050" dirty="0"/>
          </a:p>
        </p:txBody>
      </p:sp>
      <p:sp>
        <p:nvSpPr>
          <p:cNvPr id="20" name="Shape 18"/>
          <p:cNvSpPr/>
          <p:nvPr/>
        </p:nvSpPr>
        <p:spPr>
          <a:xfrm>
            <a:off x="777240" y="3977640"/>
            <a:ext cx="10652760" cy="1143000"/>
          </a:xfrm>
          <a:prstGeom prst="rect">
            <a:avLst/>
          </a:prstGeom>
          <a:solidFill>
            <a:srgbClr val="F5F6F8"/>
          </a:solidFill>
          <a:ln w="8890">
            <a:solidFill>
              <a:srgbClr val="D6DAE0"/>
            </a:solidFill>
            <a:prstDash val="solid"/>
          </a:ln>
        </p:spPr>
        <p:txBody>
          <a:bodyPr/>
          <a:p/>
        </p:txBody>
      </p:sp>
      <p:sp>
        <p:nvSpPr>
          <p:cNvPr id="21" name="Text 19"/>
          <p:cNvSpPr/>
          <p:nvPr/>
        </p:nvSpPr>
        <p:spPr>
          <a:xfrm>
            <a:off x="987552" y="4224528"/>
            <a:ext cx="2011680" cy="182880"/>
          </a:xfrm>
          <a:prstGeom prst="rect">
            <a:avLst/>
          </a:prstGeom>
          <a:noFill/>
        </p:spPr>
        <p:txBody>
          <a:bodyPr wrap="square" lIns="0" tIns="0" rIns="0" bIns="0" rtlCol="0" anchor="ctr"/>
          <a:lstStyle/>
          <a:p>
            <a:pPr marL="0" indent="0">
              <a:buNone/>
            </a:pPr>
            <a:r>
              <a:rPr lang="en-US" sz="1120" b="1" dirty="0">
                <a:solidFill>
                  <a:srgbClr val="6C737F"/>
                </a:solidFill>
              </a:rPr>
              <a:t>The dashboard finding</a:t>
            </a:r>
            <a:endParaRPr lang="en-US" sz="1120" dirty="0"/>
          </a:p>
        </p:txBody>
      </p:sp>
      <p:sp>
        <p:nvSpPr>
          <p:cNvPr id="22" name="Text 20"/>
          <p:cNvSpPr/>
          <p:nvPr/>
        </p:nvSpPr>
        <p:spPr>
          <a:xfrm>
            <a:off x="2999105" y="4224020"/>
            <a:ext cx="7515860" cy="388620"/>
          </a:xfrm>
          <a:prstGeom prst="rect">
            <a:avLst/>
          </a:prstGeom>
          <a:noFill/>
        </p:spPr>
        <p:txBody>
          <a:bodyPr wrap="square" lIns="0" tIns="0" rIns="0" bIns="0" rtlCol="0" anchor="ctr"/>
          <a:lstStyle/>
          <a:p>
            <a:pPr marL="0" indent="0">
              <a:buNone/>
            </a:pPr>
            <a:r>
              <a:rPr lang="en-US" altLang="en-US" sz="1600" dirty="0"/>
              <a:t>Most surviving benchmarks test religious knowledge, not religious values.</a:t>
            </a:r>
            <a:endParaRPr lang="en-US" altLang="en-US" sz="1600" dirty="0"/>
          </a:p>
          <a:p>
            <a:pPr marL="0" indent="0">
              <a:buNone/>
            </a:pPr>
            <a:r>
              <a:rPr lang="en-US" altLang="en-US" sz="1600" dirty="0"/>
              <a:t>- Passing the gates means the dataset is usable and clearly about religion, not how good they are.</a:t>
            </a:r>
            <a:endParaRPr lang="en-US" altLang="en-US" sz="1600" dirty="0"/>
          </a:p>
        </p:txBody>
      </p:sp>
      <p:sp>
        <p:nvSpPr>
          <p:cNvPr id="23" name="Shape 21"/>
          <p:cNvSpPr/>
          <p:nvPr/>
        </p:nvSpPr>
        <p:spPr>
          <a:xfrm>
            <a:off x="640080" y="5858510"/>
            <a:ext cx="10835640" cy="551180"/>
          </a:xfrm>
          <a:prstGeom prst="rect">
            <a:avLst/>
          </a:prstGeom>
          <a:solidFill>
            <a:srgbClr val="111111"/>
          </a:solidFill>
          <a:ln w="12700">
            <a:solidFill>
              <a:srgbClr val="111111"/>
            </a:solidFill>
            <a:prstDash val="solid"/>
          </a:ln>
        </p:spPr>
        <p:txBody>
          <a:bodyPr/>
          <a:p>
            <a:endParaRPr lang="en-US"/>
          </a:p>
        </p:txBody>
      </p:sp>
      <p:sp>
        <p:nvSpPr>
          <p:cNvPr id="24" name="Text 22"/>
          <p:cNvSpPr/>
          <p:nvPr/>
        </p:nvSpPr>
        <p:spPr>
          <a:xfrm>
            <a:off x="822960" y="5751195"/>
            <a:ext cx="10469880" cy="852805"/>
          </a:xfrm>
          <a:prstGeom prst="rect">
            <a:avLst/>
          </a:prstGeom>
          <a:noFill/>
        </p:spPr>
        <p:txBody>
          <a:bodyPr wrap="square" lIns="0" tIns="0" rIns="0" bIns="0" rtlCol="0" anchor="ctr"/>
          <a:lstStyle/>
          <a:p>
            <a:pPr marL="0" indent="0" algn="ctr">
              <a:buNone/>
            </a:pPr>
            <a:r>
              <a:rPr lang="en-US" sz="1600" b="1" dirty="0">
                <a:solidFill>
                  <a:srgbClr val="FFFFFF"/>
                </a:solidFill>
              </a:rPr>
              <a:t>So the next step </a:t>
            </a:r>
            <a:r>
              <a:rPr lang="en-US" altLang="en-US" sz="1600" b="1" dirty="0">
                <a:solidFill>
                  <a:srgbClr val="FFFFFF"/>
                </a:solidFill>
              </a:rPr>
              <a:t>is to separate what each benchmark actually tests -- ie, build a portfolio</a:t>
            </a:r>
            <a:endParaRPr lang="en-US" altLang="en-US" sz="1600" b="1"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192"/>
            <a:ext cx="2057400" cy="109728"/>
          </a:xfrm>
          <a:prstGeom prst="rect">
            <a:avLst/>
          </a:prstGeom>
          <a:noFill/>
        </p:spPr>
        <p:txBody>
          <a:bodyPr wrap="square" lIns="0" tIns="0" rIns="0" bIns="0" rtlCol="0" anchor="ctr">
            <a:normAutofit/>
          </a:bodyPr>
          <a:lstStyle/>
          <a:p>
            <a:pPr marL="0" indent="0">
              <a:buNone/>
            </a:pPr>
            <a:r>
              <a:rPr lang="en-US" sz="1050" b="1" dirty="0">
                <a:solidFill>
                  <a:srgbClr val="FFFFFF"/>
                </a:solidFill>
              </a:rPr>
              <a:t>MAIN FINDING</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r>
              <a:t>Main finding: #25–47 are not one benchmark type</a:t>
            </a:r>
          </a:p>
        </p:txBody>
      </p:sp>
      <p:sp>
        <p:nvSpPr>
          <p:cNvPr id="5" name="Text 3"/>
          <p:cNvSpPr/>
          <p:nvPr/>
        </p:nvSpPr>
        <p:spPr>
          <a:xfrm>
            <a:off x="530352" y="1298448"/>
            <a:ext cx="10789920" cy="256032"/>
          </a:xfrm>
          <a:prstGeom prst="rect">
            <a:avLst/>
          </a:prstGeom>
          <a:noFill/>
        </p:spPr>
        <p:txBody>
          <a:bodyPr wrap="square" lIns="0" tIns="0" rIns="0" bIns="0" rtlCol="0" anchor="ctr">
            <a:normAutofit/>
          </a:bodyPr>
          <a:lstStyle/>
          <a:p>
            <a:pPr marL="0" indent="0">
              <a:buNone/>
            </a:pPr>
            <a:r>
              <a:rPr lang="en-US" sz="1220" b="1" i="1" dirty="0">
                <a:solidFill>
                  <a:srgbClr val="6C737F"/>
                </a:solidFill>
              </a:rPr>
              <a:t>religious content</a:t>
            </a:r>
            <a:r>
              <a:rPr lang="en-US" sz="1220" i="1" dirty="0">
                <a:solidFill>
                  <a:srgbClr val="6C737F"/>
                </a:solidFill>
              </a:rPr>
              <a:t> can appear in a dataset </a:t>
            </a:r>
            <a:r>
              <a:rPr lang="en-US" sz="1220" b="1" i="1" u="sng" dirty="0">
                <a:solidFill>
                  <a:srgbClr val="6C737F"/>
                </a:solidFill>
              </a:rPr>
              <a:t>without measuring religious values. </a:t>
            </a:r>
            <a:r>
              <a:rPr lang="en-US" sz="1220" b="1" i="1" dirty="0">
                <a:solidFill>
                  <a:srgbClr val="6C737F"/>
                </a:solidFill>
              </a:rPr>
              <a:t>so we split into 2 tracks</a:t>
            </a:r>
            <a:endParaRPr lang="en-US" sz="1220" b="1"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02</a:t>
            </a:r>
            <a:endParaRPr lang="en-US" sz="1050" dirty="0"/>
          </a:p>
        </p:txBody>
      </p:sp>
      <p:sp>
        <p:nvSpPr>
          <p:cNvPr id="8" name="Shape 6"/>
          <p:cNvSpPr/>
          <p:nvPr/>
        </p:nvSpPr>
        <p:spPr>
          <a:xfrm>
            <a:off x="658368" y="1938528"/>
            <a:ext cx="5166360" cy="1078992"/>
          </a:xfrm>
          <a:prstGeom prst="rect">
            <a:avLst/>
          </a:prstGeom>
          <a:solidFill>
            <a:srgbClr val="E8F4F1"/>
          </a:solidFill>
          <a:ln w="8890">
            <a:solidFill>
              <a:srgbClr val="176B5C"/>
            </a:solidFill>
            <a:prstDash val="solid"/>
          </a:ln>
        </p:spPr>
        <p:txBody>
          <a:bodyPr/>
          <a:p/>
        </p:txBody>
      </p:sp>
      <p:sp>
        <p:nvSpPr>
          <p:cNvPr id="9" name="Text 7"/>
          <p:cNvSpPr/>
          <p:nvPr/>
        </p:nvSpPr>
        <p:spPr>
          <a:xfrm>
            <a:off x="841248" y="2148840"/>
            <a:ext cx="365760" cy="310896"/>
          </a:xfrm>
          <a:prstGeom prst="rect">
            <a:avLst/>
          </a:prstGeom>
          <a:noFill/>
        </p:spPr>
        <p:txBody>
          <a:bodyPr wrap="square" lIns="0" tIns="0" rIns="0" bIns="0" rtlCol="0" anchor="ctr"/>
          <a:lstStyle/>
          <a:p>
            <a:pPr marL="0" indent="0">
              <a:buNone/>
            </a:pPr>
            <a:r>
              <a:rPr lang="en-US" sz="2200" b="1" dirty="0">
                <a:solidFill>
                  <a:srgbClr val="176B5C"/>
                </a:solidFill>
              </a:rPr>
              <a:t>1</a:t>
            </a:r>
            <a:endParaRPr lang="en-US" sz="2200" dirty="0"/>
          </a:p>
        </p:txBody>
      </p:sp>
      <p:sp>
        <p:nvSpPr>
          <p:cNvPr id="10" name="Text 8"/>
          <p:cNvSpPr/>
          <p:nvPr/>
        </p:nvSpPr>
        <p:spPr>
          <a:xfrm>
            <a:off x="1316736" y="2103120"/>
            <a:ext cx="4206240" cy="164592"/>
          </a:xfrm>
          <a:prstGeom prst="rect">
            <a:avLst/>
          </a:prstGeom>
          <a:noFill/>
        </p:spPr>
        <p:txBody>
          <a:bodyPr wrap="square" lIns="0" tIns="0" rIns="0" bIns="0" rtlCol="0" anchor="ctr">
            <a:normAutofit/>
          </a:bodyPr>
          <a:lstStyle/>
          <a:p>
            <a:pPr marL="0" indent="0">
              <a:buNone/>
            </a:pPr>
            <a:r>
              <a:rPr lang="en-US" sz="1220" b="1" dirty="0">
                <a:solidFill>
                  <a:srgbClr val="1C1C1C"/>
                </a:solidFill>
              </a:rPr>
              <a:t>Track A: values / alignment</a:t>
            </a:r>
            <a:endParaRPr lang="en-US" sz="1220" dirty="0"/>
          </a:p>
        </p:txBody>
      </p:sp>
      <p:sp>
        <p:nvSpPr>
          <p:cNvPr id="11" name="Text 9"/>
          <p:cNvSpPr/>
          <p:nvPr/>
        </p:nvSpPr>
        <p:spPr>
          <a:xfrm>
            <a:off x="1316736" y="2377440"/>
            <a:ext cx="4206240" cy="347472"/>
          </a:xfrm>
          <a:prstGeom prst="rect">
            <a:avLst/>
          </a:prstGeom>
          <a:noFill/>
        </p:spPr>
        <p:txBody>
          <a:bodyPr wrap="square" lIns="0" tIns="0" rIns="0" bIns="0" rtlCol="0" anchor="ctr">
            <a:normAutofit/>
          </a:bodyPr>
          <a:lstStyle/>
          <a:p>
            <a:pPr marL="0" indent="0">
              <a:buNone/>
            </a:pPr>
            <a:r>
              <a:rPr lang="en-US" sz="1120" dirty="0">
                <a:solidFill>
                  <a:srgbClr val="000000"/>
                </a:solidFill>
              </a:rPr>
              <a:t>Can the model reason from within a religious value system?</a:t>
            </a:r>
            <a:endParaRPr lang="en-US" sz="1120" dirty="0"/>
          </a:p>
        </p:txBody>
      </p:sp>
      <p:sp>
        <p:nvSpPr>
          <p:cNvPr id="12" name="Shape 10"/>
          <p:cNvSpPr/>
          <p:nvPr/>
        </p:nvSpPr>
        <p:spPr>
          <a:xfrm>
            <a:off x="6236208" y="1938528"/>
            <a:ext cx="5166360" cy="1078992"/>
          </a:xfrm>
          <a:prstGeom prst="rect">
            <a:avLst/>
          </a:prstGeom>
          <a:solidFill>
            <a:srgbClr val="E8F0F8"/>
          </a:solidFill>
          <a:ln w="8890">
            <a:solidFill>
              <a:srgbClr val="1F4E79"/>
            </a:solidFill>
            <a:prstDash val="solid"/>
          </a:ln>
        </p:spPr>
        <p:txBody>
          <a:bodyPr/>
          <a:p/>
        </p:txBody>
      </p:sp>
      <p:sp>
        <p:nvSpPr>
          <p:cNvPr id="13" name="Text 11"/>
          <p:cNvSpPr/>
          <p:nvPr/>
        </p:nvSpPr>
        <p:spPr>
          <a:xfrm>
            <a:off x="6419088" y="2148840"/>
            <a:ext cx="365760" cy="310896"/>
          </a:xfrm>
          <a:prstGeom prst="rect">
            <a:avLst/>
          </a:prstGeom>
          <a:noFill/>
        </p:spPr>
        <p:txBody>
          <a:bodyPr wrap="square" lIns="0" tIns="0" rIns="0" bIns="0" rtlCol="0" anchor="ctr"/>
          <a:lstStyle/>
          <a:p>
            <a:pPr marL="0" indent="0">
              <a:buNone/>
            </a:pPr>
            <a:r>
              <a:rPr lang="en-US" sz="2200" b="1" dirty="0">
                <a:solidFill>
                  <a:srgbClr val="1F4E79"/>
                </a:solidFill>
              </a:rPr>
              <a:t>2</a:t>
            </a:r>
            <a:endParaRPr lang="en-US" sz="2200" dirty="0"/>
          </a:p>
        </p:txBody>
      </p:sp>
      <p:sp>
        <p:nvSpPr>
          <p:cNvPr id="14" name="Text 12"/>
          <p:cNvSpPr/>
          <p:nvPr/>
        </p:nvSpPr>
        <p:spPr>
          <a:xfrm>
            <a:off x="6894576" y="2103120"/>
            <a:ext cx="4206240" cy="164592"/>
          </a:xfrm>
          <a:prstGeom prst="rect">
            <a:avLst/>
          </a:prstGeom>
          <a:noFill/>
        </p:spPr>
        <p:txBody>
          <a:bodyPr wrap="square" lIns="0" tIns="0" rIns="0" bIns="0" rtlCol="0" anchor="ctr">
            <a:normAutofit/>
          </a:bodyPr>
          <a:lstStyle/>
          <a:p>
            <a:pPr marL="0" indent="0">
              <a:buNone/>
            </a:pPr>
            <a:r>
              <a:rPr lang="en-US" sz="1220" b="1" dirty="0">
                <a:solidFill>
                  <a:srgbClr val="1C1C1C"/>
                </a:solidFill>
              </a:rPr>
              <a:t>Track B: knowledge / doctrine</a:t>
            </a:r>
            <a:endParaRPr lang="en-US" sz="1220" dirty="0"/>
          </a:p>
        </p:txBody>
      </p:sp>
      <p:sp>
        <p:nvSpPr>
          <p:cNvPr id="15" name="Text 13"/>
          <p:cNvSpPr/>
          <p:nvPr/>
        </p:nvSpPr>
        <p:spPr>
          <a:xfrm>
            <a:off x="6894576" y="2377440"/>
            <a:ext cx="4206240" cy="347472"/>
          </a:xfrm>
          <a:prstGeom prst="rect">
            <a:avLst/>
          </a:prstGeom>
          <a:noFill/>
        </p:spPr>
        <p:txBody>
          <a:bodyPr wrap="square" lIns="0" tIns="0" rIns="0" bIns="0" rtlCol="0" anchor="ctr">
            <a:normAutofit/>
          </a:bodyPr>
          <a:lstStyle/>
          <a:p>
            <a:pPr marL="0" indent="0">
              <a:buNone/>
            </a:pPr>
            <a:r>
              <a:rPr lang="en-US" sz="1120" dirty="0">
                <a:solidFill>
                  <a:srgbClr val="000000"/>
                </a:solidFill>
              </a:rPr>
              <a:t>Can the model answer </a:t>
            </a:r>
            <a:r>
              <a:rPr lang="en-US" sz="1120" b="1" dirty="0">
                <a:solidFill>
                  <a:srgbClr val="000000"/>
                </a:solidFill>
              </a:rPr>
              <a:t>scripture</a:t>
            </a:r>
            <a:r>
              <a:rPr lang="en-US" sz="1120" dirty="0">
                <a:solidFill>
                  <a:srgbClr val="000000"/>
                </a:solidFill>
              </a:rPr>
              <a:t>, </a:t>
            </a:r>
            <a:r>
              <a:rPr lang="en-US" sz="1120" b="1" dirty="0">
                <a:solidFill>
                  <a:srgbClr val="000000"/>
                </a:solidFill>
              </a:rPr>
              <a:t>doctrine</a:t>
            </a:r>
            <a:r>
              <a:rPr lang="en-US" sz="1120" dirty="0">
                <a:solidFill>
                  <a:srgbClr val="000000"/>
                </a:solidFill>
              </a:rPr>
              <a:t>, </a:t>
            </a:r>
            <a:r>
              <a:rPr lang="en-US" sz="1120" b="1" dirty="0">
                <a:solidFill>
                  <a:srgbClr val="000000"/>
                </a:solidFill>
              </a:rPr>
              <a:t>QA</a:t>
            </a:r>
            <a:r>
              <a:rPr lang="en-US" sz="1120" dirty="0">
                <a:solidFill>
                  <a:srgbClr val="000000"/>
                </a:solidFill>
              </a:rPr>
              <a:t>, or </a:t>
            </a:r>
            <a:r>
              <a:rPr lang="en-US" sz="1120" b="1" dirty="0">
                <a:solidFill>
                  <a:srgbClr val="000000"/>
                </a:solidFill>
              </a:rPr>
              <a:t>source-grounded</a:t>
            </a:r>
            <a:r>
              <a:rPr lang="en-US" sz="1120" dirty="0">
                <a:solidFill>
                  <a:srgbClr val="000000"/>
                </a:solidFill>
              </a:rPr>
              <a:t> religious knowledge?</a:t>
            </a:r>
            <a:endParaRPr lang="en-US" sz="1120" dirty="0"/>
          </a:p>
        </p:txBody>
      </p:sp>
      <p:sp>
        <p:nvSpPr>
          <p:cNvPr id="16" name="Shape 14"/>
          <p:cNvSpPr/>
          <p:nvPr/>
        </p:nvSpPr>
        <p:spPr>
          <a:xfrm>
            <a:off x="658368" y="3447288"/>
            <a:ext cx="5166360" cy="1078992"/>
          </a:xfrm>
          <a:prstGeom prst="rect">
            <a:avLst/>
          </a:prstGeom>
          <a:solidFill>
            <a:srgbClr val="F1F2F4"/>
          </a:solidFill>
          <a:ln w="8890">
            <a:solidFill>
              <a:srgbClr val="6B7280"/>
            </a:solidFill>
            <a:prstDash val="solid"/>
          </a:ln>
        </p:spPr>
        <p:txBody>
          <a:bodyPr/>
          <a:p/>
        </p:txBody>
      </p:sp>
      <p:sp>
        <p:nvSpPr>
          <p:cNvPr id="17" name="Text 15"/>
          <p:cNvSpPr/>
          <p:nvPr/>
        </p:nvSpPr>
        <p:spPr>
          <a:xfrm>
            <a:off x="841248" y="3657600"/>
            <a:ext cx="365760" cy="310896"/>
          </a:xfrm>
          <a:prstGeom prst="rect">
            <a:avLst/>
          </a:prstGeom>
          <a:noFill/>
        </p:spPr>
        <p:txBody>
          <a:bodyPr wrap="square" lIns="0" tIns="0" rIns="0" bIns="0" rtlCol="0" anchor="ctr"/>
          <a:lstStyle/>
          <a:p>
            <a:pPr marL="0" indent="0">
              <a:buNone/>
            </a:pPr>
            <a:r>
              <a:rPr lang="en-US" sz="2200" b="1" dirty="0">
                <a:solidFill>
                  <a:srgbClr val="6B7280"/>
                </a:solidFill>
              </a:rPr>
              <a:t>3</a:t>
            </a:r>
            <a:endParaRPr lang="en-US" sz="2200" dirty="0"/>
          </a:p>
        </p:txBody>
      </p:sp>
      <p:sp>
        <p:nvSpPr>
          <p:cNvPr id="18" name="Text 16"/>
          <p:cNvSpPr/>
          <p:nvPr/>
        </p:nvSpPr>
        <p:spPr>
          <a:xfrm>
            <a:off x="1176655" y="3475355"/>
            <a:ext cx="4206240" cy="685800"/>
          </a:xfrm>
          <a:prstGeom prst="rect">
            <a:avLst/>
          </a:prstGeom>
          <a:noFill/>
        </p:spPr>
        <p:txBody>
          <a:bodyPr wrap="square" lIns="0" tIns="0" rIns="0" bIns="0" rtlCol="0" anchor="ctr">
            <a:normAutofit/>
          </a:bodyPr>
          <a:lstStyle/>
          <a:p>
            <a:pPr marL="0" indent="0">
              <a:buNone/>
            </a:pPr>
            <a:r>
              <a:rPr lang="en-US" sz="1220" b="1" dirty="0">
                <a:solidFill>
                  <a:srgbClr val="1C1C1C"/>
                </a:solidFill>
              </a:rPr>
              <a:t>Religious-domain NLP / resources (track B runners-up)</a:t>
            </a:r>
            <a:endParaRPr lang="en-US" sz="1220" b="1" dirty="0">
              <a:solidFill>
                <a:srgbClr val="1C1C1C"/>
              </a:solidFill>
            </a:endParaRPr>
          </a:p>
          <a:p>
            <a:pPr marL="0" indent="0">
              <a:buNone/>
            </a:pPr>
            <a:r>
              <a:rPr lang="en-US" sz="1220" dirty="0">
                <a:solidFill>
                  <a:srgbClr val="1C1C1C"/>
                </a:solidFill>
              </a:rPr>
              <a:t>They are Not yet benchmark </a:t>
            </a:r>
            <a:r>
              <a:rPr lang="en-US" sz="1220" i="1" dirty="0">
                <a:solidFill>
                  <a:srgbClr val="1C1C1C"/>
                </a:solidFill>
              </a:rPr>
              <a:t>-</a:t>
            </a:r>
            <a:r>
              <a:rPr lang="en-US" sz="1220" i="1" dirty="0">
                <a:solidFill>
                  <a:schemeClr val="accent1">
                    <a:lumMod val="75000"/>
                  </a:schemeClr>
                </a:solidFill>
              </a:rPr>
              <a:t> but it can</a:t>
            </a:r>
            <a:r>
              <a:rPr lang="en-US" altLang="en-US" sz="1220" i="1" dirty="0">
                <a:solidFill>
                  <a:schemeClr val="accent1">
                    <a:lumMod val="75000"/>
                  </a:schemeClr>
                </a:solidFill>
              </a:rPr>
              <a:t> become Track B if we design tasks and labels on top of it.</a:t>
            </a:r>
            <a:endParaRPr lang="en-US" altLang="en-US" sz="1220" i="1" dirty="0">
              <a:solidFill>
                <a:schemeClr val="accent1">
                  <a:lumMod val="75000"/>
                </a:schemeClr>
              </a:solidFill>
            </a:endParaRPr>
          </a:p>
        </p:txBody>
      </p:sp>
      <p:sp>
        <p:nvSpPr>
          <p:cNvPr id="19" name="Text 17"/>
          <p:cNvSpPr/>
          <p:nvPr/>
        </p:nvSpPr>
        <p:spPr>
          <a:xfrm>
            <a:off x="1176401" y="4178935"/>
            <a:ext cx="4206240" cy="347472"/>
          </a:xfrm>
          <a:prstGeom prst="rect">
            <a:avLst/>
          </a:prstGeom>
          <a:noFill/>
        </p:spPr>
        <p:txBody>
          <a:bodyPr wrap="square" lIns="0" tIns="0" rIns="0" bIns="0" rtlCol="0" anchor="ctr">
            <a:normAutofit/>
          </a:bodyPr>
          <a:lstStyle/>
          <a:p>
            <a:pPr marL="0" indent="0">
              <a:buNone/>
            </a:pPr>
            <a:r>
              <a:rPr lang="en-US" sz="1120" dirty="0">
                <a:solidFill>
                  <a:srgbClr val="000000"/>
                </a:solidFill>
              </a:rPr>
              <a:t>Religious text is present, but the task is corpus, translation, parsing, retrieval infrastructure, or database construction.</a:t>
            </a:r>
            <a:endParaRPr lang="en-US" sz="1120" dirty="0"/>
          </a:p>
        </p:txBody>
      </p:sp>
      <p:sp>
        <p:nvSpPr>
          <p:cNvPr id="20" name="Shape 18"/>
          <p:cNvSpPr/>
          <p:nvPr/>
        </p:nvSpPr>
        <p:spPr>
          <a:xfrm>
            <a:off x="6236208" y="3447288"/>
            <a:ext cx="5166360" cy="1078992"/>
          </a:xfrm>
          <a:prstGeom prst="rect">
            <a:avLst/>
          </a:prstGeom>
          <a:solidFill>
            <a:srgbClr val="FDECEC"/>
          </a:solidFill>
          <a:ln w="8890">
            <a:solidFill>
              <a:srgbClr val="B42318"/>
            </a:solidFill>
            <a:prstDash val="solid"/>
          </a:ln>
        </p:spPr>
        <p:txBody>
          <a:bodyPr/>
          <a:p/>
        </p:txBody>
      </p:sp>
      <p:sp>
        <p:nvSpPr>
          <p:cNvPr id="21" name="Text 19"/>
          <p:cNvSpPr/>
          <p:nvPr/>
        </p:nvSpPr>
        <p:spPr>
          <a:xfrm>
            <a:off x="6419088" y="3657600"/>
            <a:ext cx="365760" cy="310896"/>
          </a:xfrm>
          <a:prstGeom prst="rect">
            <a:avLst/>
          </a:prstGeom>
          <a:noFill/>
        </p:spPr>
        <p:txBody>
          <a:bodyPr wrap="square" lIns="0" tIns="0" rIns="0" bIns="0" rtlCol="0" anchor="ctr"/>
          <a:lstStyle/>
          <a:p>
            <a:pPr marL="0" indent="0">
              <a:buNone/>
            </a:pPr>
            <a:r>
              <a:rPr lang="en-US" sz="2200" b="1" dirty="0">
                <a:solidFill>
                  <a:srgbClr val="B42318"/>
                </a:solidFill>
              </a:rPr>
              <a:t>4</a:t>
            </a:r>
            <a:endParaRPr lang="en-US" sz="2200" dirty="0"/>
          </a:p>
        </p:txBody>
      </p:sp>
      <p:sp>
        <p:nvSpPr>
          <p:cNvPr id="22" name="Text 20"/>
          <p:cNvSpPr/>
          <p:nvPr/>
        </p:nvSpPr>
        <p:spPr>
          <a:xfrm>
            <a:off x="6894576" y="3611880"/>
            <a:ext cx="4206240" cy="164592"/>
          </a:xfrm>
          <a:prstGeom prst="rect">
            <a:avLst/>
          </a:prstGeom>
          <a:noFill/>
        </p:spPr>
        <p:txBody>
          <a:bodyPr wrap="square" lIns="0" tIns="0" rIns="0" bIns="0" rtlCol="0" anchor="ctr">
            <a:normAutofit/>
          </a:bodyPr>
          <a:lstStyle/>
          <a:p>
            <a:pPr marL="0" indent="0">
              <a:buNone/>
            </a:pPr>
            <a:r>
              <a:rPr lang="en-US" sz="1220" b="1" dirty="0">
                <a:solidFill>
                  <a:srgbClr val="1C1C1C"/>
                </a:solidFill>
              </a:rPr>
              <a:t>Negative / weak fit</a:t>
            </a:r>
            <a:endParaRPr lang="en-US" sz="1220" dirty="0"/>
          </a:p>
        </p:txBody>
      </p:sp>
      <p:sp>
        <p:nvSpPr>
          <p:cNvPr id="23" name="Text 21"/>
          <p:cNvSpPr/>
          <p:nvPr/>
        </p:nvSpPr>
        <p:spPr>
          <a:xfrm>
            <a:off x="6894576" y="3886200"/>
            <a:ext cx="4206240" cy="347472"/>
          </a:xfrm>
          <a:prstGeom prst="rect">
            <a:avLst/>
          </a:prstGeom>
          <a:noFill/>
        </p:spPr>
        <p:txBody>
          <a:bodyPr wrap="square" lIns="0" tIns="0" rIns="0" bIns="0" rtlCol="0" anchor="ctr">
            <a:normAutofit/>
          </a:bodyPr>
          <a:lstStyle/>
          <a:p>
            <a:pPr marL="0" indent="0">
              <a:buNone/>
            </a:pPr>
            <a:r>
              <a:rPr lang="en-US" sz="1120" dirty="0">
                <a:solidFill>
                  <a:srgbClr val="000000"/>
                </a:solidFill>
              </a:rPr>
              <a:t>The paper does not clearly serve </a:t>
            </a:r>
            <a:r>
              <a:rPr lang="en-US" sz="1120" b="1" dirty="0">
                <a:solidFill>
                  <a:srgbClr val="000000"/>
                </a:solidFill>
              </a:rPr>
              <a:t>Track A</a:t>
            </a:r>
            <a:r>
              <a:rPr lang="en-US" sz="1120" dirty="0">
                <a:solidFill>
                  <a:srgbClr val="000000"/>
                </a:solidFill>
              </a:rPr>
              <a:t> or </a:t>
            </a:r>
            <a:r>
              <a:rPr lang="en-US" sz="1120" b="1" dirty="0">
                <a:solidFill>
                  <a:srgbClr val="000000"/>
                </a:solidFill>
              </a:rPr>
              <a:t>Track B</a:t>
            </a:r>
            <a:r>
              <a:rPr lang="en-US" sz="1120" dirty="0">
                <a:solidFill>
                  <a:srgbClr val="000000"/>
                </a:solidFill>
              </a:rPr>
              <a:t>, even if religion is mentioned.</a:t>
            </a:r>
            <a:endParaRPr lang="en-US" sz="1120" dirty="0"/>
          </a:p>
        </p:txBody>
      </p:sp>
      <p:sp>
        <p:nvSpPr>
          <p:cNvPr id="24" name="Shape 22"/>
          <p:cNvSpPr/>
          <p:nvPr/>
        </p:nvSpPr>
        <p:spPr>
          <a:xfrm>
            <a:off x="640080" y="6153912"/>
            <a:ext cx="10835640" cy="256032"/>
          </a:xfrm>
          <a:prstGeom prst="rect">
            <a:avLst/>
          </a:prstGeom>
          <a:solidFill>
            <a:srgbClr val="111111"/>
          </a:solidFill>
          <a:ln w="12700">
            <a:solidFill>
              <a:srgbClr val="111111"/>
            </a:solidFill>
            <a:prstDash val="solid"/>
          </a:ln>
        </p:spPr>
        <p:txBody>
          <a:bodyPr/>
          <a:p/>
        </p:txBody>
      </p:sp>
      <p:sp>
        <p:nvSpPr>
          <p:cNvPr id="25" name="Text 23"/>
          <p:cNvSpPr/>
          <p:nvPr/>
        </p:nvSpPr>
        <p:spPr>
          <a:xfrm>
            <a:off x="822960" y="6217920"/>
            <a:ext cx="10469880" cy="91440"/>
          </a:xfrm>
          <a:prstGeom prst="rect">
            <a:avLst/>
          </a:prstGeom>
          <a:noFill/>
        </p:spPr>
        <p:txBody>
          <a:bodyPr wrap="square" lIns="0" tIns="0" rIns="0" bIns="0" rtlCol="0" anchor="ctr">
            <a:normAutofit/>
          </a:bodyPr>
          <a:lstStyle/>
          <a:p>
            <a:pPr marL="0" indent="0" algn="ctr">
              <a:buNone/>
            </a:pPr>
            <a:r>
              <a:rPr lang="en-US" sz="1050" b="1" dirty="0">
                <a:solidFill>
                  <a:srgbClr val="FFFFFF"/>
                </a:solidFill>
              </a:rPr>
              <a:t>Key implication: a </a:t>
            </a:r>
            <a:r>
              <a:rPr lang="en-US" sz="1050" b="1" dirty="0">
                <a:solidFill>
                  <a:srgbClr val="FFFFFF"/>
                </a:solidFill>
              </a:rPr>
              <a:t>single composite ranking</a:t>
            </a:r>
            <a:r>
              <a:rPr lang="en-US" sz="1050" b="1" dirty="0">
                <a:solidFill>
                  <a:srgbClr val="FFFFFF"/>
                </a:solidFill>
              </a:rPr>
              <a:t> hides the construct difference.</a:t>
            </a:r>
            <a:endParaRPr lang="en-US" sz="1050" dirty="0"/>
          </a:p>
        </p:txBody>
      </p:sp>
      <p:sp>
        <p:nvSpPr>
          <p:cNvPr id="27" name="Text Box 26"/>
          <p:cNvSpPr txBox="1"/>
          <p:nvPr/>
        </p:nvSpPr>
        <p:spPr>
          <a:xfrm>
            <a:off x="9207500" y="2040255"/>
            <a:ext cx="384175" cy="398780"/>
          </a:xfrm>
          <a:prstGeom prst="rect">
            <a:avLst/>
          </a:prstGeom>
        </p:spPr>
        <p:txBody>
          <a:bodyPr wrap="square">
            <a:spAutoFit/>
          </a:bodyPr>
          <a:p>
            <a:pPr marL="0" indent="0"/>
            <a:r>
              <a:rPr lang="en-US" altLang="en-US" sz="2000" b="0" i="0">
                <a:solidFill>
                  <a:srgbClr val="474747"/>
                </a:solidFill>
                <a:latin typeface="Roboto"/>
                <a:ea typeface="Roboto"/>
              </a:rPr>
              <a:t>✔</a:t>
            </a:r>
            <a:endParaRPr lang="en-US" altLang="en-US" sz="2000" b="0" i="0">
              <a:solidFill>
                <a:srgbClr val="474747"/>
              </a:solidFill>
              <a:latin typeface="Roboto"/>
              <a:ea typeface="Roboto"/>
            </a:endParaRPr>
          </a:p>
        </p:txBody>
      </p:sp>
      <p:sp>
        <p:nvSpPr>
          <p:cNvPr id="28" name="Text Box 27"/>
          <p:cNvSpPr txBox="1"/>
          <p:nvPr/>
        </p:nvSpPr>
        <p:spPr>
          <a:xfrm>
            <a:off x="3385185" y="2039938"/>
            <a:ext cx="5080000" cy="398780"/>
          </a:xfrm>
          <a:prstGeom prst="rect">
            <a:avLst/>
          </a:prstGeom>
        </p:spPr>
        <p:txBody>
          <a:bodyPr>
            <a:spAutoFit/>
          </a:bodyPr>
          <a:p>
            <a:pPr marL="0" indent="0"/>
            <a:r>
              <a:rPr lang="en-US" altLang="zh-CN" sz="2000" b="0" i="0">
                <a:solidFill>
                  <a:srgbClr val="474747"/>
                </a:solidFill>
                <a:latin typeface="Roboto"/>
                <a:ea typeface="Roboto"/>
              </a:rPr>
              <a:t>✔</a:t>
            </a:r>
            <a:endParaRPr lang="en-US" altLang="zh-CN" sz="2000" b="0" i="0">
              <a:solidFill>
                <a:srgbClr val="474747"/>
              </a:solidFill>
              <a:latin typeface="Roboto"/>
              <a:ea typeface="Roboto"/>
            </a:endParaRPr>
          </a:p>
        </p:txBody>
      </p:sp>
      <p:sp>
        <p:nvSpPr>
          <p:cNvPr id="29" name="Text Box 28"/>
          <p:cNvSpPr txBox="1"/>
          <p:nvPr/>
        </p:nvSpPr>
        <p:spPr>
          <a:xfrm>
            <a:off x="5224145" y="3430905"/>
            <a:ext cx="6096000" cy="368300"/>
          </a:xfrm>
          <a:prstGeom prst="rect">
            <a:avLst/>
          </a:prstGeom>
          <a:noFill/>
        </p:spPr>
        <p:txBody>
          <a:bodyPr wrap="square" rtlCol="0" anchor="t">
            <a:spAutoFit/>
          </a:bodyPr>
          <a:p>
            <a:r>
              <a:rPr lang="en-US" altLang="en-US"/>
              <a:t> ✖</a:t>
            </a:r>
            <a:r>
              <a:rPr lang="zh-CN" altLang="en-US" b="1" dirty="0">
                <a:sym typeface="+mn-ea"/>
              </a:rPr>
              <a:t>❓</a:t>
            </a:r>
            <a:endParaRPr lang="en-US"/>
          </a:p>
        </p:txBody>
      </p:sp>
      <p:sp>
        <p:nvSpPr>
          <p:cNvPr id="30" name="Text Box 29"/>
          <p:cNvSpPr txBox="1"/>
          <p:nvPr/>
        </p:nvSpPr>
        <p:spPr>
          <a:xfrm>
            <a:off x="8359775" y="3529330"/>
            <a:ext cx="694690" cy="368300"/>
          </a:xfrm>
          <a:prstGeom prst="rect">
            <a:avLst/>
          </a:prstGeom>
          <a:noFill/>
        </p:spPr>
        <p:txBody>
          <a:bodyPr wrap="square" rtlCol="0" anchor="t">
            <a:spAutoFit/>
          </a:bodyPr>
          <a:p>
            <a:r>
              <a:rPr lang="en-US" altLang="en-US"/>
              <a:t> ✖</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192"/>
            <a:ext cx="2057400" cy="109728"/>
          </a:xfrm>
          <a:prstGeom prst="rect">
            <a:avLst/>
          </a:prstGeom>
          <a:noFill/>
        </p:spPr>
        <p:txBody>
          <a:bodyPr wrap="square" lIns="0" tIns="0" rIns="0" bIns="0" rtlCol="0" anchor="ctr">
            <a:normAutofit fontScale="70000"/>
          </a:bodyPr>
          <a:lstStyle/>
          <a:p>
            <a:pPr marL="0" indent="0">
              <a:buNone/>
            </a:pPr>
            <a:r>
              <a:rPr lang="en-US" sz="1050" b="1" dirty="0">
                <a:solidFill>
                  <a:srgbClr val="FFFFFF"/>
                </a:solidFill>
              </a:rPr>
              <a:t>RECOMMENDATION</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sz="2800" b="1">
                <a:solidFill>
                  <a:srgbClr val="1C1C1C"/>
                </a:solidFill>
                <a:latin typeface="Aptos Display"/>
              </a:rPr>
              <a:t>Run-now candidates: integrated priority set</a:t>
            </a:r>
            <a:endParaRPr lang="en-US" sz="2800" dirty="0"/>
          </a:p>
        </p:txBody>
      </p:sp>
      <p:sp>
        <p:nvSpPr>
          <p:cNvPr id="5" name="Text 3"/>
          <p:cNvSpPr/>
          <p:nvPr/>
        </p:nvSpPr>
        <p:spPr>
          <a:xfrm>
            <a:off x="530352" y="1298448"/>
            <a:ext cx="10789920" cy="256032"/>
          </a:xfrm>
          <a:prstGeom prst="rect">
            <a:avLst/>
          </a:prstGeom>
          <a:noFill/>
        </p:spPr>
        <p:txBody>
          <a:bodyPr wrap="square" lIns="0" tIns="0" rIns="0" bIns="0" rtlCol="0" anchor="ctr">
            <a:normAutofit fontScale="90000"/>
          </a:bodyPr>
          <a:lstStyle/>
          <a:p>
            <a:r>
              <a:t>Jenny #25–47, with Andrew Track B additions marked in red.</a:t>
            </a:r>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03</a:t>
            </a:r>
            <a:endParaRPr lang="en-US" sz="1050" dirty="0"/>
          </a:p>
        </p:txBody>
      </p:sp>
      <p:sp>
        <p:nvSpPr>
          <p:cNvPr id="8" name="Shape 6"/>
          <p:cNvSpPr/>
          <p:nvPr/>
        </p:nvSpPr>
        <p:spPr>
          <a:xfrm>
            <a:off x="713232" y="1874520"/>
            <a:ext cx="1600200" cy="420624"/>
          </a:xfrm>
          <a:prstGeom prst="rect">
            <a:avLst/>
          </a:prstGeom>
          <a:solidFill>
            <a:srgbClr val="111111"/>
          </a:solidFill>
          <a:ln w="6985">
            <a:solidFill>
              <a:srgbClr val="D6DAE0"/>
            </a:solidFill>
            <a:prstDash val="solid"/>
          </a:ln>
        </p:spPr>
        <p:txBody>
          <a:bodyPr/>
          <a:p/>
        </p:txBody>
      </p:sp>
      <p:sp>
        <p:nvSpPr>
          <p:cNvPr id="9" name="Text 7"/>
          <p:cNvSpPr/>
          <p:nvPr/>
        </p:nvSpPr>
        <p:spPr>
          <a:xfrm>
            <a:off x="768096" y="1924812"/>
            <a:ext cx="1490472" cy="347472"/>
          </a:xfrm>
          <a:prstGeom prst="rect">
            <a:avLst/>
          </a:prstGeom>
          <a:noFill/>
        </p:spPr>
        <p:txBody>
          <a:bodyPr wrap="square" lIns="0" tIns="0" rIns="0" bIns="0" rtlCol="0" anchor="ctr">
            <a:normAutofit/>
          </a:bodyPr>
          <a:lstStyle/>
          <a:p>
            <a:pPr marL="0" indent="0">
              <a:buNone/>
            </a:pPr>
            <a:r>
              <a:rPr lang="en-US" sz="1050" b="1" dirty="0">
                <a:solidFill>
                  <a:srgbClr val="FFFFFF"/>
                </a:solidFill>
              </a:rPr>
              <a:t>Track</a:t>
            </a:r>
            <a:endParaRPr lang="en-US" sz="1050" dirty="0"/>
          </a:p>
        </p:txBody>
      </p:sp>
      <p:sp>
        <p:nvSpPr>
          <p:cNvPr id="10" name="Shape 8"/>
          <p:cNvSpPr/>
          <p:nvPr/>
        </p:nvSpPr>
        <p:spPr>
          <a:xfrm>
            <a:off x="2313432" y="1874520"/>
            <a:ext cx="2743200" cy="420624"/>
          </a:xfrm>
          <a:prstGeom prst="rect">
            <a:avLst/>
          </a:prstGeom>
          <a:solidFill>
            <a:srgbClr val="111111"/>
          </a:solidFill>
          <a:ln w="6985">
            <a:solidFill>
              <a:srgbClr val="D6DAE0"/>
            </a:solidFill>
            <a:prstDash val="solid"/>
          </a:ln>
        </p:spPr>
        <p:txBody>
          <a:bodyPr/>
          <a:p/>
        </p:txBody>
      </p:sp>
      <p:sp>
        <p:nvSpPr>
          <p:cNvPr id="11" name="Text 9"/>
          <p:cNvSpPr/>
          <p:nvPr/>
        </p:nvSpPr>
        <p:spPr>
          <a:xfrm>
            <a:off x="2368296" y="1924812"/>
            <a:ext cx="2633472" cy="347472"/>
          </a:xfrm>
          <a:prstGeom prst="rect">
            <a:avLst/>
          </a:prstGeom>
          <a:noFill/>
        </p:spPr>
        <p:txBody>
          <a:bodyPr wrap="square" lIns="0" tIns="0" rIns="0" bIns="0" rtlCol="0" anchor="ctr">
            <a:normAutofit/>
          </a:bodyPr>
          <a:lstStyle/>
          <a:p>
            <a:pPr marL="0" indent="0">
              <a:buNone/>
            </a:pPr>
            <a:r>
              <a:rPr lang="en-US" sz="1050" b="1" dirty="0">
                <a:solidFill>
                  <a:srgbClr val="FFFFFF"/>
                </a:solidFill>
              </a:rPr>
              <a:t>Must-run</a:t>
            </a:r>
            <a:r>
              <a:rPr lang="en-US" sz="1050" b="1" dirty="0">
                <a:solidFill>
                  <a:srgbClr val="FFFFFF"/>
                </a:solidFill>
              </a:rPr>
              <a:t> / near-run candidates</a:t>
            </a:r>
            <a:endParaRPr lang="en-US" sz="1050" dirty="0"/>
          </a:p>
        </p:txBody>
      </p:sp>
      <p:sp>
        <p:nvSpPr>
          <p:cNvPr id="12" name="Shape 10"/>
          <p:cNvSpPr/>
          <p:nvPr/>
        </p:nvSpPr>
        <p:spPr>
          <a:xfrm>
            <a:off x="5056632" y="1874520"/>
            <a:ext cx="4023360" cy="420624"/>
          </a:xfrm>
          <a:prstGeom prst="rect">
            <a:avLst/>
          </a:prstGeom>
          <a:solidFill>
            <a:srgbClr val="111111"/>
          </a:solidFill>
          <a:ln w="6985">
            <a:solidFill>
              <a:srgbClr val="D6DAE0"/>
            </a:solidFill>
            <a:prstDash val="solid"/>
          </a:ln>
        </p:spPr>
        <p:txBody>
          <a:bodyPr/>
          <a:p/>
        </p:txBody>
      </p:sp>
      <p:sp>
        <p:nvSpPr>
          <p:cNvPr id="13" name="Text 11"/>
          <p:cNvSpPr/>
          <p:nvPr/>
        </p:nvSpPr>
        <p:spPr>
          <a:xfrm>
            <a:off x="5111496" y="1924812"/>
            <a:ext cx="3913632" cy="347472"/>
          </a:xfrm>
          <a:prstGeom prst="rect">
            <a:avLst/>
          </a:prstGeom>
          <a:noFill/>
        </p:spPr>
        <p:txBody>
          <a:bodyPr wrap="square" lIns="0" tIns="0" rIns="0" bIns="0" rtlCol="0" anchor="ctr">
            <a:normAutofit/>
          </a:bodyPr>
          <a:lstStyle/>
          <a:p>
            <a:pPr marL="0" indent="0">
              <a:buNone/>
            </a:pPr>
            <a:r>
              <a:rPr lang="en-US" sz="1050" b="1" dirty="0">
                <a:solidFill>
                  <a:srgbClr val="FFFFFF"/>
                </a:solidFill>
              </a:rPr>
              <a:t>Why this set matters</a:t>
            </a:r>
            <a:endParaRPr lang="en-US" sz="1050" dirty="0"/>
          </a:p>
        </p:txBody>
      </p:sp>
      <p:sp>
        <p:nvSpPr>
          <p:cNvPr id="14" name="Shape 12"/>
          <p:cNvSpPr/>
          <p:nvPr/>
        </p:nvSpPr>
        <p:spPr>
          <a:xfrm>
            <a:off x="9079992" y="1874520"/>
            <a:ext cx="2423160" cy="420624"/>
          </a:xfrm>
          <a:prstGeom prst="rect">
            <a:avLst/>
          </a:prstGeom>
          <a:solidFill>
            <a:srgbClr val="111111"/>
          </a:solidFill>
          <a:ln w="6985">
            <a:solidFill>
              <a:srgbClr val="D6DAE0"/>
            </a:solidFill>
            <a:prstDash val="solid"/>
          </a:ln>
        </p:spPr>
        <p:txBody>
          <a:bodyPr/>
          <a:p/>
        </p:txBody>
      </p:sp>
      <p:sp>
        <p:nvSpPr>
          <p:cNvPr id="15" name="Text 13"/>
          <p:cNvSpPr/>
          <p:nvPr/>
        </p:nvSpPr>
        <p:spPr>
          <a:xfrm>
            <a:off x="9134856" y="1924812"/>
            <a:ext cx="2313432" cy="347472"/>
          </a:xfrm>
          <a:prstGeom prst="rect">
            <a:avLst/>
          </a:prstGeom>
          <a:noFill/>
        </p:spPr>
        <p:txBody>
          <a:bodyPr wrap="square" lIns="0" tIns="0" rIns="0" bIns="0" rtlCol="0" anchor="ctr">
            <a:normAutofit/>
          </a:bodyPr>
          <a:lstStyle/>
          <a:p>
            <a:pPr marL="0" indent="0">
              <a:buNone/>
            </a:pPr>
            <a:r>
              <a:rPr lang="en-US" sz="1050" b="1" dirty="0">
                <a:solidFill>
                  <a:srgbClr val="FFFFFF"/>
                </a:solidFill>
              </a:rPr>
              <a:t>Primary readout</a:t>
            </a:r>
            <a:endParaRPr lang="en-US" sz="1050" dirty="0"/>
          </a:p>
        </p:txBody>
      </p:sp>
      <p:sp>
        <p:nvSpPr>
          <p:cNvPr id="16" name="Shape 14"/>
          <p:cNvSpPr/>
          <p:nvPr/>
        </p:nvSpPr>
        <p:spPr>
          <a:xfrm>
            <a:off x="713232" y="2295144"/>
            <a:ext cx="1600200" cy="1092708"/>
          </a:xfrm>
          <a:prstGeom prst="rect">
            <a:avLst/>
          </a:prstGeom>
          <a:solidFill>
            <a:srgbClr val="F5F6F8"/>
          </a:solidFill>
          <a:ln w="6985">
            <a:solidFill>
              <a:srgbClr val="D6DAE0"/>
            </a:solidFill>
            <a:prstDash val="solid"/>
          </a:ln>
        </p:spPr>
        <p:txBody>
          <a:bodyPr/>
          <a:p/>
        </p:txBody>
      </p:sp>
      <p:sp>
        <p:nvSpPr>
          <p:cNvPr id="17" name="Text 15"/>
          <p:cNvSpPr/>
          <p:nvPr/>
        </p:nvSpPr>
        <p:spPr>
          <a:xfrm>
            <a:off x="768096" y="2345436"/>
            <a:ext cx="1490472" cy="1019556"/>
          </a:xfrm>
          <a:prstGeom prst="rect">
            <a:avLst/>
          </a:prstGeom>
          <a:noFill/>
        </p:spPr>
        <p:txBody>
          <a:bodyPr wrap="square" lIns="0" tIns="0" rIns="0" bIns="0" rtlCol="0" anchor="ctr">
            <a:normAutofit/>
          </a:bodyPr>
          <a:lstStyle/>
          <a:p>
            <a:pPr marL="0" indent="0">
              <a:buNone/>
            </a:pPr>
            <a:r>
              <a:rPr lang="en-US" sz="1050" b="1" dirty="0">
                <a:solidFill>
                  <a:srgbClr val="1C1C1C"/>
                </a:solidFill>
              </a:rPr>
              <a:t>Track A</a:t>
            </a:r>
            <a:endParaRPr lang="en-US" sz="1050" dirty="0"/>
          </a:p>
          <a:p>
            <a:pPr marL="0" indent="0">
              <a:buNone/>
            </a:pPr>
            <a:r>
              <a:rPr lang="en-US" sz="1050" b="1" dirty="0">
                <a:solidFill>
                  <a:srgbClr val="1C1C1C"/>
                </a:solidFill>
              </a:rPr>
              <a:t>Values / alignment</a:t>
            </a:r>
            <a:endParaRPr lang="en-US" sz="1050" dirty="0"/>
          </a:p>
        </p:txBody>
      </p:sp>
      <p:sp>
        <p:nvSpPr>
          <p:cNvPr id="18" name="Shape 16"/>
          <p:cNvSpPr/>
          <p:nvPr/>
        </p:nvSpPr>
        <p:spPr>
          <a:xfrm>
            <a:off x="2313432" y="2295144"/>
            <a:ext cx="2743200" cy="1092708"/>
          </a:xfrm>
          <a:prstGeom prst="rect">
            <a:avLst/>
          </a:prstGeom>
          <a:solidFill>
            <a:srgbClr val="F5F6F8"/>
          </a:solidFill>
          <a:ln w="6985">
            <a:solidFill>
              <a:srgbClr val="D6DAE0"/>
            </a:solidFill>
            <a:prstDash val="solid"/>
          </a:ln>
        </p:spPr>
        <p:txBody>
          <a:bodyPr/>
          <a:p/>
        </p:txBody>
      </p:sp>
      <p:sp>
        <p:nvSpPr>
          <p:cNvPr id="19" name="Text 17"/>
          <p:cNvSpPr/>
          <p:nvPr/>
        </p:nvSpPr>
        <p:spPr>
          <a:xfrm>
            <a:off x="2368296" y="2345436"/>
            <a:ext cx="2633472" cy="1019556"/>
          </a:xfrm>
          <a:prstGeom prst="rect">
            <a:avLst/>
          </a:prstGeom>
          <a:noFill/>
        </p:spPr>
        <p:txBody>
          <a:bodyPr wrap="square" lIns="0" tIns="0" rIns="0" bIns="0" rtlCol="0" anchor="ctr">
            <a:normAutofit/>
          </a:bodyPr>
          <a:lstStyle/>
          <a:p>
            <a:pPr marL="0" indent="0">
              <a:buNone/>
            </a:pPr>
            <a:r>
              <a:rPr lang="en-US" sz="1050" b="1" dirty="0">
                <a:solidFill>
                  <a:srgbClr val="1C1C1C"/>
                </a:solidFill>
              </a:rPr>
              <a:t>#35 IslamTrust</a:t>
            </a:r>
            <a:endParaRPr lang="en-US" sz="1050" dirty="0"/>
          </a:p>
          <a:p>
            <a:pPr marL="0" indent="0">
              <a:buNone/>
            </a:pPr>
            <a:r>
              <a:rPr lang="en-US" sz="1050" b="1" dirty="0">
                <a:solidFill>
                  <a:srgbClr val="1C1C1C"/>
                </a:solidFill>
              </a:rPr>
              <a:t>#47 CatholicBench</a:t>
            </a:r>
            <a:endParaRPr lang="en-US" sz="1050" dirty="0"/>
          </a:p>
          <a:p>
            <a:pPr marL="0" indent="0">
              <a:buNone/>
            </a:pPr>
            <a:r>
              <a:rPr lang="en-US" sz="1050" b="1" dirty="0">
                <a:solidFill>
                  <a:srgbClr val="1C1C1C"/>
                </a:solidFill>
              </a:rPr>
              <a:t>#26 BuddhismEval</a:t>
            </a:r>
            <a:endParaRPr lang="en-US" sz="1050" dirty="0"/>
          </a:p>
        </p:txBody>
      </p:sp>
      <p:sp>
        <p:nvSpPr>
          <p:cNvPr id="20" name="Shape 18"/>
          <p:cNvSpPr/>
          <p:nvPr/>
        </p:nvSpPr>
        <p:spPr>
          <a:xfrm>
            <a:off x="5056632" y="2295144"/>
            <a:ext cx="4023360" cy="1092708"/>
          </a:xfrm>
          <a:prstGeom prst="rect">
            <a:avLst/>
          </a:prstGeom>
          <a:solidFill>
            <a:srgbClr val="F5F6F8"/>
          </a:solidFill>
          <a:ln w="6985">
            <a:solidFill>
              <a:srgbClr val="D6DAE0"/>
            </a:solidFill>
            <a:prstDash val="solid"/>
          </a:ln>
        </p:spPr>
        <p:txBody>
          <a:bodyPr/>
          <a:p/>
        </p:txBody>
      </p:sp>
      <p:sp>
        <p:nvSpPr>
          <p:cNvPr id="21" name="Text 19"/>
          <p:cNvSpPr/>
          <p:nvPr/>
        </p:nvSpPr>
        <p:spPr>
          <a:xfrm>
            <a:off x="5111496" y="2345436"/>
            <a:ext cx="3913632" cy="1019556"/>
          </a:xfrm>
          <a:prstGeom prst="rect">
            <a:avLst/>
          </a:prstGeom>
          <a:noFill/>
        </p:spPr>
        <p:txBody>
          <a:bodyPr wrap="square" lIns="0" tIns="0" rIns="0" bIns="0" rtlCol="0" anchor="ctr">
            <a:normAutofit/>
          </a:bodyPr>
          <a:lstStyle/>
          <a:p>
            <a:pPr marL="0" indent="0">
              <a:buNone/>
            </a:pPr>
            <a:r>
              <a:rPr lang="en-US" sz="1050" dirty="0">
                <a:solidFill>
                  <a:srgbClr val="1C1C1C"/>
                </a:solidFill>
              </a:rPr>
              <a:t>These test whether models reason from within Islamic, Catholic, and Buddhist value systems, not just recall facts.</a:t>
            </a:r>
            <a:endParaRPr lang="en-US" sz="1050" dirty="0"/>
          </a:p>
        </p:txBody>
      </p:sp>
      <p:sp>
        <p:nvSpPr>
          <p:cNvPr id="22" name="Shape 20"/>
          <p:cNvSpPr/>
          <p:nvPr/>
        </p:nvSpPr>
        <p:spPr>
          <a:xfrm>
            <a:off x="9079992" y="2295144"/>
            <a:ext cx="2423160" cy="1092708"/>
          </a:xfrm>
          <a:prstGeom prst="rect">
            <a:avLst/>
          </a:prstGeom>
          <a:solidFill>
            <a:srgbClr val="F5F6F8"/>
          </a:solidFill>
          <a:ln w="6985">
            <a:solidFill>
              <a:srgbClr val="D6DAE0"/>
            </a:solidFill>
            <a:prstDash val="solid"/>
          </a:ln>
        </p:spPr>
        <p:txBody>
          <a:bodyPr/>
          <a:p/>
        </p:txBody>
      </p:sp>
      <p:sp>
        <p:nvSpPr>
          <p:cNvPr id="23" name="Text 21"/>
          <p:cNvSpPr/>
          <p:nvPr/>
        </p:nvSpPr>
        <p:spPr>
          <a:xfrm>
            <a:off x="9134856" y="2345436"/>
            <a:ext cx="2313432" cy="1019556"/>
          </a:xfrm>
          <a:prstGeom prst="rect">
            <a:avLst/>
          </a:prstGeom>
          <a:noFill/>
        </p:spPr>
        <p:txBody>
          <a:bodyPr wrap="square" lIns="0" tIns="0" rIns="0" bIns="0" rtlCol="0" anchor="ctr">
            <a:normAutofit/>
          </a:bodyPr>
          <a:lstStyle/>
          <a:p>
            <a:pPr marL="0" indent="0">
              <a:buNone/>
            </a:pPr>
            <a:r>
              <a:rPr lang="en-US" sz="1050" dirty="0">
                <a:solidFill>
                  <a:srgbClr val="1C1C1C"/>
                </a:solidFill>
              </a:rPr>
              <a:t>Tradition-specific reasoning, pastoral/ethical judgment, </a:t>
            </a:r>
            <a:r>
              <a:rPr lang="en-US" sz="1050" b="1" dirty="0">
                <a:solidFill>
                  <a:srgbClr val="1C1C1C"/>
                </a:solidFill>
              </a:rPr>
              <a:t>generic-secular fallback</a:t>
            </a:r>
            <a:r>
              <a:rPr lang="en-US" sz="1050" dirty="0">
                <a:solidFill>
                  <a:srgbClr val="1C1C1C"/>
                </a:solidFill>
              </a:rPr>
              <a:t> rate</a:t>
            </a:r>
            <a:endParaRPr lang="en-US" sz="1050" dirty="0"/>
          </a:p>
        </p:txBody>
      </p:sp>
      <p:sp>
        <p:nvSpPr>
          <p:cNvPr id="24" name="Shape 22"/>
          <p:cNvSpPr/>
          <p:nvPr/>
        </p:nvSpPr>
        <p:spPr>
          <a:xfrm>
            <a:off x="713232" y="3387852"/>
            <a:ext cx="1600200" cy="1092708"/>
          </a:xfrm>
          <a:prstGeom prst="rect">
            <a:avLst/>
          </a:prstGeom>
          <a:solidFill>
            <a:srgbClr val="FFFFFF"/>
          </a:solidFill>
          <a:ln w="6985">
            <a:solidFill>
              <a:srgbClr val="D6DAE0"/>
            </a:solidFill>
            <a:prstDash val="solid"/>
          </a:ln>
        </p:spPr>
        <p:txBody>
          <a:bodyPr/>
          <a:p/>
        </p:txBody>
      </p:sp>
      <p:sp>
        <p:nvSpPr>
          <p:cNvPr id="25" name="Text 23"/>
          <p:cNvSpPr/>
          <p:nvPr/>
        </p:nvSpPr>
        <p:spPr>
          <a:xfrm>
            <a:off x="768096" y="3438144"/>
            <a:ext cx="1490472" cy="1019556"/>
          </a:xfrm>
          <a:prstGeom prst="rect">
            <a:avLst/>
          </a:prstGeom>
          <a:noFill/>
        </p:spPr>
        <p:txBody>
          <a:bodyPr wrap="square" lIns="0" tIns="0" rIns="0" bIns="0" rtlCol="0" anchor="ctr">
            <a:normAutofit/>
          </a:bodyPr>
          <a:lstStyle/>
          <a:p>
            <a:pPr marL="0" indent="0">
              <a:buNone/>
            </a:pPr>
            <a:r>
              <a:rPr lang="en-US" sz="1050" b="1" dirty="0">
                <a:solidFill>
                  <a:srgbClr val="1C1C1C"/>
                </a:solidFill>
              </a:rPr>
              <a:t>Track B</a:t>
            </a:r>
            <a:endParaRPr lang="en-US" sz="1050" dirty="0"/>
          </a:p>
          <a:p>
            <a:pPr marL="0" indent="0">
              <a:buNone/>
            </a:pPr>
            <a:r>
              <a:rPr lang="en-US" sz="1050" b="1" dirty="0">
                <a:solidFill>
                  <a:srgbClr val="1C1C1C"/>
                </a:solidFill>
              </a:rPr>
              <a:t>Knowledge / doctrine</a:t>
            </a:r>
            <a:endParaRPr lang="en-US" sz="1050" dirty="0"/>
          </a:p>
        </p:txBody>
      </p:sp>
      <p:sp>
        <p:nvSpPr>
          <p:cNvPr id="26" name="Shape 24"/>
          <p:cNvSpPr/>
          <p:nvPr/>
        </p:nvSpPr>
        <p:spPr>
          <a:xfrm>
            <a:off x="2313432" y="3387852"/>
            <a:ext cx="2743200" cy="1092708"/>
          </a:xfrm>
          <a:prstGeom prst="rect">
            <a:avLst/>
          </a:prstGeom>
          <a:solidFill>
            <a:srgbClr val="FFFFFF"/>
          </a:solidFill>
          <a:ln w="6985">
            <a:solidFill>
              <a:srgbClr val="D6DAE0"/>
            </a:solidFill>
            <a:prstDash val="solid"/>
          </a:ln>
        </p:spPr>
        <p:txBody>
          <a:bodyPr/>
          <a:p/>
        </p:txBody>
      </p:sp>
      <p:sp>
        <p:nvSpPr>
          <p:cNvPr id="27" name="Text 25"/>
          <p:cNvSpPr/>
          <p:nvPr/>
        </p:nvSpPr>
        <p:spPr>
          <a:xfrm>
            <a:off x="2368296" y="3438144"/>
            <a:ext cx="2633472" cy="1019556"/>
          </a:xfrm>
          <a:prstGeom prst="rect">
            <a:avLst/>
          </a:prstGeom>
          <a:noFill/>
        </p:spPr>
        <p:txBody>
          <a:bodyPr wrap="square" lIns="0" tIns="0" rIns="0" bIns="0" rtlCol="0" anchor="ctr">
            <a:normAutofit/>
          </a:bodyPr>
          <a:lstStyle/>
          <a:p>
            <a:pPr marL="0" indent="0">
              <a:buNone/>
            </a:pPr>
            <a:r>
              <a:rPr sz="1050" b="1"/>
              <a:t>#42 QASiNa | #37 BibleQA | #44/#45 FatwaSet</a:t>
            </a:r>
            <a:endParaRPr lang="en-US" sz="1050" dirty="0"/>
          </a:p>
          <a:p>
            <a:r>
              <a:rPr sz="1050" b="1">
                <a:solidFill>
                  <a:srgbClr val="8B0000"/>
                </a:solidFill>
              </a:rPr>
              <a:t>TGC/FaithBench (Andrew) | HAQA/QUQA (Andrew)</a:t>
            </a:r>
            <a:endParaRPr sz="1050" b="1">
              <a:solidFill>
                <a:srgbClr val="8B0000"/>
              </a:solidFill>
            </a:endParaRPr>
          </a:p>
        </p:txBody>
      </p:sp>
      <p:sp>
        <p:nvSpPr>
          <p:cNvPr id="28" name="Shape 26"/>
          <p:cNvSpPr/>
          <p:nvPr/>
        </p:nvSpPr>
        <p:spPr>
          <a:xfrm>
            <a:off x="5056632" y="3387852"/>
            <a:ext cx="4023360" cy="1092708"/>
          </a:xfrm>
          <a:prstGeom prst="rect">
            <a:avLst/>
          </a:prstGeom>
          <a:solidFill>
            <a:srgbClr val="FFFFFF"/>
          </a:solidFill>
          <a:ln w="6985">
            <a:solidFill>
              <a:srgbClr val="D6DAE0"/>
            </a:solidFill>
            <a:prstDash val="solid"/>
          </a:ln>
        </p:spPr>
        <p:txBody>
          <a:bodyPr/>
          <a:p/>
        </p:txBody>
      </p:sp>
      <p:sp>
        <p:nvSpPr>
          <p:cNvPr id="29" name="Text 27"/>
          <p:cNvSpPr/>
          <p:nvPr/>
        </p:nvSpPr>
        <p:spPr>
          <a:xfrm>
            <a:off x="5111496" y="3438144"/>
            <a:ext cx="3913632" cy="1019556"/>
          </a:xfrm>
          <a:prstGeom prst="rect">
            <a:avLst/>
          </a:prstGeom>
          <a:noFill/>
        </p:spPr>
        <p:txBody>
          <a:bodyPr wrap="square" lIns="0" tIns="0" rIns="0" bIns="0" rtlCol="0" anchor="ctr">
            <a:normAutofit/>
          </a:bodyPr>
          <a:lstStyle/>
          <a:p>
            <a:pPr marL="0" indent="0">
              <a:buNone/>
            </a:pPr>
            <a:r>
              <a:rPr sz="1050">
                <a:solidFill>
                  <a:srgbClr val="1C1C1C"/>
                </a:solidFill>
              </a:rPr>
              <a:t>These cover source-grounded religious QA, Christian belief/exegesis, Quran/Hadith factual QA, and applied fatwa knowledge.</a:t>
            </a:r>
            <a:endParaRPr lang="en-US" sz="1050" dirty="0"/>
          </a:p>
        </p:txBody>
      </p:sp>
      <p:sp>
        <p:nvSpPr>
          <p:cNvPr id="30" name="Shape 28"/>
          <p:cNvSpPr/>
          <p:nvPr/>
        </p:nvSpPr>
        <p:spPr>
          <a:xfrm>
            <a:off x="9079992" y="3387852"/>
            <a:ext cx="2423160" cy="1092708"/>
          </a:xfrm>
          <a:prstGeom prst="rect">
            <a:avLst/>
          </a:prstGeom>
          <a:solidFill>
            <a:srgbClr val="FFFFFF"/>
          </a:solidFill>
          <a:ln w="6985">
            <a:solidFill>
              <a:srgbClr val="D6DAE0"/>
            </a:solidFill>
            <a:prstDash val="solid"/>
          </a:ln>
        </p:spPr>
        <p:txBody>
          <a:bodyPr/>
          <a:p/>
        </p:txBody>
      </p:sp>
      <p:sp>
        <p:nvSpPr>
          <p:cNvPr id="31" name="Text 29"/>
          <p:cNvSpPr/>
          <p:nvPr/>
        </p:nvSpPr>
        <p:spPr>
          <a:xfrm>
            <a:off x="9134856" y="3438144"/>
            <a:ext cx="2313432" cy="1019556"/>
          </a:xfrm>
          <a:prstGeom prst="rect">
            <a:avLst/>
          </a:prstGeom>
          <a:noFill/>
        </p:spPr>
        <p:txBody>
          <a:bodyPr wrap="square" lIns="0" tIns="0" rIns="0" bIns="0" rtlCol="0" anchor="ctr">
            <a:normAutofit/>
          </a:bodyPr>
          <a:lstStyle/>
          <a:p>
            <a:pPr marL="0" indent="0">
              <a:buNone/>
            </a:pPr>
            <a:r>
              <a:rPr sz="1050">
                <a:solidFill>
                  <a:srgbClr val="1C1C1C"/>
                </a:solidFill>
              </a:rPr>
              <a:t>Exact/F1, source faithfulness, over-interpretation, ruling/category accuracy, saturation check</a:t>
            </a:r>
            <a:endParaRPr lang="en-US" sz="1050" dirty="0"/>
          </a:p>
        </p:txBody>
      </p:sp>
      <p:sp>
        <p:nvSpPr>
          <p:cNvPr id="32" name="Shape 30"/>
          <p:cNvSpPr/>
          <p:nvPr/>
        </p:nvSpPr>
        <p:spPr>
          <a:xfrm>
            <a:off x="713232" y="4892040"/>
            <a:ext cx="10789920" cy="804672"/>
          </a:xfrm>
          <a:prstGeom prst="rect">
            <a:avLst/>
          </a:prstGeom>
          <a:solidFill>
            <a:srgbClr val="FFF2CC"/>
          </a:solidFill>
          <a:ln w="8890">
            <a:solidFill>
              <a:srgbClr val="B7791F"/>
            </a:solidFill>
            <a:prstDash val="solid"/>
          </a:ln>
        </p:spPr>
        <p:txBody>
          <a:bodyPr/>
          <a:p/>
        </p:txBody>
      </p:sp>
      <p:sp>
        <p:nvSpPr>
          <p:cNvPr id="33" name="Text 31"/>
          <p:cNvSpPr/>
          <p:nvPr/>
        </p:nvSpPr>
        <p:spPr>
          <a:xfrm>
            <a:off x="932688" y="5102352"/>
            <a:ext cx="1508760" cy="164592"/>
          </a:xfrm>
          <a:prstGeom prst="rect">
            <a:avLst/>
          </a:prstGeom>
          <a:noFill/>
        </p:spPr>
        <p:txBody>
          <a:bodyPr wrap="square" lIns="0" tIns="0" rIns="0" bIns="0" rtlCol="0" anchor="ctr"/>
          <a:lstStyle/>
          <a:p>
            <a:pPr marL="0" indent="0">
              <a:buNone/>
            </a:pPr>
            <a:r>
              <a:rPr lang="en-US" sz="1120" b="1" dirty="0">
                <a:solidFill>
                  <a:srgbClr val="B7791F"/>
                </a:solidFill>
              </a:rPr>
              <a:t>Recommendation</a:t>
            </a:r>
            <a:endParaRPr lang="en-US" sz="1120" dirty="0"/>
          </a:p>
        </p:txBody>
      </p:sp>
      <p:sp>
        <p:nvSpPr>
          <p:cNvPr id="35" name="Text 32"/>
          <p:cNvSpPr/>
          <p:nvPr/>
        </p:nvSpPr>
        <p:spPr>
          <a:xfrm>
            <a:off x="2824480" y="5156200"/>
            <a:ext cx="8412480" cy="256032"/>
          </a:xfrm>
          <a:prstGeom prst="rect">
            <a:avLst/>
          </a:prstGeom>
          <a:noFill/>
        </p:spPr>
        <p:txBody>
          <a:bodyPr wrap="square" lIns="0" tIns="0" rIns="0" bIns="0" rtlCol="0" anchor="ctr"/>
          <a:lstStyle/>
          <a:p>
            <a:pPr marL="0" indent="0">
              <a:buNone/>
            </a:pPr>
            <a:r>
              <a:rPr lang="en-US" sz="1400" b="1" dirty="0">
                <a:solidFill>
                  <a:srgbClr val="1C1C1C"/>
                </a:solidFill>
              </a:rPr>
              <a:t>Start with a small, interpretable run set. Then build missing-tradition benchmarks deliberately, rather than treating every religious-domain dataset as ready for alignment evaluation.</a:t>
            </a:r>
            <a:endParaRPr lang="en-US" sz="1400" b="1" dirty="0">
              <a:solidFill>
                <a:srgbClr val="1C1C1C"/>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192"/>
            <a:ext cx="2057400" cy="109728"/>
          </a:xfrm>
          <a:prstGeom prst="rect">
            <a:avLst/>
          </a:prstGeom>
          <a:noFill/>
        </p:spPr>
        <p:txBody>
          <a:bodyPr wrap="square" lIns="0" tIns="0" rIns="0" bIns="0" rtlCol="0" anchor="ctr">
            <a:normAutofit fontScale="70000"/>
          </a:bodyPr>
          <a:lstStyle/>
          <a:p>
            <a:pPr marL="0" indent="0">
              <a:buNone/>
            </a:pPr>
            <a:r>
              <a:rPr lang="en-US" sz="1050" b="1" dirty="0">
                <a:solidFill>
                  <a:srgbClr val="FFFFFF"/>
                </a:solidFill>
              </a:rPr>
              <a:t>MAP</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r>
              <a:rPr lang="en-US"/>
              <a:t>Andrew#1-24 , Jenny #25-47</a:t>
            </a:r>
            <a:endParaRPr lang="en-US"/>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05</a:t>
            </a:r>
            <a:endParaRPr lang="en-US" sz="1050" dirty="0"/>
          </a:p>
        </p:txBody>
      </p:sp>
      <p:sp>
        <p:nvSpPr>
          <p:cNvPr id="8" name="Shape 6"/>
          <p:cNvSpPr/>
          <p:nvPr/>
        </p:nvSpPr>
        <p:spPr>
          <a:xfrm>
            <a:off x="585216" y="1828800"/>
            <a:ext cx="1965960" cy="384048"/>
          </a:xfrm>
          <a:prstGeom prst="rect">
            <a:avLst/>
          </a:prstGeom>
          <a:solidFill>
            <a:srgbClr val="111111"/>
          </a:solidFill>
          <a:ln w="6985">
            <a:solidFill>
              <a:srgbClr val="D6DAE0"/>
            </a:solidFill>
            <a:prstDash val="solid"/>
          </a:ln>
        </p:spPr>
        <p:txBody>
          <a:bodyPr/>
          <a:p/>
        </p:txBody>
      </p:sp>
      <p:sp>
        <p:nvSpPr>
          <p:cNvPr id="9" name="Text 7"/>
          <p:cNvSpPr/>
          <p:nvPr/>
        </p:nvSpPr>
        <p:spPr>
          <a:xfrm>
            <a:off x="640080" y="1879092"/>
            <a:ext cx="1856232" cy="310896"/>
          </a:xfrm>
          <a:prstGeom prst="rect">
            <a:avLst/>
          </a:prstGeom>
          <a:noFill/>
        </p:spPr>
        <p:txBody>
          <a:bodyPr wrap="square" lIns="0" tIns="0" rIns="0" bIns="0" rtlCol="0" anchor="ctr">
            <a:normAutofit/>
          </a:bodyPr>
          <a:lstStyle/>
          <a:p>
            <a:pPr marL="0" indent="0">
              <a:buNone/>
            </a:pPr>
            <a:r>
              <a:rPr lang="en-US" sz="1050" b="1" dirty="0">
                <a:solidFill>
                  <a:srgbClr val="FFFFFF"/>
                </a:solidFill>
              </a:rPr>
              <a:t>Bucket</a:t>
            </a:r>
            <a:endParaRPr lang="en-US" sz="1050" dirty="0"/>
          </a:p>
        </p:txBody>
      </p:sp>
      <p:sp>
        <p:nvSpPr>
          <p:cNvPr id="10" name="Shape 8"/>
          <p:cNvSpPr/>
          <p:nvPr/>
        </p:nvSpPr>
        <p:spPr>
          <a:xfrm>
            <a:off x="2551176" y="1828800"/>
            <a:ext cx="5715000" cy="384048"/>
          </a:xfrm>
          <a:prstGeom prst="rect">
            <a:avLst/>
          </a:prstGeom>
          <a:solidFill>
            <a:srgbClr val="111111"/>
          </a:solidFill>
          <a:ln w="6985">
            <a:solidFill>
              <a:srgbClr val="D6DAE0"/>
            </a:solidFill>
            <a:prstDash val="solid"/>
          </a:ln>
        </p:spPr>
        <p:txBody>
          <a:bodyPr/>
          <a:p/>
        </p:txBody>
      </p:sp>
      <p:sp>
        <p:nvSpPr>
          <p:cNvPr id="11" name="Text 9"/>
          <p:cNvSpPr/>
          <p:nvPr/>
        </p:nvSpPr>
        <p:spPr>
          <a:xfrm>
            <a:off x="2606040" y="1879092"/>
            <a:ext cx="5605272" cy="310896"/>
          </a:xfrm>
          <a:prstGeom prst="rect">
            <a:avLst/>
          </a:prstGeom>
          <a:noFill/>
        </p:spPr>
        <p:txBody>
          <a:bodyPr wrap="square" lIns="0" tIns="0" rIns="0" bIns="0" rtlCol="0" anchor="ctr">
            <a:normAutofit/>
          </a:bodyPr>
          <a:lstStyle/>
          <a:p>
            <a:r>
              <a:t>Papers from #25–47 + Andrew add-ons</a:t>
            </a:r>
          </a:p>
        </p:txBody>
      </p:sp>
      <p:sp>
        <p:nvSpPr>
          <p:cNvPr id="12" name="Shape 10"/>
          <p:cNvSpPr/>
          <p:nvPr/>
        </p:nvSpPr>
        <p:spPr>
          <a:xfrm>
            <a:off x="8266176" y="1828800"/>
            <a:ext cx="3337560" cy="384048"/>
          </a:xfrm>
          <a:prstGeom prst="rect">
            <a:avLst/>
          </a:prstGeom>
          <a:solidFill>
            <a:srgbClr val="111111"/>
          </a:solidFill>
          <a:ln w="6985">
            <a:solidFill>
              <a:srgbClr val="D6DAE0"/>
            </a:solidFill>
            <a:prstDash val="solid"/>
          </a:ln>
        </p:spPr>
        <p:txBody>
          <a:bodyPr/>
          <a:p/>
        </p:txBody>
      </p:sp>
      <p:sp>
        <p:nvSpPr>
          <p:cNvPr id="13" name="Text 11"/>
          <p:cNvSpPr/>
          <p:nvPr/>
        </p:nvSpPr>
        <p:spPr>
          <a:xfrm>
            <a:off x="8321040" y="1879092"/>
            <a:ext cx="3227832" cy="310896"/>
          </a:xfrm>
          <a:prstGeom prst="rect">
            <a:avLst/>
          </a:prstGeom>
          <a:noFill/>
        </p:spPr>
        <p:txBody>
          <a:bodyPr wrap="square" lIns="0" tIns="0" rIns="0" bIns="0" rtlCol="0" anchor="ctr">
            <a:normAutofit/>
          </a:bodyPr>
          <a:lstStyle/>
          <a:p>
            <a:pPr marL="0" indent="0">
              <a:buNone/>
            </a:pPr>
            <a:r>
              <a:rPr lang="en-US" sz="1050" b="1" dirty="0">
                <a:solidFill>
                  <a:srgbClr val="FFFFFF"/>
                </a:solidFill>
              </a:rPr>
              <a:t>Best use</a:t>
            </a:r>
            <a:endParaRPr lang="en-US" sz="1050" dirty="0"/>
          </a:p>
        </p:txBody>
      </p:sp>
      <p:sp>
        <p:nvSpPr>
          <p:cNvPr id="14" name="Shape 12"/>
          <p:cNvSpPr/>
          <p:nvPr/>
        </p:nvSpPr>
        <p:spPr>
          <a:xfrm>
            <a:off x="585216" y="2212848"/>
            <a:ext cx="1965960" cy="801014"/>
          </a:xfrm>
          <a:prstGeom prst="rect">
            <a:avLst/>
          </a:prstGeom>
          <a:solidFill>
            <a:schemeClr val="accent4">
              <a:lumMod val="40000"/>
              <a:lumOff val="60000"/>
            </a:schemeClr>
          </a:solidFill>
          <a:ln>
            <a:solidFill>
              <a:schemeClr val="tx1"/>
            </a:solidFill>
          </a:ln>
        </p:spPr>
        <p:style>
          <a:lnRef idx="0">
            <a:srgbClr val="FFFFFF"/>
          </a:lnRef>
          <a:fillRef idx="2">
            <a:schemeClr val="accent1"/>
          </a:fillRef>
          <a:effectRef idx="0">
            <a:srgbClr val="FFFFFF"/>
          </a:effectRef>
          <a:fontRef idx="minor">
            <a:schemeClr val="lt1"/>
          </a:fontRef>
        </p:style>
        <p:txBody>
          <a:bodyPr/>
          <a:p/>
        </p:txBody>
      </p:sp>
      <p:sp>
        <p:nvSpPr>
          <p:cNvPr id="15" name="Text 13"/>
          <p:cNvSpPr/>
          <p:nvPr/>
        </p:nvSpPr>
        <p:spPr>
          <a:xfrm>
            <a:off x="640080" y="2263140"/>
            <a:ext cx="1856232" cy="727862"/>
          </a:xfrm>
          <a:prstGeom prst="rect">
            <a:avLst/>
          </a:prstGeom>
          <a:noFill/>
        </p:spPr>
        <p:txBody>
          <a:bodyPr wrap="square" lIns="0" tIns="0" rIns="0" bIns="0" rtlCol="0" anchor="ctr">
            <a:normAutofit/>
          </a:bodyPr>
          <a:lstStyle/>
          <a:p>
            <a:pPr marL="0" indent="0">
              <a:buNone/>
            </a:pPr>
            <a:r>
              <a:rPr lang="en-US" sz="1200" b="1" u="sng" dirty="0">
                <a:solidFill>
                  <a:srgbClr val="1C1C1C"/>
                </a:solidFill>
              </a:rPr>
              <a:t>Track A</a:t>
            </a:r>
            <a:r>
              <a:rPr lang="en-US" sz="1200" u="sng" dirty="0">
                <a:solidFill>
                  <a:srgbClr val="1C1C1C"/>
                </a:solidFill>
              </a:rPr>
              <a:t> </a:t>
            </a:r>
            <a:r>
              <a:rPr lang="en-US" sz="1200" b="1" u="sng" dirty="0">
                <a:solidFill>
                  <a:srgbClr val="1C1C1C"/>
                </a:solidFill>
              </a:rPr>
              <a:t>must-run</a:t>
            </a:r>
            <a:endParaRPr lang="en-US" sz="1200" b="1" u="sng" dirty="0">
              <a:solidFill>
                <a:srgbClr val="1C1C1C"/>
              </a:solidFill>
            </a:endParaRPr>
          </a:p>
        </p:txBody>
      </p:sp>
      <p:sp>
        <p:nvSpPr>
          <p:cNvPr id="16" name="Shape 14"/>
          <p:cNvSpPr/>
          <p:nvPr/>
        </p:nvSpPr>
        <p:spPr>
          <a:xfrm>
            <a:off x="2551176" y="2212848"/>
            <a:ext cx="5715000" cy="801014"/>
          </a:xfrm>
          <a:prstGeom prst="rect">
            <a:avLst/>
          </a:prstGeom>
          <a:solidFill>
            <a:schemeClr val="accent4">
              <a:lumMod val="40000"/>
              <a:lumOff val="60000"/>
            </a:schemeClr>
          </a:solidFill>
          <a:ln w="6985">
            <a:solidFill>
              <a:srgbClr val="D6DAE0"/>
            </a:solidFill>
            <a:prstDash val="solid"/>
          </a:ln>
        </p:spPr>
        <p:txBody>
          <a:bodyPr/>
          <a:p/>
        </p:txBody>
      </p:sp>
      <p:sp>
        <p:nvSpPr>
          <p:cNvPr id="17" name="Text 15"/>
          <p:cNvSpPr/>
          <p:nvPr/>
        </p:nvSpPr>
        <p:spPr>
          <a:xfrm>
            <a:off x="2606040" y="2263140"/>
            <a:ext cx="5605272" cy="727862"/>
          </a:xfrm>
          <a:prstGeom prst="rect">
            <a:avLst/>
          </a:prstGeom>
          <a:noFill/>
        </p:spPr>
        <p:txBody>
          <a:bodyPr wrap="square" lIns="0" tIns="0" rIns="0" bIns="0" rtlCol="0" anchor="ctr">
            <a:normAutofit/>
          </a:bodyPr>
          <a:lstStyle/>
          <a:p>
            <a:pPr marL="0" indent="0">
              <a:buNone/>
            </a:pPr>
            <a:r>
              <a:rPr lang="en-US" sz="1050" b="1" dirty="0">
                <a:solidFill>
                  <a:srgbClr val="1C1C1C"/>
                </a:solidFill>
              </a:rPr>
              <a:t>#35 IslamTrust</a:t>
            </a:r>
            <a:r>
              <a:rPr lang="en-US" sz="1050" dirty="0">
                <a:solidFill>
                  <a:srgbClr val="1C1C1C"/>
                </a:solidFill>
              </a:rPr>
              <a:t> · </a:t>
            </a:r>
            <a:r>
              <a:rPr lang="en-US" sz="1050" b="1" dirty="0">
                <a:solidFill>
                  <a:srgbClr val="1C1C1C"/>
                </a:solidFill>
              </a:rPr>
              <a:t>#47 CatholicBench</a:t>
            </a:r>
            <a:r>
              <a:rPr lang="en-US" sz="1050" dirty="0">
                <a:solidFill>
                  <a:srgbClr val="1C1C1C"/>
                </a:solidFill>
              </a:rPr>
              <a:t> · </a:t>
            </a:r>
            <a:r>
              <a:rPr lang="en-US" sz="1050" b="1" dirty="0">
                <a:solidFill>
                  <a:srgbClr val="1C1C1C"/>
                </a:solidFill>
              </a:rPr>
              <a:t>#26 BuddhismEval</a:t>
            </a:r>
            <a:endParaRPr lang="en-US" sz="1050" dirty="0"/>
          </a:p>
        </p:txBody>
      </p:sp>
      <p:sp>
        <p:nvSpPr>
          <p:cNvPr id="18" name="Shape 16"/>
          <p:cNvSpPr/>
          <p:nvPr/>
        </p:nvSpPr>
        <p:spPr>
          <a:xfrm>
            <a:off x="8266176" y="2212848"/>
            <a:ext cx="3337560" cy="801014"/>
          </a:xfrm>
          <a:prstGeom prst="rect">
            <a:avLst/>
          </a:prstGeom>
          <a:solidFill>
            <a:srgbClr val="F5F6F8"/>
          </a:solidFill>
          <a:ln w="6985">
            <a:solidFill>
              <a:srgbClr val="D6DAE0"/>
            </a:solidFill>
            <a:prstDash val="solid"/>
          </a:ln>
        </p:spPr>
        <p:txBody>
          <a:bodyPr/>
          <a:p/>
        </p:txBody>
      </p:sp>
      <p:sp>
        <p:nvSpPr>
          <p:cNvPr id="19" name="Text 17"/>
          <p:cNvSpPr/>
          <p:nvPr/>
        </p:nvSpPr>
        <p:spPr>
          <a:xfrm>
            <a:off x="8321040" y="2263140"/>
            <a:ext cx="3227832" cy="727862"/>
          </a:xfrm>
          <a:prstGeom prst="rect">
            <a:avLst/>
          </a:prstGeom>
          <a:noFill/>
        </p:spPr>
        <p:txBody>
          <a:bodyPr wrap="square" lIns="0" tIns="0" rIns="0" bIns="0" rtlCol="0" anchor="ctr">
            <a:normAutofit/>
          </a:bodyPr>
          <a:lstStyle/>
          <a:p>
            <a:pPr marL="0" indent="0">
              <a:buNone/>
            </a:pPr>
            <a:r>
              <a:rPr lang="en-US" sz="1050" dirty="0">
                <a:solidFill>
                  <a:srgbClr val="1C1C1C"/>
                </a:solidFill>
              </a:rPr>
              <a:t>Religious-</a:t>
            </a:r>
            <a:r>
              <a:rPr lang="en-US" sz="1050" b="1" dirty="0">
                <a:solidFill>
                  <a:srgbClr val="1C1C1C"/>
                </a:solidFill>
              </a:rPr>
              <a:t>values / alignment</a:t>
            </a:r>
            <a:r>
              <a:rPr lang="en-US" sz="1050" dirty="0">
                <a:solidFill>
                  <a:srgbClr val="1C1C1C"/>
                </a:solidFill>
              </a:rPr>
              <a:t> evaluation</a:t>
            </a:r>
            <a:endParaRPr lang="en-US" sz="1050" dirty="0"/>
          </a:p>
        </p:txBody>
      </p:sp>
      <p:sp>
        <p:nvSpPr>
          <p:cNvPr id="20" name="Shape 18"/>
          <p:cNvSpPr/>
          <p:nvPr/>
        </p:nvSpPr>
        <p:spPr>
          <a:xfrm>
            <a:off x="585216" y="3013862"/>
            <a:ext cx="1965960" cy="801014"/>
          </a:xfrm>
          <a:prstGeom prst="rect">
            <a:avLst/>
          </a:prstGeom>
          <a:solidFill>
            <a:srgbClr val="FFFFFF"/>
          </a:solidFill>
          <a:ln w="6985">
            <a:solidFill>
              <a:srgbClr val="D6DAE0"/>
            </a:solidFill>
            <a:prstDash val="solid"/>
          </a:ln>
        </p:spPr>
        <p:txBody>
          <a:bodyPr/>
          <a:p/>
        </p:txBody>
      </p:sp>
      <p:sp>
        <p:nvSpPr>
          <p:cNvPr id="21" name="Text 19"/>
          <p:cNvSpPr/>
          <p:nvPr/>
        </p:nvSpPr>
        <p:spPr>
          <a:xfrm>
            <a:off x="640080" y="3064154"/>
            <a:ext cx="1856232" cy="727862"/>
          </a:xfrm>
          <a:prstGeom prst="rect">
            <a:avLst/>
          </a:prstGeom>
          <a:noFill/>
        </p:spPr>
        <p:txBody>
          <a:bodyPr wrap="square" lIns="0" tIns="0" rIns="0" bIns="0" rtlCol="0" anchor="ctr">
            <a:normAutofit/>
          </a:bodyPr>
          <a:lstStyle/>
          <a:p>
            <a:pPr marL="0" indent="0">
              <a:buNone/>
            </a:pPr>
            <a:r>
              <a:rPr lang="en-US" sz="1050" b="1" dirty="0">
                <a:solidFill>
                  <a:srgbClr val="1C1C1C"/>
                </a:solidFill>
              </a:rPr>
              <a:t>Track A </a:t>
            </a:r>
            <a:r>
              <a:rPr lang="en-US" sz="1050" b="1" dirty="0">
                <a:solidFill>
                  <a:srgbClr val="1C1C1C"/>
                </a:solidFill>
                <a:sym typeface="+mn-ea"/>
              </a:rPr>
              <a:t>runners-up</a:t>
            </a:r>
            <a:endParaRPr lang="en-US" sz="1050" b="1" dirty="0">
              <a:solidFill>
                <a:srgbClr val="1C1C1C"/>
              </a:solidFill>
            </a:endParaRPr>
          </a:p>
          <a:p>
            <a:pPr marL="0" indent="0">
              <a:buNone/>
            </a:pPr>
            <a:endParaRPr lang="en-US" sz="1050" dirty="0"/>
          </a:p>
        </p:txBody>
      </p:sp>
      <p:sp>
        <p:nvSpPr>
          <p:cNvPr id="22" name="Shape 20"/>
          <p:cNvSpPr/>
          <p:nvPr/>
        </p:nvSpPr>
        <p:spPr>
          <a:xfrm>
            <a:off x="2551176" y="3013862"/>
            <a:ext cx="5715000" cy="801014"/>
          </a:xfrm>
          <a:prstGeom prst="rect">
            <a:avLst/>
          </a:prstGeom>
          <a:solidFill>
            <a:srgbClr val="FFFFFF"/>
          </a:solidFill>
          <a:ln w="6985">
            <a:solidFill>
              <a:srgbClr val="D6DAE0"/>
            </a:solidFill>
            <a:prstDash val="solid"/>
          </a:ln>
        </p:spPr>
        <p:txBody>
          <a:bodyPr/>
          <a:p/>
        </p:txBody>
      </p:sp>
      <p:sp>
        <p:nvSpPr>
          <p:cNvPr id="23" name="Text 21"/>
          <p:cNvSpPr/>
          <p:nvPr/>
        </p:nvSpPr>
        <p:spPr>
          <a:xfrm>
            <a:off x="2606040" y="3064154"/>
            <a:ext cx="5605272" cy="727862"/>
          </a:xfrm>
          <a:prstGeom prst="rect">
            <a:avLst/>
          </a:prstGeom>
          <a:noFill/>
        </p:spPr>
        <p:txBody>
          <a:bodyPr wrap="square" lIns="0" tIns="0" rIns="0" bIns="0" rtlCol="0" anchor="ctr">
            <a:normAutofit/>
          </a:bodyPr>
          <a:lstStyle/>
          <a:p>
            <a:pPr marL="0" indent="0">
              <a:buNone/>
            </a:pPr>
            <a:r>
              <a:rPr lang="en-US" sz="1050" b="1" dirty="0">
                <a:solidFill>
                  <a:srgbClr val="1C1C1C"/>
                </a:solidFill>
              </a:rPr>
              <a:t>#34 Confucian Analects</a:t>
            </a:r>
            <a:r>
              <a:rPr lang="en-US" sz="1050" dirty="0">
                <a:solidFill>
                  <a:srgbClr val="1C1C1C"/>
                </a:solidFill>
              </a:rPr>
              <a:t> · </a:t>
            </a:r>
            <a:r>
              <a:rPr lang="en-US" sz="1050" b="1" dirty="0">
                <a:solidFill>
                  <a:srgbClr val="1C1C1C"/>
                </a:solidFill>
              </a:rPr>
              <a:t>#43 Religion &amp; Morality</a:t>
            </a:r>
            <a:r>
              <a:rPr lang="en-US" sz="1050" dirty="0">
                <a:solidFill>
                  <a:srgbClr val="1C1C1C"/>
                </a:solidFill>
              </a:rPr>
              <a:t> · </a:t>
            </a:r>
            <a:r>
              <a:rPr lang="en-US" sz="1050" b="1" dirty="0">
                <a:solidFill>
                  <a:srgbClr val="1C1C1C"/>
                </a:solidFill>
              </a:rPr>
              <a:t>#44/#45 FatwaSet</a:t>
            </a:r>
            <a:endParaRPr lang="en-US" sz="1050" dirty="0"/>
          </a:p>
        </p:txBody>
      </p:sp>
      <p:sp>
        <p:nvSpPr>
          <p:cNvPr id="24" name="Shape 22"/>
          <p:cNvSpPr/>
          <p:nvPr/>
        </p:nvSpPr>
        <p:spPr>
          <a:xfrm>
            <a:off x="8266176" y="3013862"/>
            <a:ext cx="3337560" cy="801014"/>
          </a:xfrm>
          <a:prstGeom prst="rect">
            <a:avLst/>
          </a:prstGeom>
          <a:solidFill>
            <a:srgbClr val="FFFFFF"/>
          </a:solidFill>
          <a:ln w="6985">
            <a:solidFill>
              <a:srgbClr val="D6DAE0"/>
            </a:solidFill>
            <a:prstDash val="solid"/>
          </a:ln>
        </p:spPr>
        <p:txBody>
          <a:bodyPr/>
          <a:p/>
        </p:txBody>
      </p:sp>
      <p:sp>
        <p:nvSpPr>
          <p:cNvPr id="25" name="Text 23"/>
          <p:cNvSpPr/>
          <p:nvPr/>
        </p:nvSpPr>
        <p:spPr>
          <a:xfrm>
            <a:off x="8321040" y="3064154"/>
            <a:ext cx="3227832" cy="727862"/>
          </a:xfrm>
          <a:prstGeom prst="rect">
            <a:avLst/>
          </a:prstGeom>
          <a:noFill/>
        </p:spPr>
        <p:txBody>
          <a:bodyPr wrap="square" lIns="0" tIns="0" rIns="0" bIns="0" rtlCol="0" anchor="ctr">
            <a:normAutofit/>
          </a:bodyPr>
          <a:lstStyle/>
          <a:p>
            <a:pPr marL="0" indent="0">
              <a:buNone/>
            </a:pPr>
            <a:r>
              <a:rPr lang="en-US" sz="1050" dirty="0">
                <a:solidFill>
                  <a:srgbClr val="1C1C1C"/>
                </a:solidFill>
              </a:rPr>
              <a:t>New scenario/</a:t>
            </a:r>
            <a:r>
              <a:rPr lang="en-US" sz="1050" b="1" dirty="0">
                <a:solidFill>
                  <a:srgbClr val="1C1C1C"/>
                </a:solidFill>
              </a:rPr>
              <a:t>rubric</a:t>
            </a:r>
            <a:r>
              <a:rPr lang="en-US" sz="1050" dirty="0">
                <a:solidFill>
                  <a:srgbClr val="1C1C1C"/>
                </a:solidFill>
              </a:rPr>
              <a:t> construction</a:t>
            </a:r>
            <a:endParaRPr lang="en-US" sz="1050" dirty="0"/>
          </a:p>
        </p:txBody>
      </p:sp>
      <p:sp>
        <p:nvSpPr>
          <p:cNvPr id="26" name="Shape 24"/>
          <p:cNvSpPr/>
          <p:nvPr/>
        </p:nvSpPr>
        <p:spPr>
          <a:xfrm>
            <a:off x="585216" y="3814877"/>
            <a:ext cx="1965960" cy="801014"/>
          </a:xfrm>
          <a:prstGeom prst="rect">
            <a:avLst/>
          </a:prstGeom>
          <a:solidFill>
            <a:schemeClr val="accent4">
              <a:lumMod val="40000"/>
              <a:lumOff val="60000"/>
            </a:schemeClr>
          </a:solidFill>
          <a:ln w="6985">
            <a:solidFill>
              <a:srgbClr val="D6DAE0"/>
            </a:solidFill>
            <a:prstDash val="solid"/>
          </a:ln>
        </p:spPr>
        <p:txBody>
          <a:bodyPr/>
          <a:p/>
        </p:txBody>
      </p:sp>
      <p:sp>
        <p:nvSpPr>
          <p:cNvPr id="27" name="Text 25"/>
          <p:cNvSpPr/>
          <p:nvPr/>
        </p:nvSpPr>
        <p:spPr>
          <a:xfrm>
            <a:off x="640080" y="3865169"/>
            <a:ext cx="1856232" cy="727862"/>
          </a:xfrm>
          <a:prstGeom prst="rect">
            <a:avLst/>
          </a:prstGeom>
          <a:noFill/>
        </p:spPr>
        <p:txBody>
          <a:bodyPr wrap="square" lIns="0" tIns="0" rIns="0" bIns="0" rtlCol="0" anchor="ctr">
            <a:normAutofit/>
          </a:bodyPr>
          <a:lstStyle/>
          <a:p>
            <a:pPr marL="0" indent="0">
              <a:buNone/>
            </a:pPr>
            <a:r>
              <a:rPr lang="en-US" sz="1200" b="1" u="sng" dirty="0">
                <a:solidFill>
                  <a:srgbClr val="1C1C1C"/>
                </a:solidFill>
              </a:rPr>
              <a:t>Track B</a:t>
            </a:r>
            <a:r>
              <a:rPr lang="en-US" sz="1200" u="sng" dirty="0">
                <a:solidFill>
                  <a:srgbClr val="1C1C1C"/>
                </a:solidFill>
              </a:rPr>
              <a:t> </a:t>
            </a:r>
            <a:r>
              <a:rPr lang="en-US" sz="1200" b="1" u="sng" dirty="0">
                <a:solidFill>
                  <a:srgbClr val="1C1C1C"/>
                </a:solidFill>
              </a:rPr>
              <a:t>must-run</a:t>
            </a:r>
            <a:endParaRPr lang="en-US" sz="1200" b="1" u="sng" dirty="0">
              <a:solidFill>
                <a:srgbClr val="1C1C1C"/>
              </a:solidFill>
            </a:endParaRPr>
          </a:p>
        </p:txBody>
      </p:sp>
      <p:sp>
        <p:nvSpPr>
          <p:cNvPr id="28" name="Shape 26"/>
          <p:cNvSpPr/>
          <p:nvPr/>
        </p:nvSpPr>
        <p:spPr>
          <a:xfrm>
            <a:off x="2551176" y="3814877"/>
            <a:ext cx="5715000" cy="801014"/>
          </a:xfrm>
          <a:prstGeom prst="rect">
            <a:avLst/>
          </a:prstGeom>
          <a:solidFill>
            <a:schemeClr val="accent4">
              <a:lumMod val="40000"/>
              <a:lumOff val="60000"/>
            </a:schemeClr>
          </a:solidFill>
          <a:ln w="6985">
            <a:solidFill>
              <a:srgbClr val="D6DAE0"/>
            </a:solidFill>
            <a:prstDash val="solid"/>
          </a:ln>
        </p:spPr>
        <p:txBody>
          <a:bodyPr/>
          <a:p/>
        </p:txBody>
      </p:sp>
      <p:sp>
        <p:nvSpPr>
          <p:cNvPr id="29" name="Text 27"/>
          <p:cNvSpPr/>
          <p:nvPr/>
        </p:nvSpPr>
        <p:spPr>
          <a:xfrm>
            <a:off x="2606040" y="3865169"/>
            <a:ext cx="5605272" cy="727862"/>
          </a:xfrm>
          <a:prstGeom prst="rect">
            <a:avLst/>
          </a:prstGeom>
          <a:noFill/>
        </p:spPr>
        <p:txBody>
          <a:bodyPr wrap="square" lIns="0" tIns="0" rIns="0" bIns="0" rtlCol="0" anchor="ctr">
            <a:normAutofit/>
          </a:bodyPr>
          <a:lstStyle/>
          <a:p>
            <a:pPr marL="0" indent="0">
              <a:buNone/>
            </a:pPr>
            <a:r>
              <a:rPr sz="1050" b="1"/>
              <a:t>#42 QASiNa · #37 BibleQA · #44/#45 FatwaSet</a:t>
            </a:r>
            <a:endParaRPr lang="en-US" sz="1050" dirty="0"/>
          </a:p>
          <a:p>
            <a:r>
              <a:rPr sz="1050" b="1">
                <a:solidFill>
                  <a:srgbClr val="8B0000"/>
                </a:solidFill>
              </a:rPr>
              <a:t>TGC/FaithBench (Andrew) · HAQA/QUQA (Andrew)</a:t>
            </a:r>
            <a:endParaRPr sz="1050" b="1">
              <a:solidFill>
                <a:srgbClr val="8B0000"/>
              </a:solidFill>
            </a:endParaRPr>
          </a:p>
        </p:txBody>
      </p:sp>
      <p:sp>
        <p:nvSpPr>
          <p:cNvPr id="30" name="Shape 28"/>
          <p:cNvSpPr/>
          <p:nvPr/>
        </p:nvSpPr>
        <p:spPr>
          <a:xfrm>
            <a:off x="8266176" y="3814877"/>
            <a:ext cx="3337560" cy="801014"/>
          </a:xfrm>
          <a:prstGeom prst="rect">
            <a:avLst/>
          </a:prstGeom>
          <a:solidFill>
            <a:srgbClr val="F5F6F8"/>
          </a:solidFill>
          <a:ln w="6985">
            <a:solidFill>
              <a:srgbClr val="D6DAE0"/>
            </a:solidFill>
            <a:prstDash val="solid"/>
          </a:ln>
        </p:spPr>
        <p:txBody>
          <a:bodyPr/>
          <a:p/>
        </p:txBody>
      </p:sp>
      <p:sp>
        <p:nvSpPr>
          <p:cNvPr id="31" name="Text 29"/>
          <p:cNvSpPr/>
          <p:nvPr/>
        </p:nvSpPr>
        <p:spPr>
          <a:xfrm>
            <a:off x="8321040" y="3865169"/>
            <a:ext cx="3227832" cy="727862"/>
          </a:xfrm>
          <a:prstGeom prst="rect">
            <a:avLst/>
          </a:prstGeom>
          <a:noFill/>
        </p:spPr>
        <p:txBody>
          <a:bodyPr wrap="square" lIns="0" tIns="0" rIns="0" bIns="0" rtlCol="0" anchor="ctr">
            <a:normAutofit/>
          </a:bodyPr>
          <a:lstStyle/>
          <a:p>
            <a:pPr marL="0" indent="0">
              <a:buNone/>
            </a:pPr>
            <a:r>
              <a:rPr sz="1050" b="1">
                <a:solidFill>
                  <a:srgbClr val="1C1C1C"/>
                </a:solidFill>
              </a:rPr>
              <a:t>MultiFaithBench knowledge/doctrine; factual scripture QA</a:t>
            </a:r>
            <a:endParaRPr lang="en-US" sz="1050" dirty="0"/>
          </a:p>
        </p:txBody>
      </p:sp>
      <p:sp>
        <p:nvSpPr>
          <p:cNvPr id="32" name="Shape 30"/>
          <p:cNvSpPr/>
          <p:nvPr/>
        </p:nvSpPr>
        <p:spPr>
          <a:xfrm>
            <a:off x="585216" y="4615891"/>
            <a:ext cx="1965960" cy="801014"/>
          </a:xfrm>
          <a:prstGeom prst="rect">
            <a:avLst/>
          </a:prstGeom>
          <a:solidFill>
            <a:srgbClr val="FFFFFF"/>
          </a:solidFill>
          <a:ln w="6985">
            <a:solidFill>
              <a:srgbClr val="D6DAE0"/>
            </a:solidFill>
            <a:prstDash val="solid"/>
          </a:ln>
        </p:spPr>
        <p:txBody>
          <a:bodyPr/>
          <a:p/>
        </p:txBody>
      </p:sp>
      <p:sp>
        <p:nvSpPr>
          <p:cNvPr id="33" name="Text 31"/>
          <p:cNvSpPr/>
          <p:nvPr/>
        </p:nvSpPr>
        <p:spPr>
          <a:xfrm>
            <a:off x="640080" y="4666183"/>
            <a:ext cx="1856232" cy="727862"/>
          </a:xfrm>
          <a:prstGeom prst="rect">
            <a:avLst/>
          </a:prstGeom>
          <a:noFill/>
        </p:spPr>
        <p:txBody>
          <a:bodyPr wrap="square" lIns="0" tIns="0" rIns="0" bIns="0" rtlCol="0" anchor="ctr">
            <a:normAutofit/>
          </a:bodyPr>
          <a:lstStyle/>
          <a:p>
            <a:pPr marL="0" algn="l">
              <a:buClrTx/>
              <a:buSzTx/>
              <a:buFontTx/>
              <a:buNone/>
            </a:pPr>
            <a:r>
              <a:rPr lang="en-US" sz="1050" b="1" dirty="0">
                <a:solidFill>
                  <a:srgbClr val="1C1C1C"/>
                </a:solidFill>
              </a:rPr>
              <a:t>Resource lay</a:t>
            </a:r>
            <a:r>
              <a:rPr lang="en-US" sz="1050" b="1" dirty="0">
                <a:solidFill>
                  <a:srgbClr val="1C1C1C"/>
                </a:solidFill>
              </a:rPr>
              <a:t>er (Track B </a:t>
            </a:r>
            <a:r>
              <a:rPr lang="en-US" sz="1050" b="1" dirty="0">
                <a:solidFill>
                  <a:srgbClr val="1C1C1C"/>
                </a:solidFill>
                <a:sym typeface="+mn-ea"/>
              </a:rPr>
              <a:t>runners-up)</a:t>
            </a:r>
            <a:endParaRPr lang="en-US" sz="1050" b="1" dirty="0">
              <a:solidFill>
                <a:srgbClr val="1C1C1C"/>
              </a:solidFill>
            </a:endParaRPr>
          </a:p>
        </p:txBody>
      </p:sp>
      <p:sp>
        <p:nvSpPr>
          <p:cNvPr id="34" name="Shape 32"/>
          <p:cNvSpPr/>
          <p:nvPr/>
        </p:nvSpPr>
        <p:spPr>
          <a:xfrm>
            <a:off x="2551176" y="4615891"/>
            <a:ext cx="5715000" cy="801014"/>
          </a:xfrm>
          <a:prstGeom prst="rect">
            <a:avLst/>
          </a:prstGeom>
          <a:solidFill>
            <a:srgbClr val="FFFFFF"/>
          </a:solidFill>
          <a:ln w="6985">
            <a:solidFill>
              <a:srgbClr val="D6DAE0"/>
            </a:solidFill>
            <a:prstDash val="solid"/>
          </a:ln>
        </p:spPr>
        <p:txBody>
          <a:bodyPr/>
          <a:p/>
        </p:txBody>
      </p:sp>
      <p:sp>
        <p:nvSpPr>
          <p:cNvPr id="35" name="Text 33"/>
          <p:cNvSpPr/>
          <p:nvPr/>
        </p:nvSpPr>
        <p:spPr>
          <a:xfrm>
            <a:off x="2606040" y="4666183"/>
            <a:ext cx="5605272" cy="727862"/>
          </a:xfrm>
          <a:prstGeom prst="rect">
            <a:avLst/>
          </a:prstGeom>
          <a:noFill/>
        </p:spPr>
        <p:txBody>
          <a:bodyPr wrap="square" lIns="0" tIns="0" rIns="0" bIns="0" rtlCol="0" anchor="ctr">
            <a:normAutofit/>
          </a:bodyPr>
          <a:lstStyle/>
          <a:p>
            <a:pPr marL="0" indent="0">
              <a:buNone/>
            </a:pPr>
            <a:r>
              <a:rPr sz="1050" b="1"/>
              <a:t>#25 eBible · Sikh/Hindu resources · Hadith resources</a:t>
            </a:r>
            <a:endParaRPr lang="en-US" sz="1050" dirty="0"/>
          </a:p>
          <a:p>
            <a:r>
              <a:rPr sz="1050" b="1">
                <a:solidFill>
                  <a:srgbClr val="8B0000"/>
                </a:solidFill>
              </a:rPr>
              <a:t>AceGPT (Andrew) · Quran passage retrieval (Andrew)</a:t>
            </a:r>
            <a:endParaRPr sz="1050" b="1">
              <a:solidFill>
                <a:srgbClr val="8B0000"/>
              </a:solidFill>
            </a:endParaRPr>
          </a:p>
        </p:txBody>
      </p:sp>
      <p:sp>
        <p:nvSpPr>
          <p:cNvPr id="36" name="Shape 34"/>
          <p:cNvSpPr/>
          <p:nvPr/>
        </p:nvSpPr>
        <p:spPr>
          <a:xfrm>
            <a:off x="8266176" y="4615891"/>
            <a:ext cx="3337560" cy="801014"/>
          </a:xfrm>
          <a:prstGeom prst="rect">
            <a:avLst/>
          </a:prstGeom>
          <a:solidFill>
            <a:srgbClr val="FFFFFF"/>
          </a:solidFill>
          <a:ln w="6985">
            <a:solidFill>
              <a:srgbClr val="D6DAE0"/>
            </a:solidFill>
            <a:prstDash val="solid"/>
          </a:ln>
        </p:spPr>
        <p:txBody>
          <a:bodyPr/>
          <a:p/>
        </p:txBody>
      </p:sp>
      <p:sp>
        <p:nvSpPr>
          <p:cNvPr id="37" name="Text 35"/>
          <p:cNvSpPr/>
          <p:nvPr/>
        </p:nvSpPr>
        <p:spPr>
          <a:xfrm>
            <a:off x="8321040" y="4666183"/>
            <a:ext cx="3227832" cy="727862"/>
          </a:xfrm>
          <a:prstGeom prst="rect">
            <a:avLst/>
          </a:prstGeom>
          <a:noFill/>
        </p:spPr>
        <p:txBody>
          <a:bodyPr wrap="square" lIns="0" tIns="0" rIns="0" bIns="0" rtlCol="0" anchor="ctr">
            <a:normAutofit/>
          </a:bodyPr>
          <a:lstStyle/>
          <a:p>
            <a:pPr marL="0" indent="0">
              <a:buNone/>
            </a:pPr>
            <a:r>
              <a:rPr sz="1050" b="1">
                <a:solidFill>
                  <a:srgbClr val="1C1C1C"/>
                </a:solidFill>
              </a:rPr>
              <a:t>Build backlog / infrastructure / runner-up checks</a:t>
            </a:r>
            <a:endParaRPr lang="en-US" sz="1050" dirty="0"/>
          </a:p>
        </p:txBody>
      </p:sp>
      <p:sp>
        <p:nvSpPr>
          <p:cNvPr id="38" name="Shape 36"/>
          <p:cNvSpPr/>
          <p:nvPr/>
        </p:nvSpPr>
        <p:spPr>
          <a:xfrm>
            <a:off x="585216" y="5416906"/>
            <a:ext cx="1965960" cy="801014"/>
          </a:xfrm>
          <a:prstGeom prst="rect">
            <a:avLst/>
          </a:prstGeom>
          <a:solidFill>
            <a:srgbClr val="F5F6F8"/>
          </a:solidFill>
          <a:ln w="6985">
            <a:solidFill>
              <a:srgbClr val="D6DAE0"/>
            </a:solidFill>
            <a:prstDash val="solid"/>
          </a:ln>
        </p:spPr>
        <p:txBody>
          <a:bodyPr/>
          <a:p/>
        </p:txBody>
      </p:sp>
      <p:sp>
        <p:nvSpPr>
          <p:cNvPr id="39" name="Text 37"/>
          <p:cNvSpPr/>
          <p:nvPr/>
        </p:nvSpPr>
        <p:spPr>
          <a:xfrm>
            <a:off x="640080" y="5467198"/>
            <a:ext cx="1856232" cy="727862"/>
          </a:xfrm>
          <a:prstGeom prst="rect">
            <a:avLst/>
          </a:prstGeom>
          <a:noFill/>
        </p:spPr>
        <p:txBody>
          <a:bodyPr wrap="square" lIns="0" tIns="0" rIns="0" bIns="0" rtlCol="0" anchor="ctr">
            <a:normAutofit/>
          </a:bodyPr>
          <a:lstStyle/>
          <a:p>
            <a:pPr marL="0" indent="0">
              <a:buNone/>
            </a:pPr>
            <a:r>
              <a:rPr lang="en-US" sz="1050" b="1" dirty="0">
                <a:solidFill>
                  <a:srgbClr val="1C1C1C"/>
                </a:solidFill>
              </a:rPr>
              <a:t>Negative / weak fit</a:t>
            </a:r>
            <a:endParaRPr lang="en-US" sz="1050" dirty="0"/>
          </a:p>
        </p:txBody>
      </p:sp>
      <p:sp>
        <p:nvSpPr>
          <p:cNvPr id="40" name="Shape 38"/>
          <p:cNvSpPr/>
          <p:nvPr/>
        </p:nvSpPr>
        <p:spPr>
          <a:xfrm>
            <a:off x="2551176" y="5416906"/>
            <a:ext cx="5715000" cy="801014"/>
          </a:xfrm>
          <a:prstGeom prst="rect">
            <a:avLst/>
          </a:prstGeom>
          <a:solidFill>
            <a:srgbClr val="F5F6F8"/>
          </a:solidFill>
          <a:ln w="6985">
            <a:solidFill>
              <a:srgbClr val="D6DAE0"/>
            </a:solidFill>
            <a:prstDash val="solid"/>
          </a:ln>
        </p:spPr>
        <p:txBody>
          <a:bodyPr/>
          <a:p/>
        </p:txBody>
      </p:sp>
      <p:sp>
        <p:nvSpPr>
          <p:cNvPr id="41" name="Text 39"/>
          <p:cNvSpPr/>
          <p:nvPr/>
        </p:nvSpPr>
        <p:spPr>
          <a:xfrm>
            <a:off x="2606040" y="5467198"/>
            <a:ext cx="5605272" cy="727862"/>
          </a:xfrm>
          <a:prstGeom prst="rect">
            <a:avLst/>
          </a:prstGeom>
          <a:noFill/>
        </p:spPr>
        <p:txBody>
          <a:bodyPr wrap="square" lIns="0" tIns="0" rIns="0" bIns="0" rtlCol="0" anchor="ctr">
            <a:normAutofit/>
          </a:bodyPr>
          <a:lstStyle/>
          <a:p>
            <a:pPr marL="0" indent="0">
              <a:buNone/>
            </a:pPr>
            <a:r>
              <a:rPr lang="en-US" sz="1050" dirty="0">
                <a:solidFill>
                  <a:srgbClr val="1C1C1C"/>
                </a:solidFill>
              </a:rPr>
              <a:t>#30 RedditBias · </a:t>
            </a:r>
            <a:r>
              <a:rPr lang="en-US" sz="1050" b="1" dirty="0">
                <a:solidFill>
                  <a:srgbClr val="1C1C1C"/>
                </a:solidFill>
              </a:rPr>
              <a:t>#33 Vedic Compound</a:t>
            </a:r>
            <a:r>
              <a:rPr lang="en-US" sz="1050" dirty="0">
                <a:solidFill>
                  <a:srgbClr val="1C1C1C"/>
                </a:solidFill>
              </a:rPr>
              <a:t> · </a:t>
            </a:r>
            <a:r>
              <a:rPr lang="en-US" sz="1050" b="1" dirty="0">
                <a:solidFill>
                  <a:srgbClr val="1C1C1C"/>
                </a:solidFill>
              </a:rPr>
              <a:t>#36 ValueNet</a:t>
            </a:r>
            <a:r>
              <a:rPr lang="en-US" sz="1050" dirty="0">
                <a:solidFill>
                  <a:srgbClr val="1C1C1C"/>
                </a:solidFill>
              </a:rPr>
              <a:t> · </a:t>
            </a:r>
            <a:r>
              <a:rPr lang="en-US" sz="1050" b="1" dirty="0">
                <a:solidFill>
                  <a:srgbClr val="1C1C1C"/>
                </a:solidFill>
              </a:rPr>
              <a:t>#38 Vedic Intertextuality</a:t>
            </a:r>
            <a:r>
              <a:rPr lang="en-US" sz="1050" dirty="0">
                <a:solidFill>
                  <a:srgbClr val="1C1C1C"/>
                </a:solidFill>
              </a:rPr>
              <a:t> · </a:t>
            </a:r>
            <a:r>
              <a:rPr lang="en-US" sz="1050" b="1" dirty="0">
                <a:solidFill>
                  <a:srgbClr val="1C1C1C"/>
                </a:solidFill>
              </a:rPr>
              <a:t>#40 MASAQ</a:t>
            </a:r>
            <a:r>
              <a:rPr lang="en-US" sz="1050" dirty="0">
                <a:solidFill>
                  <a:srgbClr val="1C1C1C"/>
                </a:solidFill>
              </a:rPr>
              <a:t> · </a:t>
            </a:r>
            <a:r>
              <a:rPr lang="en-US" sz="1050" b="1" dirty="0">
                <a:solidFill>
                  <a:srgbClr val="1C1C1C"/>
                </a:solidFill>
              </a:rPr>
              <a:t>#41 CulturalVQA</a:t>
            </a:r>
            <a:endParaRPr lang="en-US" sz="1050" dirty="0"/>
          </a:p>
        </p:txBody>
      </p:sp>
      <p:sp>
        <p:nvSpPr>
          <p:cNvPr id="42" name="Shape 40"/>
          <p:cNvSpPr/>
          <p:nvPr/>
        </p:nvSpPr>
        <p:spPr>
          <a:xfrm>
            <a:off x="8266176" y="5416906"/>
            <a:ext cx="3337560" cy="801014"/>
          </a:xfrm>
          <a:prstGeom prst="rect">
            <a:avLst/>
          </a:prstGeom>
          <a:solidFill>
            <a:srgbClr val="F5F6F8"/>
          </a:solidFill>
          <a:ln w="6985">
            <a:solidFill>
              <a:srgbClr val="D6DAE0"/>
            </a:solidFill>
            <a:prstDash val="solid"/>
          </a:ln>
        </p:spPr>
        <p:txBody>
          <a:bodyPr/>
          <a:p/>
        </p:txBody>
      </p:sp>
      <p:sp>
        <p:nvSpPr>
          <p:cNvPr id="43" name="Text 41"/>
          <p:cNvSpPr/>
          <p:nvPr/>
        </p:nvSpPr>
        <p:spPr>
          <a:xfrm>
            <a:off x="8321040" y="5467198"/>
            <a:ext cx="3227832" cy="727862"/>
          </a:xfrm>
          <a:prstGeom prst="rect">
            <a:avLst/>
          </a:prstGeom>
          <a:noFill/>
        </p:spPr>
        <p:txBody>
          <a:bodyPr wrap="square" lIns="0" tIns="0" rIns="0" bIns="0" rtlCol="0" anchor="ctr">
            <a:normAutofit/>
          </a:bodyPr>
          <a:lstStyle/>
          <a:p>
            <a:pPr marL="0" indent="0">
              <a:buNone/>
            </a:pPr>
            <a:r>
              <a:rPr lang="en-US" sz="1050" dirty="0">
                <a:solidFill>
                  <a:srgbClr val="1C1C1C"/>
                </a:solidFill>
              </a:rPr>
              <a:t>dont prioritize </a:t>
            </a:r>
            <a:endParaRPr lang="en-US" sz="1050" dirty="0"/>
          </a:p>
        </p:txBody>
      </p:sp>
      <p:sp>
        <p:nvSpPr>
          <p:cNvPr id="44" name="Text 3"/>
          <p:cNvSpPr/>
          <p:nvPr/>
        </p:nvSpPr>
        <p:spPr>
          <a:xfrm>
            <a:off x="530352" y="1298448"/>
            <a:ext cx="10789920" cy="256032"/>
          </a:xfrm>
          <a:prstGeom prst="rect">
            <a:avLst/>
          </a:prstGeom>
          <a:noFill/>
        </p:spPr>
        <p:txBody>
          <a:bodyPr wrap="square" lIns="0" tIns="0" rIns="0" bIns="0" rtlCol="0" anchor="ctr">
            <a:normAutofit/>
          </a:bodyPr>
          <a:lstStyle/>
          <a:p>
            <a:pPr marL="0" indent="0">
              <a:buNone/>
            </a:pPr>
            <a:r>
              <a:rPr lang="en-US" sz="1220" i="1" dirty="0">
                <a:solidFill>
                  <a:srgbClr val="6C737F"/>
                </a:solidFill>
              </a:rPr>
              <a:t>The papers are useful in different ways; selected are in </a:t>
            </a:r>
            <a:r>
              <a:rPr lang="en-US" sz="1220" i="1" dirty="0">
                <a:solidFill>
                  <a:srgbClr val="6C737F"/>
                </a:solidFill>
                <a:highlight>
                  <a:srgbClr val="FFFF00"/>
                </a:highlight>
              </a:rPr>
              <a:t>yellow</a:t>
            </a:r>
            <a:endParaRPr lang="en-US" altLang="en-US" sz="1220" i="1" dirty="0">
              <a:solidFill>
                <a:srgbClr val="6C737F"/>
              </a:solidFill>
              <a:highlight>
                <a:srgbClr val="FFFF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76B5C"/>
          </a:solidFill>
          <a:ln w="12700">
            <a:solidFill>
              <a:srgbClr val="176B5C"/>
            </a:solidFill>
            <a:prstDash val="solid"/>
          </a:ln>
        </p:spPr>
        <p:txBody>
          <a:bodyPr/>
          <a:p/>
        </p:txBody>
      </p:sp>
      <p:sp>
        <p:nvSpPr>
          <p:cNvPr id="3" name="Text 1"/>
          <p:cNvSpPr/>
          <p:nvPr/>
        </p:nvSpPr>
        <p:spPr>
          <a:xfrm>
            <a:off x="777240" y="2331720"/>
            <a:ext cx="9692640" cy="658368"/>
          </a:xfrm>
          <a:prstGeom prst="rect">
            <a:avLst/>
          </a:prstGeom>
          <a:noFill/>
        </p:spPr>
        <p:txBody>
          <a:bodyPr wrap="square" lIns="0" tIns="0" rIns="0" bIns="0" rtlCol="0" anchor="ctr">
            <a:normAutofit/>
          </a:bodyPr>
          <a:lstStyle/>
          <a:p>
            <a:pPr marL="0" indent="0">
              <a:buNone/>
            </a:pPr>
            <a:r>
              <a:rPr lang="en-US" sz="3800" b="1" dirty="0">
                <a:solidFill>
                  <a:srgbClr val="1C1C1C"/>
                </a:solidFill>
              </a:rPr>
              <a:t>Track A</a:t>
            </a:r>
            <a:endParaRPr lang="en-US" sz="3800" dirty="0"/>
          </a:p>
        </p:txBody>
      </p:sp>
      <p:sp>
        <p:nvSpPr>
          <p:cNvPr id="4" name="Text 2"/>
          <p:cNvSpPr/>
          <p:nvPr/>
        </p:nvSpPr>
        <p:spPr>
          <a:xfrm>
            <a:off x="804672" y="3154680"/>
            <a:ext cx="8961120" cy="310896"/>
          </a:xfrm>
          <a:prstGeom prst="rect">
            <a:avLst/>
          </a:prstGeom>
          <a:noFill/>
        </p:spPr>
        <p:txBody>
          <a:bodyPr wrap="square" lIns="0" tIns="0" rIns="0" bIns="0" rtlCol="0" anchor="ctr">
            <a:normAutofit/>
          </a:bodyPr>
          <a:lstStyle/>
          <a:p>
            <a:pPr marL="0" indent="0">
              <a:buNone/>
            </a:pPr>
            <a:r>
              <a:rPr lang="en-US" sz="1500" b="1" dirty="0">
                <a:solidFill>
                  <a:srgbClr val="6C737F"/>
                </a:solidFill>
              </a:rPr>
              <a:t>Values / alignment</a:t>
            </a:r>
            <a:r>
              <a:rPr lang="en-US" sz="1500" dirty="0">
                <a:solidFill>
                  <a:srgbClr val="6C737F"/>
                </a:solidFill>
              </a:rPr>
              <a:t>: can the model reason from within a religious value system?</a:t>
            </a:r>
            <a:endParaRPr lang="en-US" sz="1500" dirty="0"/>
          </a:p>
        </p:txBody>
      </p:sp>
      <p:sp>
        <p:nvSpPr>
          <p:cNvPr id="5" name="Shape 3"/>
          <p:cNvSpPr/>
          <p:nvPr/>
        </p:nvSpPr>
        <p:spPr>
          <a:xfrm>
            <a:off x="777240" y="3886200"/>
            <a:ext cx="9875520" cy="0"/>
          </a:xfrm>
          <a:prstGeom prst="line">
            <a:avLst/>
          </a:prstGeom>
          <a:noFill/>
          <a:ln w="25400">
            <a:solidFill>
              <a:srgbClr val="176B5C"/>
            </a:solidFill>
            <a:prstDash val="solid"/>
          </a:ln>
        </p:spPr>
        <p:txBody>
          <a:bodyPr/>
          <a:p/>
        </p:txBody>
      </p:sp>
      <p:sp>
        <p:nvSpPr>
          <p:cNvPr id="6" name="Text 4"/>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192"/>
            <a:ext cx="2057400" cy="109728"/>
          </a:xfrm>
          <a:prstGeom prst="rect">
            <a:avLst/>
          </a:prstGeom>
          <a:noFill/>
        </p:spPr>
        <p:txBody>
          <a:bodyPr wrap="square" lIns="0" tIns="0" rIns="0" bIns="0" rtlCol="0" anchor="ctr">
            <a:normAutofit/>
          </a:bodyPr>
          <a:lstStyle/>
          <a:p>
            <a:pPr marL="0" indent="0">
              <a:buNone/>
            </a:pPr>
            <a:r>
              <a:rPr lang="en-US" sz="1050" b="1" dirty="0">
                <a:solidFill>
                  <a:srgbClr val="FFFFFF"/>
                </a:solidFill>
              </a:rPr>
              <a:t>TRACK A</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lang="en-US" sz="2800" b="1" dirty="0">
                <a:solidFill>
                  <a:srgbClr val="C00000"/>
                </a:solidFill>
                <a:latin typeface="Aptos Display" pitchFamily="34" charset="0"/>
                <a:ea typeface="Aptos Display" pitchFamily="34" charset="-122"/>
                <a:cs typeface="Aptos Display" pitchFamily="34" charset="-120"/>
              </a:rPr>
              <a:t>Track A</a:t>
            </a:r>
            <a:r>
              <a:rPr lang="en-US" sz="2800" b="1" dirty="0">
                <a:solidFill>
                  <a:srgbClr val="1C1C1C"/>
                </a:solidFill>
                <a:latin typeface="Aptos Display" pitchFamily="34" charset="0"/>
                <a:ea typeface="Aptos Display" pitchFamily="34" charset="-122"/>
                <a:cs typeface="Aptos Display" pitchFamily="34" charset="-120"/>
              </a:rPr>
              <a:t>: few true candidates, high strategic value</a:t>
            </a:r>
            <a:endParaRPr lang="en-US" sz="2800" dirty="0"/>
          </a:p>
        </p:txBody>
      </p:sp>
      <p:sp>
        <p:nvSpPr>
          <p:cNvPr id="5" name="Text 3"/>
          <p:cNvSpPr/>
          <p:nvPr/>
        </p:nvSpPr>
        <p:spPr>
          <a:xfrm>
            <a:off x="530352" y="1298448"/>
            <a:ext cx="10789920" cy="256032"/>
          </a:xfrm>
          <a:prstGeom prst="rect">
            <a:avLst/>
          </a:prstGeom>
          <a:noFill/>
        </p:spPr>
        <p:txBody>
          <a:bodyPr wrap="square" lIns="0" tIns="0" rIns="0" bIns="0" rtlCol="0" anchor="ctr">
            <a:normAutofit/>
          </a:bodyPr>
          <a:lstStyle/>
          <a:p>
            <a:pPr marL="0" indent="0">
              <a:buNone/>
            </a:pPr>
            <a:r>
              <a:rPr lang="en-US" sz="1220" i="1" dirty="0">
                <a:solidFill>
                  <a:srgbClr val="6C737F"/>
                </a:solidFill>
              </a:rPr>
              <a:t>These are the most important for a religious-alignment paper.</a:t>
            </a:r>
            <a:endParaRPr lang="en-US" sz="1220"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07</a:t>
            </a:r>
            <a:endParaRPr lang="en-US" sz="1050" dirty="0"/>
          </a:p>
        </p:txBody>
      </p:sp>
      <p:sp>
        <p:nvSpPr>
          <p:cNvPr id="8" name="Shape 6"/>
          <p:cNvSpPr/>
          <p:nvPr/>
        </p:nvSpPr>
        <p:spPr>
          <a:xfrm>
            <a:off x="566928" y="1847088"/>
            <a:ext cx="1325880" cy="384048"/>
          </a:xfrm>
          <a:prstGeom prst="rect">
            <a:avLst/>
          </a:prstGeom>
          <a:solidFill>
            <a:srgbClr val="176B5C"/>
          </a:solidFill>
          <a:ln w="6985">
            <a:solidFill>
              <a:srgbClr val="D6DAE0"/>
            </a:solidFill>
            <a:prstDash val="solid"/>
          </a:ln>
        </p:spPr>
        <p:txBody>
          <a:bodyPr/>
          <a:p/>
        </p:txBody>
      </p:sp>
      <p:sp>
        <p:nvSpPr>
          <p:cNvPr id="9" name="Text 7"/>
          <p:cNvSpPr/>
          <p:nvPr/>
        </p:nvSpPr>
        <p:spPr>
          <a:xfrm>
            <a:off x="621792" y="1897380"/>
            <a:ext cx="1216152" cy="310896"/>
          </a:xfrm>
          <a:prstGeom prst="rect">
            <a:avLst/>
          </a:prstGeom>
          <a:noFill/>
        </p:spPr>
        <p:txBody>
          <a:bodyPr wrap="square" lIns="0" tIns="0" rIns="0" bIns="0" rtlCol="0" anchor="ctr">
            <a:normAutofit/>
          </a:bodyPr>
          <a:lstStyle/>
          <a:p>
            <a:pPr marL="0" indent="0">
              <a:buNone/>
            </a:pPr>
            <a:r>
              <a:rPr lang="en-US" sz="980" b="1" dirty="0">
                <a:solidFill>
                  <a:srgbClr val="FFFFFF"/>
                </a:solidFill>
              </a:rPr>
              <a:t>Tier</a:t>
            </a:r>
            <a:endParaRPr lang="en-US" sz="980" dirty="0"/>
          </a:p>
        </p:txBody>
      </p:sp>
      <p:sp>
        <p:nvSpPr>
          <p:cNvPr id="10" name="Shape 8"/>
          <p:cNvSpPr/>
          <p:nvPr/>
        </p:nvSpPr>
        <p:spPr>
          <a:xfrm>
            <a:off x="1892808" y="1847088"/>
            <a:ext cx="2240280" cy="384048"/>
          </a:xfrm>
          <a:prstGeom prst="rect">
            <a:avLst/>
          </a:prstGeom>
          <a:solidFill>
            <a:srgbClr val="176B5C"/>
          </a:solidFill>
          <a:ln w="6985">
            <a:solidFill>
              <a:srgbClr val="D6DAE0"/>
            </a:solidFill>
            <a:prstDash val="solid"/>
          </a:ln>
        </p:spPr>
        <p:txBody>
          <a:bodyPr/>
          <a:p/>
        </p:txBody>
      </p:sp>
      <p:sp>
        <p:nvSpPr>
          <p:cNvPr id="11" name="Text 9"/>
          <p:cNvSpPr/>
          <p:nvPr/>
        </p:nvSpPr>
        <p:spPr>
          <a:xfrm>
            <a:off x="1947672" y="1897380"/>
            <a:ext cx="2130552" cy="310896"/>
          </a:xfrm>
          <a:prstGeom prst="rect">
            <a:avLst/>
          </a:prstGeom>
          <a:noFill/>
        </p:spPr>
        <p:txBody>
          <a:bodyPr wrap="square" lIns="0" tIns="0" rIns="0" bIns="0" rtlCol="0" anchor="ctr">
            <a:normAutofit/>
          </a:bodyPr>
          <a:lstStyle/>
          <a:p>
            <a:pPr marL="0" indent="0">
              <a:buNone/>
            </a:pPr>
            <a:r>
              <a:rPr lang="en-US" sz="980" b="1" dirty="0">
                <a:solidFill>
                  <a:srgbClr val="FFFFFF"/>
                </a:solidFill>
              </a:rPr>
              <a:t>Paper</a:t>
            </a:r>
            <a:endParaRPr lang="en-US" sz="980" dirty="0"/>
          </a:p>
        </p:txBody>
      </p:sp>
      <p:sp>
        <p:nvSpPr>
          <p:cNvPr id="12" name="Shape 10"/>
          <p:cNvSpPr/>
          <p:nvPr/>
        </p:nvSpPr>
        <p:spPr>
          <a:xfrm>
            <a:off x="4133088" y="1847088"/>
            <a:ext cx="6035040" cy="384048"/>
          </a:xfrm>
          <a:prstGeom prst="rect">
            <a:avLst/>
          </a:prstGeom>
          <a:solidFill>
            <a:srgbClr val="176B5C"/>
          </a:solidFill>
          <a:ln w="6985">
            <a:solidFill>
              <a:srgbClr val="D6DAE0"/>
            </a:solidFill>
            <a:prstDash val="solid"/>
          </a:ln>
        </p:spPr>
        <p:txBody>
          <a:bodyPr/>
          <a:p/>
        </p:txBody>
      </p:sp>
      <p:sp>
        <p:nvSpPr>
          <p:cNvPr id="13" name="Text 11"/>
          <p:cNvSpPr/>
          <p:nvPr/>
        </p:nvSpPr>
        <p:spPr>
          <a:xfrm>
            <a:off x="4187952" y="1897380"/>
            <a:ext cx="5925312" cy="310896"/>
          </a:xfrm>
          <a:prstGeom prst="rect">
            <a:avLst/>
          </a:prstGeom>
          <a:noFill/>
        </p:spPr>
        <p:txBody>
          <a:bodyPr wrap="square" lIns="0" tIns="0" rIns="0" bIns="0" rtlCol="0" anchor="ctr">
            <a:normAutofit/>
          </a:bodyPr>
          <a:lstStyle/>
          <a:p>
            <a:pPr marL="0" indent="0">
              <a:buNone/>
            </a:pPr>
            <a:r>
              <a:rPr lang="en-US" sz="980" b="1" dirty="0">
                <a:solidFill>
                  <a:srgbClr val="FFFFFF"/>
                </a:solidFill>
              </a:rPr>
              <a:t>Why it belongs in </a:t>
            </a:r>
            <a:r>
              <a:rPr lang="en-US" sz="980" b="1" dirty="0">
                <a:solidFill>
                  <a:srgbClr val="FFFFFF"/>
                </a:solidFill>
              </a:rPr>
              <a:t>Track A</a:t>
            </a:r>
            <a:endParaRPr lang="en-US" sz="980" dirty="0"/>
          </a:p>
        </p:txBody>
      </p:sp>
      <p:sp>
        <p:nvSpPr>
          <p:cNvPr id="14" name="Shape 12"/>
          <p:cNvSpPr/>
          <p:nvPr/>
        </p:nvSpPr>
        <p:spPr>
          <a:xfrm>
            <a:off x="10168128" y="1847088"/>
            <a:ext cx="1481328" cy="384048"/>
          </a:xfrm>
          <a:prstGeom prst="rect">
            <a:avLst/>
          </a:prstGeom>
          <a:solidFill>
            <a:srgbClr val="176B5C"/>
          </a:solidFill>
          <a:ln w="6985">
            <a:solidFill>
              <a:srgbClr val="D6DAE0"/>
            </a:solidFill>
            <a:prstDash val="solid"/>
          </a:ln>
        </p:spPr>
        <p:txBody>
          <a:bodyPr/>
          <a:p/>
        </p:txBody>
      </p:sp>
      <p:sp>
        <p:nvSpPr>
          <p:cNvPr id="15" name="Text 13"/>
          <p:cNvSpPr/>
          <p:nvPr/>
        </p:nvSpPr>
        <p:spPr>
          <a:xfrm>
            <a:off x="10222992" y="1897380"/>
            <a:ext cx="1371600" cy="310896"/>
          </a:xfrm>
          <a:prstGeom prst="rect">
            <a:avLst/>
          </a:prstGeom>
          <a:noFill/>
        </p:spPr>
        <p:txBody>
          <a:bodyPr wrap="square" lIns="0" tIns="0" rIns="0" bIns="0" rtlCol="0" anchor="ctr">
            <a:normAutofit/>
          </a:bodyPr>
          <a:lstStyle/>
          <a:p>
            <a:pPr marL="0" indent="0">
              <a:buNone/>
            </a:pPr>
            <a:r>
              <a:rPr lang="en-US" sz="980" b="1" dirty="0">
                <a:solidFill>
                  <a:srgbClr val="FFFFFF"/>
                </a:solidFill>
              </a:rPr>
              <a:t>Status</a:t>
            </a:r>
            <a:endParaRPr lang="en-US" sz="980" dirty="0"/>
          </a:p>
        </p:txBody>
      </p:sp>
      <p:sp>
        <p:nvSpPr>
          <p:cNvPr id="16" name="Shape 14"/>
          <p:cNvSpPr/>
          <p:nvPr/>
        </p:nvSpPr>
        <p:spPr>
          <a:xfrm>
            <a:off x="566928" y="2231136"/>
            <a:ext cx="1325880" cy="679704"/>
          </a:xfrm>
          <a:prstGeom prst="rect">
            <a:avLst/>
          </a:prstGeom>
          <a:solidFill>
            <a:srgbClr val="F5F6F8"/>
          </a:solidFill>
          <a:ln w="6985">
            <a:solidFill>
              <a:srgbClr val="D6DAE0"/>
            </a:solidFill>
            <a:prstDash val="solid"/>
          </a:ln>
        </p:spPr>
        <p:txBody>
          <a:bodyPr/>
          <a:p/>
        </p:txBody>
      </p:sp>
      <p:sp>
        <p:nvSpPr>
          <p:cNvPr id="17" name="Text 15"/>
          <p:cNvSpPr/>
          <p:nvPr/>
        </p:nvSpPr>
        <p:spPr>
          <a:xfrm>
            <a:off x="621792" y="2281428"/>
            <a:ext cx="12161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Tier 1</a:t>
            </a:r>
            <a:endParaRPr lang="en-US" sz="980" dirty="0"/>
          </a:p>
        </p:txBody>
      </p:sp>
      <p:sp>
        <p:nvSpPr>
          <p:cNvPr id="18" name="Shape 16"/>
          <p:cNvSpPr/>
          <p:nvPr/>
        </p:nvSpPr>
        <p:spPr>
          <a:xfrm>
            <a:off x="1892808" y="2231136"/>
            <a:ext cx="2240280" cy="679704"/>
          </a:xfrm>
          <a:prstGeom prst="rect">
            <a:avLst/>
          </a:prstGeom>
          <a:solidFill>
            <a:srgbClr val="F5F6F8"/>
          </a:solidFill>
          <a:ln w="6985">
            <a:solidFill>
              <a:srgbClr val="D6DAE0"/>
            </a:solidFill>
            <a:prstDash val="solid"/>
          </a:ln>
        </p:spPr>
        <p:txBody>
          <a:bodyPr/>
          <a:p/>
        </p:txBody>
      </p:sp>
      <p:sp>
        <p:nvSpPr>
          <p:cNvPr id="19" name="Text 17"/>
          <p:cNvSpPr/>
          <p:nvPr/>
        </p:nvSpPr>
        <p:spPr>
          <a:xfrm>
            <a:off x="1947672" y="2281428"/>
            <a:ext cx="21305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#35 IslamTrust</a:t>
            </a:r>
            <a:endParaRPr lang="en-US" sz="980" dirty="0"/>
          </a:p>
        </p:txBody>
      </p:sp>
      <p:sp>
        <p:nvSpPr>
          <p:cNvPr id="20" name="Shape 18"/>
          <p:cNvSpPr/>
          <p:nvPr/>
        </p:nvSpPr>
        <p:spPr>
          <a:xfrm>
            <a:off x="4133088" y="2231136"/>
            <a:ext cx="6035040" cy="679704"/>
          </a:xfrm>
          <a:prstGeom prst="rect">
            <a:avLst/>
          </a:prstGeom>
          <a:solidFill>
            <a:srgbClr val="F5F6F8"/>
          </a:solidFill>
          <a:ln w="6985">
            <a:solidFill>
              <a:srgbClr val="D6DAE0"/>
            </a:solidFill>
            <a:prstDash val="solid"/>
          </a:ln>
        </p:spPr>
        <p:txBody>
          <a:bodyPr/>
          <a:p/>
        </p:txBody>
      </p:sp>
      <p:sp>
        <p:nvSpPr>
          <p:cNvPr id="21" name="Text 19"/>
          <p:cNvSpPr/>
          <p:nvPr/>
        </p:nvSpPr>
        <p:spPr>
          <a:xfrm>
            <a:off x="4187952" y="2281428"/>
            <a:ext cx="5925312" cy="606552"/>
          </a:xfrm>
          <a:prstGeom prst="rect">
            <a:avLst/>
          </a:prstGeom>
          <a:noFill/>
        </p:spPr>
        <p:txBody>
          <a:bodyPr wrap="square" lIns="0" tIns="0" rIns="0" bIns="0" rtlCol="0" anchor="ctr">
            <a:normAutofit/>
          </a:bodyPr>
          <a:lstStyle/>
          <a:p>
            <a:pPr marL="0" indent="0">
              <a:buNone/>
            </a:pPr>
            <a:r>
              <a:rPr lang="en-US" sz="980" dirty="0">
                <a:solidFill>
                  <a:srgbClr val="1C1C1C"/>
                </a:solidFill>
              </a:rPr>
              <a:t>Directly evaluates whether LLMs align with Islamic values rather than </a:t>
            </a:r>
            <a:r>
              <a:rPr lang="en-US" sz="980" b="1" dirty="0">
                <a:solidFill>
                  <a:srgbClr val="1C1C1C"/>
                </a:solidFill>
              </a:rPr>
              <a:t>generic secular ethics</a:t>
            </a:r>
            <a:r>
              <a:rPr lang="en-US" sz="980" dirty="0">
                <a:solidFill>
                  <a:srgbClr val="1C1C1C"/>
                </a:solidFill>
              </a:rPr>
              <a:t>.</a:t>
            </a:r>
            <a:endParaRPr lang="en-US" sz="980" dirty="0"/>
          </a:p>
        </p:txBody>
      </p:sp>
      <p:sp>
        <p:nvSpPr>
          <p:cNvPr id="22" name="Shape 20"/>
          <p:cNvSpPr/>
          <p:nvPr/>
        </p:nvSpPr>
        <p:spPr>
          <a:xfrm>
            <a:off x="10168128" y="2231136"/>
            <a:ext cx="1481328" cy="679704"/>
          </a:xfrm>
          <a:prstGeom prst="rect">
            <a:avLst/>
          </a:prstGeom>
          <a:solidFill>
            <a:srgbClr val="F5F6F8"/>
          </a:solidFill>
          <a:ln w="6985">
            <a:solidFill>
              <a:srgbClr val="D6DAE0"/>
            </a:solidFill>
            <a:prstDash val="solid"/>
          </a:ln>
        </p:spPr>
        <p:txBody>
          <a:bodyPr/>
          <a:p/>
        </p:txBody>
      </p:sp>
      <p:sp>
        <p:nvSpPr>
          <p:cNvPr id="23" name="Text 21"/>
          <p:cNvSpPr/>
          <p:nvPr/>
        </p:nvSpPr>
        <p:spPr>
          <a:xfrm>
            <a:off x="10222992" y="2281428"/>
            <a:ext cx="1371600"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Run now</a:t>
            </a:r>
            <a:endParaRPr lang="en-US" sz="980" dirty="0"/>
          </a:p>
        </p:txBody>
      </p:sp>
      <p:sp>
        <p:nvSpPr>
          <p:cNvPr id="24" name="Shape 22"/>
          <p:cNvSpPr/>
          <p:nvPr/>
        </p:nvSpPr>
        <p:spPr>
          <a:xfrm>
            <a:off x="566928" y="2910840"/>
            <a:ext cx="1325880" cy="679704"/>
          </a:xfrm>
          <a:prstGeom prst="rect">
            <a:avLst/>
          </a:prstGeom>
          <a:solidFill>
            <a:srgbClr val="FFFFFF"/>
          </a:solidFill>
          <a:ln w="6985">
            <a:solidFill>
              <a:srgbClr val="D6DAE0"/>
            </a:solidFill>
            <a:prstDash val="solid"/>
          </a:ln>
        </p:spPr>
        <p:txBody>
          <a:bodyPr/>
          <a:p/>
        </p:txBody>
      </p:sp>
      <p:sp>
        <p:nvSpPr>
          <p:cNvPr id="25" name="Text 23"/>
          <p:cNvSpPr/>
          <p:nvPr/>
        </p:nvSpPr>
        <p:spPr>
          <a:xfrm>
            <a:off x="621792" y="2961132"/>
            <a:ext cx="12161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Tier 1</a:t>
            </a:r>
            <a:endParaRPr lang="en-US" sz="980" dirty="0"/>
          </a:p>
        </p:txBody>
      </p:sp>
      <p:sp>
        <p:nvSpPr>
          <p:cNvPr id="26" name="Shape 24"/>
          <p:cNvSpPr/>
          <p:nvPr/>
        </p:nvSpPr>
        <p:spPr>
          <a:xfrm>
            <a:off x="1892808" y="2910840"/>
            <a:ext cx="2240280" cy="679704"/>
          </a:xfrm>
          <a:prstGeom prst="rect">
            <a:avLst/>
          </a:prstGeom>
          <a:solidFill>
            <a:srgbClr val="FFFFFF"/>
          </a:solidFill>
          <a:ln w="6985">
            <a:solidFill>
              <a:srgbClr val="D6DAE0"/>
            </a:solidFill>
            <a:prstDash val="solid"/>
          </a:ln>
        </p:spPr>
        <p:txBody>
          <a:bodyPr/>
          <a:p/>
        </p:txBody>
      </p:sp>
      <p:sp>
        <p:nvSpPr>
          <p:cNvPr id="27" name="Text 25"/>
          <p:cNvSpPr/>
          <p:nvPr/>
        </p:nvSpPr>
        <p:spPr>
          <a:xfrm>
            <a:off x="1947672" y="2961132"/>
            <a:ext cx="21305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#47 CatholicBench</a:t>
            </a:r>
            <a:endParaRPr lang="en-US" sz="980" dirty="0"/>
          </a:p>
        </p:txBody>
      </p:sp>
      <p:sp>
        <p:nvSpPr>
          <p:cNvPr id="28" name="Shape 26"/>
          <p:cNvSpPr/>
          <p:nvPr/>
        </p:nvSpPr>
        <p:spPr>
          <a:xfrm>
            <a:off x="4133088" y="2910840"/>
            <a:ext cx="6035040" cy="679704"/>
          </a:xfrm>
          <a:prstGeom prst="rect">
            <a:avLst/>
          </a:prstGeom>
          <a:solidFill>
            <a:srgbClr val="FFFFFF"/>
          </a:solidFill>
          <a:ln w="6985">
            <a:solidFill>
              <a:srgbClr val="D6DAE0"/>
            </a:solidFill>
            <a:prstDash val="solid"/>
          </a:ln>
        </p:spPr>
        <p:txBody>
          <a:bodyPr/>
          <a:p/>
        </p:txBody>
      </p:sp>
      <p:sp>
        <p:nvSpPr>
          <p:cNvPr id="29" name="Text 27"/>
          <p:cNvSpPr/>
          <p:nvPr/>
        </p:nvSpPr>
        <p:spPr>
          <a:xfrm>
            <a:off x="4187952" y="2961132"/>
            <a:ext cx="5925312" cy="606552"/>
          </a:xfrm>
          <a:prstGeom prst="rect">
            <a:avLst/>
          </a:prstGeom>
          <a:noFill/>
        </p:spPr>
        <p:txBody>
          <a:bodyPr wrap="square" lIns="0" tIns="0" rIns="0" bIns="0" rtlCol="0" anchor="ctr">
            <a:normAutofit/>
          </a:bodyPr>
          <a:lstStyle/>
          <a:p>
            <a:pPr marL="0" indent="0">
              <a:buNone/>
            </a:pPr>
            <a:r>
              <a:rPr lang="en-US" sz="980" dirty="0">
                <a:solidFill>
                  <a:srgbClr val="1C1C1C"/>
                </a:solidFill>
              </a:rPr>
              <a:t>Tests Catholic </a:t>
            </a:r>
            <a:r>
              <a:rPr lang="en-US" sz="980" b="1" dirty="0">
                <a:solidFill>
                  <a:srgbClr val="1C1C1C"/>
                </a:solidFill>
              </a:rPr>
              <a:t>doctrine</a:t>
            </a:r>
            <a:r>
              <a:rPr lang="en-US" sz="980" dirty="0">
                <a:solidFill>
                  <a:srgbClr val="1C1C1C"/>
                </a:solidFill>
              </a:rPr>
              <a:t> together with </a:t>
            </a:r>
            <a:r>
              <a:rPr lang="en-US" sz="980" b="1" dirty="0">
                <a:solidFill>
                  <a:srgbClr val="1C1C1C"/>
                </a:solidFill>
              </a:rPr>
              <a:t>pastoral charity</a:t>
            </a:r>
            <a:r>
              <a:rPr lang="en-US" sz="980" dirty="0">
                <a:solidFill>
                  <a:srgbClr val="1C1C1C"/>
                </a:solidFill>
              </a:rPr>
              <a:t>, </a:t>
            </a:r>
            <a:r>
              <a:rPr lang="en-US" sz="980" b="1" dirty="0">
                <a:solidFill>
                  <a:srgbClr val="1C1C1C"/>
                </a:solidFill>
              </a:rPr>
              <a:t>moral theology</a:t>
            </a:r>
            <a:r>
              <a:rPr lang="en-US" sz="980" dirty="0">
                <a:solidFill>
                  <a:srgbClr val="1C1C1C"/>
                </a:solidFill>
              </a:rPr>
              <a:t>, and </a:t>
            </a:r>
            <a:r>
              <a:rPr lang="en-US" sz="980" b="1" dirty="0">
                <a:solidFill>
                  <a:srgbClr val="1C1C1C"/>
                </a:solidFill>
              </a:rPr>
              <a:t>applied Catholic reasoning</a:t>
            </a:r>
            <a:r>
              <a:rPr lang="en-US" sz="980" dirty="0">
                <a:solidFill>
                  <a:srgbClr val="1C1C1C"/>
                </a:solidFill>
              </a:rPr>
              <a:t>.</a:t>
            </a:r>
            <a:endParaRPr lang="en-US" sz="980" dirty="0"/>
          </a:p>
        </p:txBody>
      </p:sp>
      <p:sp>
        <p:nvSpPr>
          <p:cNvPr id="30" name="Shape 28"/>
          <p:cNvSpPr/>
          <p:nvPr/>
        </p:nvSpPr>
        <p:spPr>
          <a:xfrm>
            <a:off x="10168128" y="2910840"/>
            <a:ext cx="1481328" cy="679704"/>
          </a:xfrm>
          <a:prstGeom prst="rect">
            <a:avLst/>
          </a:prstGeom>
          <a:solidFill>
            <a:srgbClr val="FFFFFF"/>
          </a:solidFill>
          <a:ln w="6985">
            <a:solidFill>
              <a:srgbClr val="D6DAE0"/>
            </a:solidFill>
            <a:prstDash val="solid"/>
          </a:ln>
        </p:spPr>
        <p:txBody>
          <a:bodyPr/>
          <a:p/>
        </p:txBody>
      </p:sp>
      <p:sp>
        <p:nvSpPr>
          <p:cNvPr id="31" name="Text 29"/>
          <p:cNvSpPr/>
          <p:nvPr/>
        </p:nvSpPr>
        <p:spPr>
          <a:xfrm>
            <a:off x="10222992" y="2961132"/>
            <a:ext cx="1371600"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Run / audit</a:t>
            </a:r>
            <a:endParaRPr lang="en-US" sz="980" dirty="0"/>
          </a:p>
        </p:txBody>
      </p:sp>
      <p:sp>
        <p:nvSpPr>
          <p:cNvPr id="32" name="Shape 30"/>
          <p:cNvSpPr/>
          <p:nvPr/>
        </p:nvSpPr>
        <p:spPr>
          <a:xfrm>
            <a:off x="566928" y="3590544"/>
            <a:ext cx="1325880" cy="679704"/>
          </a:xfrm>
          <a:prstGeom prst="rect">
            <a:avLst/>
          </a:prstGeom>
          <a:solidFill>
            <a:srgbClr val="F5F6F8"/>
          </a:solidFill>
          <a:ln w="6985">
            <a:solidFill>
              <a:srgbClr val="D6DAE0"/>
            </a:solidFill>
            <a:prstDash val="solid"/>
          </a:ln>
        </p:spPr>
        <p:txBody>
          <a:bodyPr/>
          <a:p/>
        </p:txBody>
      </p:sp>
      <p:sp>
        <p:nvSpPr>
          <p:cNvPr id="33" name="Text 31"/>
          <p:cNvSpPr/>
          <p:nvPr/>
        </p:nvSpPr>
        <p:spPr>
          <a:xfrm>
            <a:off x="621792" y="3640836"/>
            <a:ext cx="12161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Tier 1</a:t>
            </a:r>
            <a:endParaRPr lang="en-US" sz="980" dirty="0"/>
          </a:p>
        </p:txBody>
      </p:sp>
      <p:sp>
        <p:nvSpPr>
          <p:cNvPr id="34" name="Shape 32"/>
          <p:cNvSpPr/>
          <p:nvPr/>
        </p:nvSpPr>
        <p:spPr>
          <a:xfrm>
            <a:off x="1892808" y="3590544"/>
            <a:ext cx="2240280" cy="679704"/>
          </a:xfrm>
          <a:prstGeom prst="rect">
            <a:avLst/>
          </a:prstGeom>
          <a:solidFill>
            <a:srgbClr val="F5F6F8"/>
          </a:solidFill>
          <a:ln w="6985">
            <a:solidFill>
              <a:srgbClr val="D6DAE0"/>
            </a:solidFill>
            <a:prstDash val="solid"/>
          </a:ln>
        </p:spPr>
        <p:txBody>
          <a:bodyPr/>
          <a:p/>
        </p:txBody>
      </p:sp>
      <p:sp>
        <p:nvSpPr>
          <p:cNvPr id="35" name="Text 33"/>
          <p:cNvSpPr/>
          <p:nvPr/>
        </p:nvSpPr>
        <p:spPr>
          <a:xfrm>
            <a:off x="1947672" y="3640836"/>
            <a:ext cx="21305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#26 BuddhismEval</a:t>
            </a:r>
            <a:endParaRPr lang="en-US" sz="980" dirty="0"/>
          </a:p>
        </p:txBody>
      </p:sp>
      <p:sp>
        <p:nvSpPr>
          <p:cNvPr id="36" name="Shape 34"/>
          <p:cNvSpPr/>
          <p:nvPr/>
        </p:nvSpPr>
        <p:spPr>
          <a:xfrm>
            <a:off x="4133088" y="3590544"/>
            <a:ext cx="6035040" cy="679704"/>
          </a:xfrm>
          <a:prstGeom prst="rect">
            <a:avLst/>
          </a:prstGeom>
          <a:solidFill>
            <a:srgbClr val="F5F6F8"/>
          </a:solidFill>
          <a:ln w="6985">
            <a:solidFill>
              <a:srgbClr val="D6DAE0"/>
            </a:solidFill>
            <a:prstDash val="solid"/>
          </a:ln>
        </p:spPr>
        <p:txBody>
          <a:bodyPr/>
          <a:p/>
        </p:txBody>
      </p:sp>
      <p:sp>
        <p:nvSpPr>
          <p:cNvPr id="37" name="Text 35"/>
          <p:cNvSpPr/>
          <p:nvPr/>
        </p:nvSpPr>
        <p:spPr>
          <a:xfrm>
            <a:off x="4187952" y="3640836"/>
            <a:ext cx="5925312" cy="606552"/>
          </a:xfrm>
          <a:prstGeom prst="rect">
            <a:avLst/>
          </a:prstGeom>
          <a:noFill/>
        </p:spPr>
        <p:txBody>
          <a:bodyPr wrap="square" lIns="0" tIns="0" rIns="0" bIns="0" rtlCol="0" anchor="ctr">
            <a:normAutofit/>
          </a:bodyPr>
          <a:lstStyle/>
          <a:p>
            <a:pPr marL="0" indent="0">
              <a:buNone/>
            </a:pPr>
            <a:r>
              <a:rPr lang="en-US" sz="980" dirty="0">
                <a:solidFill>
                  <a:srgbClr val="1C1C1C"/>
                </a:solidFill>
              </a:rPr>
              <a:t>Ready-to-run non-Abrahamic benchmark with Buddhist ethical and philosophical reasoning.</a:t>
            </a:r>
            <a:endParaRPr lang="en-US" sz="980" dirty="0"/>
          </a:p>
        </p:txBody>
      </p:sp>
      <p:sp>
        <p:nvSpPr>
          <p:cNvPr id="38" name="Shape 36"/>
          <p:cNvSpPr/>
          <p:nvPr/>
        </p:nvSpPr>
        <p:spPr>
          <a:xfrm>
            <a:off x="10168128" y="3590544"/>
            <a:ext cx="1481328" cy="679704"/>
          </a:xfrm>
          <a:prstGeom prst="rect">
            <a:avLst/>
          </a:prstGeom>
          <a:solidFill>
            <a:srgbClr val="F5F6F8"/>
          </a:solidFill>
          <a:ln w="6985">
            <a:solidFill>
              <a:srgbClr val="D6DAE0"/>
            </a:solidFill>
            <a:prstDash val="solid"/>
          </a:ln>
        </p:spPr>
        <p:txBody>
          <a:bodyPr/>
          <a:p/>
        </p:txBody>
      </p:sp>
      <p:sp>
        <p:nvSpPr>
          <p:cNvPr id="39" name="Text 37"/>
          <p:cNvSpPr/>
          <p:nvPr/>
        </p:nvSpPr>
        <p:spPr>
          <a:xfrm>
            <a:off x="10222992" y="3640836"/>
            <a:ext cx="1371600"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Run now</a:t>
            </a:r>
            <a:endParaRPr lang="en-US" sz="980" dirty="0"/>
          </a:p>
        </p:txBody>
      </p:sp>
      <p:sp>
        <p:nvSpPr>
          <p:cNvPr id="40" name="Shape 38"/>
          <p:cNvSpPr/>
          <p:nvPr/>
        </p:nvSpPr>
        <p:spPr>
          <a:xfrm>
            <a:off x="566928" y="4270248"/>
            <a:ext cx="1325880" cy="679704"/>
          </a:xfrm>
          <a:prstGeom prst="rect">
            <a:avLst/>
          </a:prstGeom>
          <a:solidFill>
            <a:srgbClr val="FFFFFF"/>
          </a:solidFill>
          <a:ln w="6985">
            <a:solidFill>
              <a:srgbClr val="D6DAE0"/>
            </a:solidFill>
            <a:prstDash val="solid"/>
          </a:ln>
        </p:spPr>
        <p:txBody>
          <a:bodyPr/>
          <a:p/>
        </p:txBody>
      </p:sp>
      <p:sp>
        <p:nvSpPr>
          <p:cNvPr id="41" name="Text 39"/>
          <p:cNvSpPr/>
          <p:nvPr/>
        </p:nvSpPr>
        <p:spPr>
          <a:xfrm>
            <a:off x="621792" y="4320540"/>
            <a:ext cx="12161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Tier 2 build</a:t>
            </a:r>
            <a:endParaRPr lang="en-US" sz="980" dirty="0"/>
          </a:p>
        </p:txBody>
      </p:sp>
      <p:sp>
        <p:nvSpPr>
          <p:cNvPr id="42" name="Shape 40"/>
          <p:cNvSpPr/>
          <p:nvPr/>
        </p:nvSpPr>
        <p:spPr>
          <a:xfrm>
            <a:off x="1892808" y="4270248"/>
            <a:ext cx="2240280" cy="679704"/>
          </a:xfrm>
          <a:prstGeom prst="rect">
            <a:avLst/>
          </a:prstGeom>
          <a:solidFill>
            <a:srgbClr val="FFFFFF"/>
          </a:solidFill>
          <a:ln w="6985">
            <a:solidFill>
              <a:srgbClr val="D6DAE0"/>
            </a:solidFill>
            <a:prstDash val="solid"/>
          </a:ln>
        </p:spPr>
        <p:txBody>
          <a:bodyPr/>
          <a:p/>
        </p:txBody>
      </p:sp>
      <p:sp>
        <p:nvSpPr>
          <p:cNvPr id="43" name="Text 41"/>
          <p:cNvSpPr/>
          <p:nvPr/>
        </p:nvSpPr>
        <p:spPr>
          <a:xfrm>
            <a:off x="1947672" y="4320540"/>
            <a:ext cx="21305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#34 Confucian Analects</a:t>
            </a:r>
            <a:endParaRPr lang="en-US" sz="980" dirty="0"/>
          </a:p>
        </p:txBody>
      </p:sp>
      <p:sp>
        <p:nvSpPr>
          <p:cNvPr id="44" name="Shape 42"/>
          <p:cNvSpPr/>
          <p:nvPr/>
        </p:nvSpPr>
        <p:spPr>
          <a:xfrm>
            <a:off x="4133088" y="4270248"/>
            <a:ext cx="6035040" cy="679704"/>
          </a:xfrm>
          <a:prstGeom prst="rect">
            <a:avLst/>
          </a:prstGeom>
          <a:solidFill>
            <a:srgbClr val="FFFFFF"/>
          </a:solidFill>
          <a:ln w="6985">
            <a:solidFill>
              <a:srgbClr val="D6DAE0"/>
            </a:solidFill>
            <a:prstDash val="solid"/>
          </a:ln>
        </p:spPr>
        <p:txBody>
          <a:bodyPr/>
          <a:p/>
        </p:txBody>
      </p:sp>
      <p:sp>
        <p:nvSpPr>
          <p:cNvPr id="45" name="Text 43"/>
          <p:cNvSpPr/>
          <p:nvPr/>
        </p:nvSpPr>
        <p:spPr>
          <a:xfrm>
            <a:off x="4187952" y="4320540"/>
            <a:ext cx="5925312" cy="606552"/>
          </a:xfrm>
          <a:prstGeom prst="rect">
            <a:avLst/>
          </a:prstGeom>
          <a:noFill/>
        </p:spPr>
        <p:txBody>
          <a:bodyPr wrap="square" lIns="0" tIns="0" rIns="0" bIns="0" rtlCol="0" anchor="ctr">
            <a:normAutofit/>
          </a:bodyPr>
          <a:lstStyle/>
          <a:p>
            <a:pPr marL="0" indent="0">
              <a:buNone/>
            </a:pPr>
            <a:r>
              <a:rPr lang="en-US" sz="980" dirty="0">
                <a:solidFill>
                  <a:srgbClr val="1C1C1C"/>
                </a:solidFill>
              </a:rPr>
              <a:t>Strong conceptual fit for Confucian ethical dilemmas, but needs scenarios and </a:t>
            </a:r>
            <a:r>
              <a:rPr lang="en-US" sz="980" b="1" dirty="0">
                <a:solidFill>
                  <a:srgbClr val="1C1C1C"/>
                </a:solidFill>
              </a:rPr>
              <a:t>expert rubric</a:t>
            </a:r>
            <a:r>
              <a:rPr lang="en-US" sz="980" dirty="0">
                <a:solidFill>
                  <a:srgbClr val="1C1C1C"/>
                </a:solidFill>
              </a:rPr>
              <a:t>.</a:t>
            </a:r>
            <a:endParaRPr lang="en-US" sz="980" dirty="0"/>
          </a:p>
        </p:txBody>
      </p:sp>
      <p:sp>
        <p:nvSpPr>
          <p:cNvPr id="46" name="Shape 44"/>
          <p:cNvSpPr/>
          <p:nvPr/>
        </p:nvSpPr>
        <p:spPr>
          <a:xfrm>
            <a:off x="10168128" y="4270248"/>
            <a:ext cx="1481328" cy="679704"/>
          </a:xfrm>
          <a:prstGeom prst="rect">
            <a:avLst/>
          </a:prstGeom>
          <a:solidFill>
            <a:srgbClr val="FFFFFF"/>
          </a:solidFill>
          <a:ln w="6985">
            <a:solidFill>
              <a:srgbClr val="D6DAE0"/>
            </a:solidFill>
            <a:prstDash val="solid"/>
          </a:ln>
        </p:spPr>
        <p:txBody>
          <a:bodyPr/>
          <a:p/>
        </p:txBody>
      </p:sp>
      <p:sp>
        <p:nvSpPr>
          <p:cNvPr id="47" name="Text 45"/>
          <p:cNvSpPr/>
          <p:nvPr/>
        </p:nvSpPr>
        <p:spPr>
          <a:xfrm>
            <a:off x="10222992" y="4320540"/>
            <a:ext cx="1371600"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Build</a:t>
            </a:r>
            <a:endParaRPr lang="en-US" sz="980" dirty="0"/>
          </a:p>
        </p:txBody>
      </p:sp>
      <p:sp>
        <p:nvSpPr>
          <p:cNvPr id="48" name="Shape 46"/>
          <p:cNvSpPr/>
          <p:nvPr/>
        </p:nvSpPr>
        <p:spPr>
          <a:xfrm>
            <a:off x="566928" y="4949952"/>
            <a:ext cx="1325880" cy="679704"/>
          </a:xfrm>
          <a:prstGeom prst="rect">
            <a:avLst/>
          </a:prstGeom>
          <a:solidFill>
            <a:srgbClr val="F5F6F8"/>
          </a:solidFill>
          <a:ln w="6985">
            <a:solidFill>
              <a:srgbClr val="D6DAE0"/>
            </a:solidFill>
            <a:prstDash val="solid"/>
          </a:ln>
        </p:spPr>
        <p:txBody>
          <a:bodyPr/>
          <a:p/>
        </p:txBody>
      </p:sp>
      <p:sp>
        <p:nvSpPr>
          <p:cNvPr id="49" name="Text 47"/>
          <p:cNvSpPr/>
          <p:nvPr/>
        </p:nvSpPr>
        <p:spPr>
          <a:xfrm>
            <a:off x="621792" y="5000244"/>
            <a:ext cx="12161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Tier 2 build</a:t>
            </a:r>
            <a:endParaRPr lang="en-US" sz="980" dirty="0"/>
          </a:p>
        </p:txBody>
      </p:sp>
      <p:sp>
        <p:nvSpPr>
          <p:cNvPr id="50" name="Shape 48"/>
          <p:cNvSpPr/>
          <p:nvPr/>
        </p:nvSpPr>
        <p:spPr>
          <a:xfrm>
            <a:off x="1892808" y="4949952"/>
            <a:ext cx="2240280" cy="679704"/>
          </a:xfrm>
          <a:prstGeom prst="rect">
            <a:avLst/>
          </a:prstGeom>
          <a:solidFill>
            <a:srgbClr val="F5F6F8"/>
          </a:solidFill>
          <a:ln w="6985">
            <a:solidFill>
              <a:srgbClr val="D6DAE0"/>
            </a:solidFill>
            <a:prstDash val="solid"/>
          </a:ln>
        </p:spPr>
        <p:txBody>
          <a:bodyPr/>
          <a:p/>
        </p:txBody>
      </p:sp>
      <p:sp>
        <p:nvSpPr>
          <p:cNvPr id="51" name="Text 49"/>
          <p:cNvSpPr/>
          <p:nvPr/>
        </p:nvSpPr>
        <p:spPr>
          <a:xfrm>
            <a:off x="1947672" y="5000244"/>
            <a:ext cx="21305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#43 Religion &amp; Morality</a:t>
            </a:r>
            <a:r>
              <a:rPr lang="en-US" sz="980" dirty="0">
                <a:solidFill>
                  <a:srgbClr val="1C1C1C"/>
                </a:solidFill>
              </a:rPr>
              <a:t> dataset</a:t>
            </a:r>
            <a:endParaRPr lang="en-US" sz="980" dirty="0"/>
          </a:p>
        </p:txBody>
      </p:sp>
      <p:sp>
        <p:nvSpPr>
          <p:cNvPr id="52" name="Shape 50"/>
          <p:cNvSpPr/>
          <p:nvPr/>
        </p:nvSpPr>
        <p:spPr>
          <a:xfrm>
            <a:off x="4133088" y="4949952"/>
            <a:ext cx="6035040" cy="679704"/>
          </a:xfrm>
          <a:prstGeom prst="rect">
            <a:avLst/>
          </a:prstGeom>
          <a:solidFill>
            <a:srgbClr val="F5F6F8"/>
          </a:solidFill>
          <a:ln w="6985">
            <a:solidFill>
              <a:srgbClr val="D6DAE0"/>
            </a:solidFill>
            <a:prstDash val="solid"/>
          </a:ln>
        </p:spPr>
        <p:txBody>
          <a:bodyPr/>
          <a:p/>
        </p:txBody>
      </p:sp>
      <p:sp>
        <p:nvSpPr>
          <p:cNvPr id="53" name="Text 51"/>
          <p:cNvSpPr/>
          <p:nvPr/>
        </p:nvSpPr>
        <p:spPr>
          <a:xfrm>
            <a:off x="4187952" y="5000244"/>
            <a:ext cx="5925312" cy="606552"/>
          </a:xfrm>
          <a:prstGeom prst="rect">
            <a:avLst/>
          </a:prstGeom>
          <a:noFill/>
        </p:spPr>
        <p:txBody>
          <a:bodyPr wrap="square" lIns="0" tIns="0" rIns="0" bIns="0" rtlCol="0" anchor="ctr">
            <a:normAutofit/>
          </a:bodyPr>
          <a:lstStyle/>
          <a:p>
            <a:pPr marL="0" indent="0">
              <a:buNone/>
            </a:pPr>
            <a:r>
              <a:rPr lang="en-US" sz="980" dirty="0">
                <a:solidFill>
                  <a:srgbClr val="1C1C1C"/>
                </a:solidFill>
              </a:rPr>
              <a:t>Useful for cross-cultural religious-moral scenarios, but not directly an LLM benchmark.</a:t>
            </a:r>
            <a:endParaRPr lang="en-US" sz="980" dirty="0"/>
          </a:p>
        </p:txBody>
      </p:sp>
      <p:sp>
        <p:nvSpPr>
          <p:cNvPr id="54" name="Shape 52"/>
          <p:cNvSpPr/>
          <p:nvPr/>
        </p:nvSpPr>
        <p:spPr>
          <a:xfrm>
            <a:off x="10168128" y="4949952"/>
            <a:ext cx="1481328" cy="679704"/>
          </a:xfrm>
          <a:prstGeom prst="rect">
            <a:avLst/>
          </a:prstGeom>
          <a:solidFill>
            <a:srgbClr val="F5F6F8"/>
          </a:solidFill>
          <a:ln w="6985">
            <a:solidFill>
              <a:srgbClr val="D6DAE0"/>
            </a:solidFill>
            <a:prstDash val="solid"/>
          </a:ln>
        </p:spPr>
        <p:txBody>
          <a:bodyPr/>
          <a:p/>
        </p:txBody>
      </p:sp>
      <p:sp>
        <p:nvSpPr>
          <p:cNvPr id="55" name="Text 53"/>
          <p:cNvSpPr/>
          <p:nvPr/>
        </p:nvSpPr>
        <p:spPr>
          <a:xfrm>
            <a:off x="10222992" y="5000244"/>
            <a:ext cx="1371600"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Build</a:t>
            </a:r>
            <a:endParaRPr lang="en-US" sz="980" dirty="0"/>
          </a:p>
        </p:txBody>
      </p:sp>
      <p:sp>
        <p:nvSpPr>
          <p:cNvPr id="56" name="Shape 54"/>
          <p:cNvSpPr/>
          <p:nvPr/>
        </p:nvSpPr>
        <p:spPr>
          <a:xfrm>
            <a:off x="566928" y="5629656"/>
            <a:ext cx="1325880" cy="679704"/>
          </a:xfrm>
          <a:prstGeom prst="rect">
            <a:avLst/>
          </a:prstGeom>
          <a:solidFill>
            <a:srgbClr val="FFFFFF"/>
          </a:solidFill>
          <a:ln w="6985">
            <a:solidFill>
              <a:srgbClr val="D6DAE0"/>
            </a:solidFill>
            <a:prstDash val="solid"/>
          </a:ln>
        </p:spPr>
        <p:txBody>
          <a:bodyPr/>
          <a:p/>
        </p:txBody>
      </p:sp>
      <p:sp>
        <p:nvSpPr>
          <p:cNvPr id="57" name="Text 55"/>
          <p:cNvSpPr/>
          <p:nvPr/>
        </p:nvSpPr>
        <p:spPr>
          <a:xfrm>
            <a:off x="621792" y="5679948"/>
            <a:ext cx="12161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Bridge</a:t>
            </a:r>
            <a:endParaRPr lang="en-US" sz="980" dirty="0"/>
          </a:p>
        </p:txBody>
      </p:sp>
      <p:sp>
        <p:nvSpPr>
          <p:cNvPr id="58" name="Shape 56"/>
          <p:cNvSpPr/>
          <p:nvPr/>
        </p:nvSpPr>
        <p:spPr>
          <a:xfrm>
            <a:off x="1892808" y="5629656"/>
            <a:ext cx="2240280" cy="679704"/>
          </a:xfrm>
          <a:prstGeom prst="rect">
            <a:avLst/>
          </a:prstGeom>
          <a:solidFill>
            <a:srgbClr val="FFFFFF"/>
          </a:solidFill>
          <a:ln w="6985">
            <a:solidFill>
              <a:srgbClr val="D6DAE0"/>
            </a:solidFill>
            <a:prstDash val="solid"/>
          </a:ln>
        </p:spPr>
        <p:txBody>
          <a:bodyPr/>
          <a:p/>
        </p:txBody>
      </p:sp>
      <p:sp>
        <p:nvSpPr>
          <p:cNvPr id="59" name="Text 57"/>
          <p:cNvSpPr/>
          <p:nvPr/>
        </p:nvSpPr>
        <p:spPr>
          <a:xfrm>
            <a:off x="1947672" y="5679948"/>
            <a:ext cx="21305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#44/#45 FatwaSet</a:t>
            </a:r>
            <a:endParaRPr lang="en-US" sz="980" dirty="0"/>
          </a:p>
        </p:txBody>
      </p:sp>
      <p:sp>
        <p:nvSpPr>
          <p:cNvPr id="60" name="Shape 58"/>
          <p:cNvSpPr/>
          <p:nvPr/>
        </p:nvSpPr>
        <p:spPr>
          <a:xfrm>
            <a:off x="4133088" y="5629656"/>
            <a:ext cx="6035040" cy="679704"/>
          </a:xfrm>
          <a:prstGeom prst="rect">
            <a:avLst/>
          </a:prstGeom>
          <a:solidFill>
            <a:srgbClr val="FFFFFF"/>
          </a:solidFill>
          <a:ln w="6985">
            <a:solidFill>
              <a:srgbClr val="D6DAE0"/>
            </a:solidFill>
            <a:prstDash val="solid"/>
          </a:ln>
        </p:spPr>
        <p:txBody>
          <a:bodyPr/>
          <a:p/>
        </p:txBody>
      </p:sp>
      <p:sp>
        <p:nvSpPr>
          <p:cNvPr id="61" name="Text 59"/>
          <p:cNvSpPr/>
          <p:nvPr/>
        </p:nvSpPr>
        <p:spPr>
          <a:xfrm>
            <a:off x="4187952" y="5679948"/>
            <a:ext cx="5925312" cy="606552"/>
          </a:xfrm>
          <a:prstGeom prst="rect">
            <a:avLst/>
          </a:prstGeom>
          <a:noFill/>
        </p:spPr>
        <p:txBody>
          <a:bodyPr wrap="square" lIns="0" tIns="0" rIns="0" bIns="0" rtlCol="0" anchor="ctr">
            <a:normAutofit/>
          </a:bodyPr>
          <a:lstStyle/>
          <a:p>
            <a:pPr marL="0" indent="0">
              <a:buNone/>
            </a:pPr>
            <a:r>
              <a:rPr lang="en-US" sz="980" dirty="0">
                <a:solidFill>
                  <a:srgbClr val="1C1C1C"/>
                </a:solidFill>
              </a:rPr>
              <a:t>Raw form is fatwa knowledge/</a:t>
            </a:r>
            <a:r>
              <a:rPr lang="en-US" sz="980" b="1" dirty="0">
                <a:solidFill>
                  <a:srgbClr val="1C1C1C"/>
                </a:solidFill>
              </a:rPr>
              <a:t>QA</a:t>
            </a:r>
            <a:r>
              <a:rPr lang="en-US" sz="980" dirty="0">
                <a:solidFill>
                  <a:srgbClr val="1C1C1C"/>
                </a:solidFill>
              </a:rPr>
              <a:t>; can be adapted into </a:t>
            </a:r>
            <a:r>
              <a:rPr lang="en-US" sz="980" b="1" dirty="0">
                <a:solidFill>
                  <a:srgbClr val="1C1C1C"/>
                </a:solidFill>
              </a:rPr>
              <a:t>applied Islamic jurisprudence</a:t>
            </a:r>
            <a:r>
              <a:rPr lang="en-US" sz="980" dirty="0">
                <a:solidFill>
                  <a:srgbClr val="1C1C1C"/>
                </a:solidFill>
              </a:rPr>
              <a:t> and ethical ruling tasks.</a:t>
            </a:r>
            <a:endParaRPr lang="en-US" sz="980" dirty="0"/>
          </a:p>
        </p:txBody>
      </p:sp>
      <p:sp>
        <p:nvSpPr>
          <p:cNvPr id="62" name="Shape 60"/>
          <p:cNvSpPr/>
          <p:nvPr/>
        </p:nvSpPr>
        <p:spPr>
          <a:xfrm>
            <a:off x="10168128" y="5629656"/>
            <a:ext cx="1481328" cy="679704"/>
          </a:xfrm>
          <a:prstGeom prst="rect">
            <a:avLst/>
          </a:prstGeom>
          <a:solidFill>
            <a:srgbClr val="FFFFFF"/>
          </a:solidFill>
          <a:ln w="6985">
            <a:solidFill>
              <a:srgbClr val="D6DAE0"/>
            </a:solidFill>
            <a:prstDash val="solid"/>
          </a:ln>
        </p:spPr>
        <p:txBody>
          <a:bodyPr/>
          <a:p/>
        </p:txBody>
      </p:sp>
      <p:sp>
        <p:nvSpPr>
          <p:cNvPr id="63" name="Text 61"/>
          <p:cNvSpPr/>
          <p:nvPr/>
        </p:nvSpPr>
        <p:spPr>
          <a:xfrm>
            <a:off x="10222992" y="5679948"/>
            <a:ext cx="1371600"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Adapt</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35915"/>
            <a:ext cx="2331720" cy="255905"/>
          </a:xfrm>
          <a:prstGeom prst="rect">
            <a:avLst/>
          </a:prstGeom>
          <a:noFill/>
        </p:spPr>
        <p:txBody>
          <a:bodyPr wrap="square" lIns="0" tIns="0" rIns="0" bIns="0" rtlCol="0" anchor="ctr">
            <a:normAutofit/>
          </a:bodyPr>
          <a:lstStyle/>
          <a:p>
            <a:pPr marL="0" indent="0">
              <a:buNone/>
            </a:pPr>
            <a:r>
              <a:rPr lang="en-US" sz="1050" b="1" dirty="0">
                <a:solidFill>
                  <a:srgbClr val="FFFFFF"/>
                </a:solidFill>
              </a:rPr>
              <a:t>TRACK A - Tier 1 candidate</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lang="en-US" sz="2800" b="1" dirty="0">
                <a:solidFill>
                  <a:srgbClr val="1C1C1C"/>
                </a:solidFill>
                <a:latin typeface="Aptos Display" pitchFamily="34" charset="0"/>
                <a:ea typeface="Aptos Display" pitchFamily="34" charset="-122"/>
                <a:cs typeface="Aptos Display" pitchFamily="34" charset="-120"/>
              </a:rPr>
              <a:t>#35 IslamTrust</a:t>
            </a:r>
            <a:endParaRPr lang="en-US" sz="2800" dirty="0"/>
          </a:p>
        </p:txBody>
      </p:sp>
      <p:sp>
        <p:nvSpPr>
          <p:cNvPr id="5" name="Text 3"/>
          <p:cNvSpPr/>
          <p:nvPr/>
        </p:nvSpPr>
        <p:spPr>
          <a:xfrm>
            <a:off x="530352" y="1298448"/>
            <a:ext cx="10789920" cy="256032"/>
          </a:xfrm>
          <a:prstGeom prst="rect">
            <a:avLst/>
          </a:prstGeom>
          <a:noFill/>
        </p:spPr>
        <p:txBody>
          <a:bodyPr wrap="square" lIns="0" tIns="0" rIns="0" bIns="0" rtlCol="0" anchor="ctr">
            <a:normAutofit/>
          </a:bodyPr>
          <a:lstStyle/>
          <a:p>
            <a:pPr marL="0" indent="0">
              <a:buNone/>
            </a:pPr>
            <a:r>
              <a:rPr lang="en-US" sz="1220" i="1" dirty="0">
                <a:solidFill>
                  <a:srgbClr val="6C737F"/>
                </a:solidFill>
              </a:rPr>
              <a:t>Islamic </a:t>
            </a:r>
            <a:r>
              <a:rPr lang="en-US" sz="1220" b="1" i="1" dirty="0">
                <a:solidFill>
                  <a:srgbClr val="6C737F"/>
                </a:solidFill>
              </a:rPr>
              <a:t>values alignment</a:t>
            </a:r>
            <a:r>
              <a:rPr lang="en-US" sz="1220" i="1" dirty="0">
                <a:solidFill>
                  <a:srgbClr val="6C737F"/>
                </a:solidFill>
              </a:rPr>
              <a:t> rather than Islamic factual recall.</a:t>
            </a:r>
            <a:endParaRPr lang="en-US" sz="1220"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08</a:t>
            </a:r>
            <a:endParaRPr lang="en-US" sz="1050" dirty="0"/>
          </a:p>
        </p:txBody>
      </p:sp>
      <p:sp>
        <p:nvSpPr>
          <p:cNvPr id="8" name="Text 6"/>
          <p:cNvSpPr/>
          <p:nvPr/>
        </p:nvSpPr>
        <p:spPr>
          <a:xfrm>
            <a:off x="640080" y="1847088"/>
            <a:ext cx="3840480" cy="219456"/>
          </a:xfrm>
          <a:prstGeom prst="rect">
            <a:avLst/>
          </a:prstGeom>
          <a:noFill/>
        </p:spPr>
        <p:txBody>
          <a:bodyPr wrap="square" lIns="0" tIns="0" rIns="0" bIns="0" rtlCol="0" anchor="ctr">
            <a:normAutofit/>
          </a:bodyPr>
          <a:lstStyle/>
          <a:p>
            <a:pPr marL="0" indent="0">
              <a:buNone/>
            </a:pPr>
            <a:r>
              <a:rPr lang="en-US" sz="1500" b="1" dirty="0">
                <a:solidFill>
                  <a:srgbClr val="176B5C"/>
                </a:solidFill>
              </a:rPr>
              <a:t>#35 IslamTrust</a:t>
            </a:r>
            <a:endParaRPr lang="en-US" sz="1500" dirty="0"/>
          </a:p>
        </p:txBody>
      </p:sp>
      <p:sp>
        <p:nvSpPr>
          <p:cNvPr id="9" name="Text 7"/>
          <p:cNvSpPr/>
          <p:nvPr/>
        </p:nvSpPr>
        <p:spPr>
          <a:xfrm>
            <a:off x="640080" y="2148840"/>
            <a:ext cx="8595360" cy="237744"/>
          </a:xfrm>
          <a:prstGeom prst="rect">
            <a:avLst/>
          </a:prstGeom>
          <a:noFill/>
        </p:spPr>
        <p:txBody>
          <a:bodyPr wrap="square" lIns="0" tIns="0" rIns="0" bIns="0" rtlCol="0" anchor="ctr">
            <a:normAutofit/>
          </a:bodyPr>
          <a:lstStyle/>
          <a:p>
            <a:pPr marL="0" indent="0">
              <a:buNone/>
            </a:pPr>
            <a:r>
              <a:rPr lang="en-US" sz="1220" i="1" dirty="0">
                <a:solidFill>
                  <a:srgbClr val="6C737F"/>
                </a:solidFill>
              </a:rPr>
              <a:t>Direct </a:t>
            </a:r>
            <a:r>
              <a:rPr lang="en-US" sz="1220" b="1" i="1" dirty="0">
                <a:solidFill>
                  <a:srgbClr val="6C737F"/>
                </a:solidFill>
              </a:rPr>
              <a:t>Track A</a:t>
            </a:r>
            <a:r>
              <a:rPr lang="en-US" sz="1220" i="1" dirty="0">
                <a:solidFill>
                  <a:srgbClr val="6C737F"/>
                </a:solidFill>
              </a:rPr>
              <a:t> candidate</a:t>
            </a:r>
            <a:endParaRPr lang="en-US" sz="1220" dirty="0"/>
          </a:p>
        </p:txBody>
      </p:sp>
      <p:sp>
        <p:nvSpPr>
          <p:cNvPr id="10" name="Shape 8"/>
          <p:cNvSpPr/>
          <p:nvPr/>
        </p:nvSpPr>
        <p:spPr>
          <a:xfrm>
            <a:off x="640080" y="2542032"/>
            <a:ext cx="10881360" cy="530352"/>
          </a:xfrm>
          <a:prstGeom prst="rect">
            <a:avLst/>
          </a:prstGeom>
          <a:solidFill>
            <a:srgbClr val="176B5C"/>
          </a:solidFill>
          <a:ln w="12700">
            <a:solidFill>
              <a:srgbClr val="176B5C"/>
            </a:solidFill>
            <a:prstDash val="solid"/>
          </a:ln>
        </p:spPr>
        <p:txBody>
          <a:bodyPr/>
          <a:p/>
        </p:txBody>
      </p:sp>
      <p:sp>
        <p:nvSpPr>
          <p:cNvPr id="11" name="Text 9"/>
          <p:cNvSpPr/>
          <p:nvPr/>
        </p:nvSpPr>
        <p:spPr>
          <a:xfrm>
            <a:off x="841248" y="2651760"/>
            <a:ext cx="1005840" cy="91440"/>
          </a:xfrm>
          <a:prstGeom prst="rect">
            <a:avLst/>
          </a:prstGeom>
          <a:noFill/>
        </p:spPr>
        <p:txBody>
          <a:bodyPr wrap="square" lIns="0" tIns="0" rIns="0" bIns="0" rtlCol="0" anchor="ctr"/>
          <a:lstStyle/>
          <a:p>
            <a:pPr marL="0" indent="0">
              <a:buNone/>
            </a:pPr>
            <a:r>
              <a:rPr lang="en-US" sz="900" b="1" dirty="0">
                <a:solidFill>
                  <a:srgbClr val="FFFFFF"/>
                </a:solidFill>
              </a:rPr>
              <a:t>BIG IDEA</a:t>
            </a:r>
            <a:endParaRPr lang="en-US" sz="900" dirty="0"/>
          </a:p>
        </p:txBody>
      </p:sp>
      <p:sp>
        <p:nvSpPr>
          <p:cNvPr id="12" name="Text 10"/>
          <p:cNvSpPr/>
          <p:nvPr/>
        </p:nvSpPr>
        <p:spPr>
          <a:xfrm>
            <a:off x="2139696" y="2633472"/>
            <a:ext cx="9125712" cy="164592"/>
          </a:xfrm>
          <a:prstGeom prst="rect">
            <a:avLst/>
          </a:prstGeom>
          <a:noFill/>
        </p:spPr>
        <p:txBody>
          <a:bodyPr wrap="square" lIns="0" tIns="0" rIns="0" bIns="0" rtlCol="0" anchor="ctr">
            <a:normAutofit/>
          </a:bodyPr>
          <a:lstStyle/>
          <a:p>
            <a:pPr marL="0" indent="0">
              <a:buNone/>
            </a:pPr>
            <a:r>
              <a:rPr lang="en-US" sz="1220" b="1" dirty="0">
                <a:solidFill>
                  <a:srgbClr val="FFFFFF"/>
                </a:solidFill>
              </a:rPr>
              <a:t>Evaluates whether models align with Islamic values rather than defaulting to </a:t>
            </a:r>
            <a:r>
              <a:rPr lang="en-US" sz="1220" b="1" dirty="0">
                <a:solidFill>
                  <a:srgbClr val="FFFFFF"/>
                </a:solidFill>
              </a:rPr>
              <a:t>generic secular ethics</a:t>
            </a:r>
            <a:r>
              <a:rPr lang="en-US" sz="1220" b="1" dirty="0">
                <a:solidFill>
                  <a:srgbClr val="FFFFFF"/>
                </a:solidFill>
              </a:rPr>
              <a:t>.</a:t>
            </a:r>
            <a:endParaRPr lang="en-US" sz="1220" dirty="0"/>
          </a:p>
        </p:txBody>
      </p:sp>
      <p:sp>
        <p:nvSpPr>
          <p:cNvPr id="13" name="Shape 11"/>
          <p:cNvSpPr/>
          <p:nvPr/>
        </p:nvSpPr>
        <p:spPr>
          <a:xfrm>
            <a:off x="640080" y="3401568"/>
            <a:ext cx="3429000" cy="2048256"/>
          </a:xfrm>
          <a:prstGeom prst="rect">
            <a:avLst/>
          </a:prstGeom>
          <a:solidFill>
            <a:srgbClr val="F5F6F8"/>
          </a:solidFill>
          <a:ln w="8890">
            <a:solidFill>
              <a:srgbClr val="D6DAE0"/>
            </a:solidFill>
            <a:prstDash val="solid"/>
          </a:ln>
        </p:spPr>
        <p:txBody>
          <a:bodyPr/>
          <a:p/>
        </p:txBody>
      </p:sp>
      <p:sp>
        <p:nvSpPr>
          <p:cNvPr id="14" name="Shape 12"/>
          <p:cNvSpPr/>
          <p:nvPr/>
        </p:nvSpPr>
        <p:spPr>
          <a:xfrm>
            <a:off x="640080" y="3401568"/>
            <a:ext cx="3429000" cy="310896"/>
          </a:xfrm>
          <a:prstGeom prst="rect">
            <a:avLst/>
          </a:prstGeom>
          <a:solidFill>
            <a:srgbClr val="111111"/>
          </a:solidFill>
          <a:ln w="12700">
            <a:solidFill>
              <a:srgbClr val="111111"/>
            </a:solidFill>
            <a:prstDash val="solid"/>
          </a:ln>
        </p:spPr>
        <p:txBody>
          <a:bodyPr/>
          <a:p/>
        </p:txBody>
      </p:sp>
      <p:sp>
        <p:nvSpPr>
          <p:cNvPr id="15" name="Text 13"/>
          <p:cNvSpPr/>
          <p:nvPr/>
        </p:nvSpPr>
        <p:spPr>
          <a:xfrm>
            <a:off x="758952" y="3488436"/>
            <a:ext cx="3191256" cy="109728"/>
          </a:xfrm>
          <a:prstGeom prst="rect">
            <a:avLst/>
          </a:prstGeom>
          <a:noFill/>
        </p:spPr>
        <p:txBody>
          <a:bodyPr wrap="square" lIns="0" tIns="0" rIns="0" bIns="0" rtlCol="0" anchor="ctr">
            <a:normAutofit/>
          </a:bodyPr>
          <a:lstStyle/>
          <a:p>
            <a:pPr marL="0" indent="0">
              <a:buNone/>
            </a:pPr>
            <a:r>
              <a:rPr lang="en-US" sz="980" b="1" dirty="0">
                <a:solidFill>
                  <a:srgbClr val="FFFFFF"/>
                </a:solidFill>
              </a:rPr>
              <a:t>DATASET / TASK</a:t>
            </a:r>
            <a:endParaRPr lang="en-US" sz="980" dirty="0"/>
          </a:p>
        </p:txBody>
      </p:sp>
      <p:sp>
        <p:nvSpPr>
          <p:cNvPr id="16" name="Text 14"/>
          <p:cNvSpPr/>
          <p:nvPr/>
        </p:nvSpPr>
        <p:spPr>
          <a:xfrm>
            <a:off x="822960" y="3968496"/>
            <a:ext cx="3054096" cy="1097280"/>
          </a:xfrm>
          <a:prstGeom prst="rect">
            <a:avLst/>
          </a:prstGeom>
          <a:noFill/>
        </p:spPr>
        <p:txBody>
          <a:bodyPr wrap="square" lIns="254" tIns="254" rIns="254" bIns="254" rtlCol="0" anchor="t">
            <a:normAutofit/>
          </a:bodyPr>
          <a:lstStyle/>
          <a:p>
            <a:pPr marL="0" indent="0">
              <a:buNone/>
            </a:pPr>
            <a:r>
              <a:rPr lang="en-US" sz="1050" dirty="0">
                <a:solidFill>
                  <a:srgbClr val="6C737F"/>
                </a:solidFill>
              </a:rPr>
              <a:t>• Arabic + English benchmark</a:t>
            </a:r>
            <a:endParaRPr lang="en-US" sz="1050" dirty="0"/>
          </a:p>
          <a:p>
            <a:pPr marL="0" indent="0">
              <a:buNone/>
            </a:pPr>
            <a:r>
              <a:rPr lang="en-US" sz="1050" dirty="0">
                <a:solidFill>
                  <a:srgbClr val="6C737F"/>
                </a:solidFill>
              </a:rPr>
              <a:t>• LLM alignment with Islamic values</a:t>
            </a:r>
            <a:endParaRPr lang="en-US" sz="1050" dirty="0"/>
          </a:p>
          <a:p>
            <a:pPr marL="0" indent="0">
              <a:buNone/>
            </a:pPr>
            <a:r>
              <a:rPr lang="en-US" sz="1050" dirty="0">
                <a:solidFill>
                  <a:srgbClr val="6C737F"/>
                </a:solidFill>
              </a:rPr>
              <a:t>• Can support category and language split</a:t>
            </a:r>
            <a:endParaRPr lang="en-US" sz="1050" dirty="0"/>
          </a:p>
          <a:p>
            <a:pPr marL="0" indent="0">
              <a:buNone/>
            </a:pPr>
            <a:r>
              <a:rPr lang="en-US" sz="1050" dirty="0">
                <a:solidFill>
                  <a:srgbClr val="6C737F"/>
                </a:solidFill>
              </a:rPr>
              <a:t>• Useful for </a:t>
            </a:r>
            <a:r>
              <a:rPr lang="en-US" sz="1050" b="1" dirty="0">
                <a:solidFill>
                  <a:srgbClr val="6C737F"/>
                </a:solidFill>
              </a:rPr>
              <a:t>generic-secular fallback</a:t>
            </a:r>
            <a:r>
              <a:rPr lang="en-US" sz="1050" dirty="0">
                <a:solidFill>
                  <a:srgbClr val="6C737F"/>
                </a:solidFill>
              </a:rPr>
              <a:t> analysis</a:t>
            </a:r>
            <a:endParaRPr lang="en-US" sz="1050" dirty="0"/>
          </a:p>
        </p:txBody>
      </p:sp>
      <p:sp>
        <p:nvSpPr>
          <p:cNvPr id="17" name="Shape 15"/>
          <p:cNvSpPr/>
          <p:nvPr/>
        </p:nvSpPr>
        <p:spPr>
          <a:xfrm>
            <a:off x="4370832" y="3401568"/>
            <a:ext cx="3429000" cy="2048256"/>
          </a:xfrm>
          <a:prstGeom prst="rect">
            <a:avLst/>
          </a:prstGeom>
          <a:solidFill>
            <a:srgbClr val="F5F6F8"/>
          </a:solidFill>
          <a:ln w="8890">
            <a:solidFill>
              <a:srgbClr val="D6DAE0"/>
            </a:solidFill>
            <a:prstDash val="solid"/>
          </a:ln>
        </p:spPr>
        <p:txBody>
          <a:bodyPr/>
          <a:p/>
        </p:txBody>
      </p:sp>
      <p:sp>
        <p:nvSpPr>
          <p:cNvPr id="18" name="Shape 16"/>
          <p:cNvSpPr/>
          <p:nvPr/>
        </p:nvSpPr>
        <p:spPr>
          <a:xfrm>
            <a:off x="4370832" y="3401568"/>
            <a:ext cx="3429000" cy="310896"/>
          </a:xfrm>
          <a:prstGeom prst="rect">
            <a:avLst/>
          </a:prstGeom>
          <a:solidFill>
            <a:srgbClr val="111111"/>
          </a:solidFill>
          <a:ln w="12700">
            <a:solidFill>
              <a:srgbClr val="111111"/>
            </a:solidFill>
            <a:prstDash val="solid"/>
          </a:ln>
        </p:spPr>
        <p:txBody>
          <a:bodyPr/>
          <a:p/>
        </p:txBody>
      </p:sp>
      <p:sp>
        <p:nvSpPr>
          <p:cNvPr id="19" name="Text 17"/>
          <p:cNvSpPr/>
          <p:nvPr/>
        </p:nvSpPr>
        <p:spPr>
          <a:xfrm>
            <a:off x="4489704" y="3488436"/>
            <a:ext cx="3191256" cy="109728"/>
          </a:xfrm>
          <a:prstGeom prst="rect">
            <a:avLst/>
          </a:prstGeom>
          <a:noFill/>
        </p:spPr>
        <p:txBody>
          <a:bodyPr wrap="square" lIns="0" tIns="0" rIns="0" bIns="0" rtlCol="0" anchor="ctr">
            <a:normAutofit/>
          </a:bodyPr>
          <a:lstStyle/>
          <a:p>
            <a:pPr marL="0" indent="0">
              <a:buNone/>
            </a:pPr>
            <a:r>
              <a:rPr lang="en-US" sz="980" b="1" dirty="0">
                <a:solidFill>
                  <a:srgbClr val="FFFFFF"/>
                </a:solidFill>
              </a:rPr>
              <a:t>HOW TO RUN IT</a:t>
            </a:r>
            <a:endParaRPr lang="en-US" sz="980" dirty="0"/>
          </a:p>
        </p:txBody>
      </p:sp>
      <p:sp>
        <p:nvSpPr>
          <p:cNvPr id="20" name="Text 18"/>
          <p:cNvSpPr/>
          <p:nvPr/>
        </p:nvSpPr>
        <p:spPr>
          <a:xfrm>
            <a:off x="4553712" y="3968496"/>
            <a:ext cx="3054096" cy="1097280"/>
          </a:xfrm>
          <a:prstGeom prst="rect">
            <a:avLst/>
          </a:prstGeom>
          <a:noFill/>
        </p:spPr>
        <p:txBody>
          <a:bodyPr wrap="square" lIns="254" tIns="254" rIns="254" bIns="254" rtlCol="0" anchor="t">
            <a:normAutofit/>
          </a:bodyPr>
          <a:lstStyle/>
          <a:p>
            <a:pPr marL="0" indent="0">
              <a:buNone/>
            </a:pPr>
            <a:r>
              <a:rPr lang="en-US" sz="1050" dirty="0">
                <a:solidFill>
                  <a:srgbClr val="6C737F"/>
                </a:solidFill>
              </a:rPr>
              <a:t>• Run Arabic and English prompts</a:t>
            </a:r>
            <a:endParaRPr lang="en-US" sz="1050" dirty="0"/>
          </a:p>
          <a:p>
            <a:pPr marL="0" indent="0">
              <a:buNone/>
            </a:pPr>
            <a:r>
              <a:rPr lang="en-US" sz="1050" dirty="0">
                <a:solidFill>
                  <a:srgbClr val="6C737F"/>
                </a:solidFill>
              </a:rPr>
              <a:t>• Score answer accuracy / alignment</a:t>
            </a:r>
            <a:endParaRPr lang="en-US" sz="1050" dirty="0"/>
          </a:p>
          <a:p>
            <a:pPr marL="0" indent="0">
              <a:buNone/>
            </a:pPr>
            <a:r>
              <a:rPr lang="en-US" sz="1050" dirty="0">
                <a:solidFill>
                  <a:srgbClr val="6C737F"/>
                </a:solidFill>
              </a:rPr>
              <a:t>• Ask for a short principle-based rationale</a:t>
            </a:r>
            <a:endParaRPr lang="en-US" sz="1050" dirty="0"/>
          </a:p>
          <a:p>
            <a:pPr marL="0" indent="0">
              <a:buNone/>
            </a:pPr>
            <a:r>
              <a:rPr lang="en-US" sz="1050" dirty="0">
                <a:solidFill>
                  <a:srgbClr val="6C737F"/>
                </a:solidFill>
              </a:rPr>
              <a:t>• Compare neutral vs Islamic framing</a:t>
            </a:r>
            <a:endParaRPr lang="en-US" sz="1050" dirty="0"/>
          </a:p>
        </p:txBody>
      </p:sp>
      <p:sp>
        <p:nvSpPr>
          <p:cNvPr id="21" name="Shape 19"/>
          <p:cNvSpPr/>
          <p:nvPr/>
        </p:nvSpPr>
        <p:spPr>
          <a:xfrm>
            <a:off x="8101584" y="3401568"/>
            <a:ext cx="3429000" cy="2048256"/>
          </a:xfrm>
          <a:prstGeom prst="rect">
            <a:avLst/>
          </a:prstGeom>
          <a:solidFill>
            <a:srgbClr val="F5F6F8"/>
          </a:solidFill>
          <a:ln w="8890">
            <a:solidFill>
              <a:srgbClr val="D6DAE0"/>
            </a:solidFill>
            <a:prstDash val="solid"/>
          </a:ln>
        </p:spPr>
        <p:txBody>
          <a:bodyPr/>
          <a:p/>
        </p:txBody>
      </p:sp>
      <p:sp>
        <p:nvSpPr>
          <p:cNvPr id="22" name="Shape 20"/>
          <p:cNvSpPr/>
          <p:nvPr/>
        </p:nvSpPr>
        <p:spPr>
          <a:xfrm>
            <a:off x="8101584" y="3401568"/>
            <a:ext cx="3429000" cy="310896"/>
          </a:xfrm>
          <a:prstGeom prst="rect">
            <a:avLst/>
          </a:prstGeom>
          <a:solidFill>
            <a:srgbClr val="111111"/>
          </a:solidFill>
          <a:ln w="12700">
            <a:solidFill>
              <a:srgbClr val="111111"/>
            </a:solidFill>
            <a:prstDash val="solid"/>
          </a:ln>
        </p:spPr>
        <p:txBody>
          <a:bodyPr/>
          <a:p/>
        </p:txBody>
      </p:sp>
      <p:sp>
        <p:nvSpPr>
          <p:cNvPr id="23" name="Text 21"/>
          <p:cNvSpPr/>
          <p:nvPr/>
        </p:nvSpPr>
        <p:spPr>
          <a:xfrm>
            <a:off x="8220456" y="3488436"/>
            <a:ext cx="3191256" cy="109728"/>
          </a:xfrm>
          <a:prstGeom prst="rect">
            <a:avLst/>
          </a:prstGeom>
          <a:noFill/>
        </p:spPr>
        <p:txBody>
          <a:bodyPr wrap="square" lIns="0" tIns="0" rIns="0" bIns="0" rtlCol="0" anchor="ctr">
            <a:normAutofit/>
          </a:bodyPr>
          <a:lstStyle/>
          <a:p>
            <a:pPr marL="0" indent="0">
              <a:buNone/>
            </a:pPr>
            <a:r>
              <a:rPr lang="en-US" sz="980" b="1" dirty="0">
                <a:solidFill>
                  <a:srgbClr val="FFFFFF"/>
                </a:solidFill>
              </a:rPr>
              <a:t>READOUT</a:t>
            </a:r>
            <a:endParaRPr lang="en-US" sz="980" dirty="0"/>
          </a:p>
        </p:txBody>
      </p:sp>
      <p:sp>
        <p:nvSpPr>
          <p:cNvPr id="24" name="Text 22"/>
          <p:cNvSpPr/>
          <p:nvPr/>
        </p:nvSpPr>
        <p:spPr>
          <a:xfrm>
            <a:off x="8284464" y="3968496"/>
            <a:ext cx="3054096" cy="1097280"/>
          </a:xfrm>
          <a:prstGeom prst="rect">
            <a:avLst/>
          </a:prstGeom>
          <a:noFill/>
        </p:spPr>
        <p:txBody>
          <a:bodyPr wrap="square" lIns="254" tIns="254" rIns="254" bIns="254" rtlCol="0" anchor="t">
            <a:normAutofit/>
          </a:bodyPr>
          <a:lstStyle/>
          <a:p>
            <a:pPr marL="0" indent="0">
              <a:buNone/>
            </a:pPr>
            <a:r>
              <a:rPr lang="en-US" sz="1050" dirty="0">
                <a:solidFill>
                  <a:srgbClr val="6C737F"/>
                </a:solidFill>
              </a:rPr>
              <a:t>Alignment accuracy · language gap · rationale quality · </a:t>
            </a:r>
            <a:r>
              <a:rPr lang="en-US" sz="1050" b="1" dirty="0">
                <a:solidFill>
                  <a:srgbClr val="6C737F"/>
                </a:solidFill>
              </a:rPr>
              <a:t>generic-secular fallback</a:t>
            </a:r>
            <a:r>
              <a:rPr lang="en-US" sz="1050" dirty="0">
                <a:solidFill>
                  <a:srgbClr val="6C737F"/>
                </a:solidFill>
              </a:rPr>
              <a:t> rate</a:t>
            </a:r>
            <a:endParaRPr lang="en-US" sz="1050" dirty="0"/>
          </a:p>
        </p:txBody>
      </p:sp>
      <p:sp>
        <p:nvSpPr>
          <p:cNvPr id="25" name="Text 23"/>
          <p:cNvSpPr/>
          <p:nvPr/>
        </p:nvSpPr>
        <p:spPr>
          <a:xfrm>
            <a:off x="768096" y="5715000"/>
            <a:ext cx="10515600" cy="201168"/>
          </a:xfrm>
          <a:prstGeom prst="rect">
            <a:avLst/>
          </a:prstGeom>
          <a:noFill/>
        </p:spPr>
        <p:txBody>
          <a:bodyPr wrap="square" lIns="0" tIns="0" rIns="0" bIns="0" rtlCol="0" anchor="ctr">
            <a:normAutofit/>
          </a:bodyPr>
          <a:lstStyle/>
          <a:p>
            <a:pPr marL="0" indent="0" algn="ctr">
              <a:buNone/>
            </a:pPr>
            <a:r>
              <a:rPr lang="en-US" sz="1120" b="1" dirty="0">
                <a:solidFill>
                  <a:srgbClr val="176B5C"/>
                </a:solidFill>
              </a:rPr>
              <a:t>Guardrail</a:t>
            </a:r>
            <a:r>
              <a:rPr lang="en-US" sz="1120" b="1" dirty="0">
                <a:solidFill>
                  <a:srgbClr val="176B5C"/>
                </a:solidFill>
              </a:rPr>
              <a:t>: Frame as Islamic-</a:t>
            </a:r>
            <a:r>
              <a:rPr lang="en-US" sz="1120" b="1" dirty="0">
                <a:solidFill>
                  <a:srgbClr val="176B5C"/>
                </a:solidFill>
              </a:rPr>
              <a:t>values alignment</a:t>
            </a:r>
            <a:r>
              <a:rPr lang="en-US" sz="1120" b="1" dirty="0">
                <a:solidFill>
                  <a:srgbClr val="176B5C"/>
                </a:solidFill>
              </a:rPr>
              <a:t>; avoid claiming universal coverage of all Islamic schools.</a:t>
            </a:r>
            <a:endParaRPr lang="en-US" sz="11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065"/>
            <a:ext cx="2185670" cy="201295"/>
          </a:xfrm>
          <a:prstGeom prst="rect">
            <a:avLst/>
          </a:prstGeom>
          <a:noFill/>
        </p:spPr>
        <p:txBody>
          <a:bodyPr wrap="square" lIns="0" tIns="0" rIns="0" bIns="0" rtlCol="0" anchor="ctr">
            <a:normAutofit/>
          </a:bodyPr>
          <a:lstStyle/>
          <a:p>
            <a:pPr marL="0" indent="0">
              <a:buNone/>
            </a:pPr>
            <a:r>
              <a:rPr lang="en-US" sz="1050" b="1" dirty="0">
                <a:solidFill>
                  <a:srgbClr val="FFFFFF"/>
                </a:solidFill>
                <a:sym typeface="+mn-ea"/>
              </a:rPr>
              <a:t>TRACK A - Tier 1 candidate</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lang="en-US" sz="2800" b="1" dirty="0">
                <a:solidFill>
                  <a:srgbClr val="1C1C1C"/>
                </a:solidFill>
                <a:latin typeface="Aptos Display" pitchFamily="34" charset="0"/>
                <a:ea typeface="Aptos Display" pitchFamily="34" charset="-122"/>
                <a:cs typeface="Aptos Display" pitchFamily="34" charset="-120"/>
              </a:rPr>
              <a:t>#47 CatholicBench</a:t>
            </a:r>
            <a:endParaRPr lang="en-US" sz="2800" dirty="0"/>
          </a:p>
        </p:txBody>
      </p:sp>
      <p:sp>
        <p:nvSpPr>
          <p:cNvPr id="5" name="Text 3"/>
          <p:cNvSpPr/>
          <p:nvPr/>
        </p:nvSpPr>
        <p:spPr>
          <a:xfrm>
            <a:off x="530352" y="1298448"/>
            <a:ext cx="10789920" cy="256032"/>
          </a:xfrm>
          <a:prstGeom prst="rect">
            <a:avLst/>
          </a:prstGeom>
          <a:noFill/>
        </p:spPr>
        <p:txBody>
          <a:bodyPr wrap="square" lIns="0" tIns="0" rIns="0" bIns="0" rtlCol="0" anchor="ctr">
            <a:normAutofit/>
          </a:bodyPr>
          <a:lstStyle/>
          <a:p>
            <a:pPr marL="0" indent="0">
              <a:buNone/>
            </a:pPr>
            <a:r>
              <a:rPr lang="en-US" sz="1220" i="1" dirty="0">
                <a:solidFill>
                  <a:srgbClr val="6C737F"/>
                </a:solidFill>
              </a:rPr>
              <a:t>A strong Catholic candidate because it combines </a:t>
            </a:r>
            <a:r>
              <a:rPr lang="en-US" sz="1220" b="1" i="1" dirty="0">
                <a:solidFill>
                  <a:srgbClr val="6C737F"/>
                </a:solidFill>
              </a:rPr>
              <a:t>doctrine</a:t>
            </a:r>
            <a:r>
              <a:rPr lang="en-US" sz="1220" i="1" dirty="0">
                <a:solidFill>
                  <a:srgbClr val="6C737F"/>
                </a:solidFill>
              </a:rPr>
              <a:t> and pastoral reasoning.</a:t>
            </a:r>
            <a:endParaRPr lang="en-US" sz="1220"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09</a:t>
            </a:r>
            <a:endParaRPr lang="en-US" sz="1050" dirty="0"/>
          </a:p>
        </p:txBody>
      </p:sp>
      <p:sp>
        <p:nvSpPr>
          <p:cNvPr id="8" name="Text 6"/>
          <p:cNvSpPr/>
          <p:nvPr/>
        </p:nvSpPr>
        <p:spPr>
          <a:xfrm>
            <a:off x="640080" y="1847088"/>
            <a:ext cx="3840480" cy="219456"/>
          </a:xfrm>
          <a:prstGeom prst="rect">
            <a:avLst/>
          </a:prstGeom>
          <a:noFill/>
        </p:spPr>
        <p:txBody>
          <a:bodyPr wrap="square" lIns="0" tIns="0" rIns="0" bIns="0" rtlCol="0" anchor="ctr">
            <a:normAutofit/>
          </a:bodyPr>
          <a:lstStyle/>
          <a:p>
            <a:pPr marL="0" indent="0">
              <a:buNone/>
            </a:pPr>
            <a:r>
              <a:rPr lang="en-US" sz="1500" b="1" dirty="0">
                <a:solidFill>
                  <a:srgbClr val="176B5C"/>
                </a:solidFill>
              </a:rPr>
              <a:t>#47 CatholicBench</a:t>
            </a:r>
            <a:endParaRPr lang="en-US" sz="1500" dirty="0"/>
          </a:p>
        </p:txBody>
      </p:sp>
      <p:sp>
        <p:nvSpPr>
          <p:cNvPr id="9" name="Text 7"/>
          <p:cNvSpPr/>
          <p:nvPr/>
        </p:nvSpPr>
        <p:spPr>
          <a:xfrm>
            <a:off x="640080" y="2148840"/>
            <a:ext cx="8595360" cy="237744"/>
          </a:xfrm>
          <a:prstGeom prst="rect">
            <a:avLst/>
          </a:prstGeom>
          <a:noFill/>
        </p:spPr>
        <p:txBody>
          <a:bodyPr wrap="square" lIns="0" tIns="0" rIns="0" bIns="0" rtlCol="0" anchor="ctr">
            <a:normAutofit/>
          </a:bodyPr>
          <a:lstStyle/>
          <a:p>
            <a:pPr marL="0" indent="0">
              <a:buNone/>
            </a:pPr>
            <a:r>
              <a:rPr lang="en-US" sz="1220" i="1" dirty="0">
                <a:solidFill>
                  <a:srgbClr val="6C737F"/>
                </a:solidFill>
              </a:rPr>
              <a:t>Direct </a:t>
            </a:r>
            <a:r>
              <a:rPr lang="en-US" sz="1220" b="1" i="1" dirty="0">
                <a:solidFill>
                  <a:srgbClr val="6C737F"/>
                </a:solidFill>
              </a:rPr>
              <a:t>Track A</a:t>
            </a:r>
            <a:r>
              <a:rPr lang="en-US" sz="1220" i="1" dirty="0">
                <a:solidFill>
                  <a:srgbClr val="6C737F"/>
                </a:solidFill>
              </a:rPr>
              <a:t> candidate</a:t>
            </a:r>
            <a:endParaRPr lang="en-US" sz="1220" dirty="0"/>
          </a:p>
        </p:txBody>
      </p:sp>
      <p:sp>
        <p:nvSpPr>
          <p:cNvPr id="10" name="Shape 8"/>
          <p:cNvSpPr/>
          <p:nvPr/>
        </p:nvSpPr>
        <p:spPr>
          <a:xfrm>
            <a:off x="640080" y="2542032"/>
            <a:ext cx="10881360" cy="530352"/>
          </a:xfrm>
          <a:prstGeom prst="rect">
            <a:avLst/>
          </a:prstGeom>
          <a:solidFill>
            <a:srgbClr val="176B5C"/>
          </a:solidFill>
          <a:ln w="12700">
            <a:solidFill>
              <a:srgbClr val="176B5C"/>
            </a:solidFill>
            <a:prstDash val="solid"/>
          </a:ln>
        </p:spPr>
        <p:txBody>
          <a:bodyPr/>
          <a:p/>
        </p:txBody>
      </p:sp>
      <p:sp>
        <p:nvSpPr>
          <p:cNvPr id="11" name="Text 9"/>
          <p:cNvSpPr/>
          <p:nvPr/>
        </p:nvSpPr>
        <p:spPr>
          <a:xfrm>
            <a:off x="841248" y="2651760"/>
            <a:ext cx="1005840" cy="91440"/>
          </a:xfrm>
          <a:prstGeom prst="rect">
            <a:avLst/>
          </a:prstGeom>
          <a:noFill/>
        </p:spPr>
        <p:txBody>
          <a:bodyPr wrap="square" lIns="0" tIns="0" rIns="0" bIns="0" rtlCol="0" anchor="ctr"/>
          <a:lstStyle/>
          <a:p>
            <a:pPr marL="0" indent="0">
              <a:buNone/>
            </a:pPr>
            <a:r>
              <a:rPr lang="en-US" sz="900" b="1" dirty="0">
                <a:solidFill>
                  <a:srgbClr val="FFFFFF"/>
                </a:solidFill>
              </a:rPr>
              <a:t>BIG IDEA</a:t>
            </a:r>
            <a:endParaRPr lang="en-US" sz="900" dirty="0"/>
          </a:p>
        </p:txBody>
      </p:sp>
      <p:sp>
        <p:nvSpPr>
          <p:cNvPr id="12" name="Text 10"/>
          <p:cNvSpPr/>
          <p:nvPr/>
        </p:nvSpPr>
        <p:spPr>
          <a:xfrm>
            <a:off x="2139696" y="2633472"/>
            <a:ext cx="9125712" cy="164592"/>
          </a:xfrm>
          <a:prstGeom prst="rect">
            <a:avLst/>
          </a:prstGeom>
          <a:noFill/>
        </p:spPr>
        <p:txBody>
          <a:bodyPr wrap="square" lIns="0" tIns="0" rIns="0" bIns="0" rtlCol="0" anchor="ctr">
            <a:normAutofit/>
          </a:bodyPr>
          <a:lstStyle/>
          <a:p>
            <a:pPr marL="0" indent="0">
              <a:buNone/>
            </a:pPr>
            <a:r>
              <a:rPr lang="en-US" sz="1220" b="1" dirty="0">
                <a:solidFill>
                  <a:srgbClr val="FFFFFF"/>
                </a:solidFill>
              </a:rPr>
              <a:t>Tests whether models can hold Catholic </a:t>
            </a:r>
            <a:r>
              <a:rPr lang="en-US" sz="1220" b="1" dirty="0">
                <a:solidFill>
                  <a:srgbClr val="FFFFFF"/>
                </a:solidFill>
              </a:rPr>
              <a:t>doctrinal fidelity</a:t>
            </a:r>
            <a:r>
              <a:rPr lang="en-US" sz="1220" b="1" dirty="0">
                <a:solidFill>
                  <a:srgbClr val="FFFFFF"/>
                </a:solidFill>
              </a:rPr>
              <a:t> together with </a:t>
            </a:r>
            <a:r>
              <a:rPr lang="en-US" sz="1220" b="1" dirty="0">
                <a:solidFill>
                  <a:srgbClr val="FFFFFF"/>
                </a:solidFill>
              </a:rPr>
              <a:t>pastoral charity</a:t>
            </a:r>
            <a:r>
              <a:rPr lang="en-US" sz="1220" b="1" dirty="0">
                <a:solidFill>
                  <a:srgbClr val="FFFFFF"/>
                </a:solidFill>
              </a:rPr>
              <a:t>.</a:t>
            </a:r>
            <a:endParaRPr lang="en-US" sz="1220" dirty="0"/>
          </a:p>
        </p:txBody>
      </p:sp>
      <p:sp>
        <p:nvSpPr>
          <p:cNvPr id="13" name="Shape 11"/>
          <p:cNvSpPr/>
          <p:nvPr/>
        </p:nvSpPr>
        <p:spPr>
          <a:xfrm>
            <a:off x="640080" y="3401568"/>
            <a:ext cx="3429000" cy="2048256"/>
          </a:xfrm>
          <a:prstGeom prst="rect">
            <a:avLst/>
          </a:prstGeom>
          <a:solidFill>
            <a:srgbClr val="F5F6F8"/>
          </a:solidFill>
          <a:ln w="8890">
            <a:solidFill>
              <a:srgbClr val="D6DAE0"/>
            </a:solidFill>
            <a:prstDash val="solid"/>
          </a:ln>
        </p:spPr>
        <p:txBody>
          <a:bodyPr/>
          <a:p/>
        </p:txBody>
      </p:sp>
      <p:sp>
        <p:nvSpPr>
          <p:cNvPr id="14" name="Shape 12"/>
          <p:cNvSpPr/>
          <p:nvPr/>
        </p:nvSpPr>
        <p:spPr>
          <a:xfrm>
            <a:off x="640080" y="3401568"/>
            <a:ext cx="3429000" cy="310896"/>
          </a:xfrm>
          <a:prstGeom prst="rect">
            <a:avLst/>
          </a:prstGeom>
          <a:solidFill>
            <a:srgbClr val="111111"/>
          </a:solidFill>
          <a:ln w="12700">
            <a:solidFill>
              <a:srgbClr val="111111"/>
            </a:solidFill>
            <a:prstDash val="solid"/>
          </a:ln>
        </p:spPr>
        <p:txBody>
          <a:bodyPr/>
          <a:p/>
        </p:txBody>
      </p:sp>
      <p:sp>
        <p:nvSpPr>
          <p:cNvPr id="15" name="Text 13"/>
          <p:cNvSpPr/>
          <p:nvPr/>
        </p:nvSpPr>
        <p:spPr>
          <a:xfrm>
            <a:off x="758952" y="3488436"/>
            <a:ext cx="3191256" cy="109728"/>
          </a:xfrm>
          <a:prstGeom prst="rect">
            <a:avLst/>
          </a:prstGeom>
          <a:noFill/>
        </p:spPr>
        <p:txBody>
          <a:bodyPr wrap="square" lIns="0" tIns="0" rIns="0" bIns="0" rtlCol="0" anchor="ctr">
            <a:normAutofit/>
          </a:bodyPr>
          <a:lstStyle/>
          <a:p>
            <a:pPr marL="0" indent="0">
              <a:buNone/>
            </a:pPr>
            <a:r>
              <a:rPr lang="en-US" sz="980" b="1" dirty="0">
                <a:solidFill>
                  <a:srgbClr val="FFFFFF"/>
                </a:solidFill>
              </a:rPr>
              <a:t>DATASET / TASK</a:t>
            </a:r>
            <a:endParaRPr lang="en-US" sz="980" dirty="0"/>
          </a:p>
        </p:txBody>
      </p:sp>
      <p:sp>
        <p:nvSpPr>
          <p:cNvPr id="16" name="Text 14"/>
          <p:cNvSpPr/>
          <p:nvPr/>
        </p:nvSpPr>
        <p:spPr>
          <a:xfrm>
            <a:off x="822960" y="3968496"/>
            <a:ext cx="3054096" cy="1097280"/>
          </a:xfrm>
          <a:prstGeom prst="rect">
            <a:avLst/>
          </a:prstGeom>
          <a:noFill/>
        </p:spPr>
        <p:txBody>
          <a:bodyPr wrap="square" lIns="254" tIns="254" rIns="254" bIns="254" rtlCol="0" anchor="t">
            <a:normAutofit/>
          </a:bodyPr>
          <a:lstStyle/>
          <a:p>
            <a:pPr marL="0" indent="0">
              <a:buNone/>
            </a:pPr>
            <a:r>
              <a:rPr lang="en-US" sz="1050" dirty="0">
                <a:solidFill>
                  <a:srgbClr val="6C737F"/>
                </a:solidFill>
              </a:rPr>
              <a:t>• Catholic </a:t>
            </a:r>
            <a:r>
              <a:rPr lang="en-US" sz="1050" b="1" dirty="0">
                <a:solidFill>
                  <a:srgbClr val="6C737F"/>
                </a:solidFill>
              </a:rPr>
              <a:t>doctrine</a:t>
            </a:r>
            <a:r>
              <a:rPr lang="en-US" sz="1050" dirty="0">
                <a:solidFill>
                  <a:srgbClr val="6C737F"/>
                </a:solidFill>
              </a:rPr>
              <a:t> questions</a:t>
            </a:r>
            <a:endParaRPr lang="en-US" sz="1050" dirty="0"/>
          </a:p>
          <a:p>
            <a:pPr marL="0" indent="0">
              <a:buNone/>
            </a:pPr>
            <a:r>
              <a:rPr lang="en-US" sz="1050" dirty="0">
                <a:solidFill>
                  <a:srgbClr val="6C737F"/>
                </a:solidFill>
              </a:rPr>
              <a:t>• Pastoral / counseling-style scenarios</a:t>
            </a:r>
            <a:endParaRPr lang="en-US" sz="1050" dirty="0"/>
          </a:p>
          <a:p>
            <a:pPr marL="0" indent="0">
              <a:buNone/>
            </a:pPr>
            <a:r>
              <a:rPr lang="en-US" sz="1050" dirty="0">
                <a:solidFill>
                  <a:srgbClr val="6C737F"/>
                </a:solidFill>
              </a:rPr>
              <a:t>• Moral theology and applied reasoning</a:t>
            </a:r>
            <a:endParaRPr lang="en-US" sz="1050" dirty="0"/>
          </a:p>
          <a:p>
            <a:pPr marL="0" indent="0">
              <a:buNone/>
            </a:pPr>
            <a:r>
              <a:rPr lang="en-US" sz="1050" dirty="0">
                <a:solidFill>
                  <a:srgbClr val="6C737F"/>
                </a:solidFill>
              </a:rPr>
              <a:t>• Historical accuracy dimension</a:t>
            </a:r>
            <a:endParaRPr lang="en-US" sz="1050" dirty="0"/>
          </a:p>
        </p:txBody>
      </p:sp>
      <p:sp>
        <p:nvSpPr>
          <p:cNvPr id="17" name="Shape 15"/>
          <p:cNvSpPr/>
          <p:nvPr/>
        </p:nvSpPr>
        <p:spPr>
          <a:xfrm>
            <a:off x="4370832" y="3401568"/>
            <a:ext cx="3429000" cy="2048256"/>
          </a:xfrm>
          <a:prstGeom prst="rect">
            <a:avLst/>
          </a:prstGeom>
          <a:solidFill>
            <a:srgbClr val="F5F6F8"/>
          </a:solidFill>
          <a:ln w="8890">
            <a:solidFill>
              <a:srgbClr val="D6DAE0"/>
            </a:solidFill>
            <a:prstDash val="solid"/>
          </a:ln>
        </p:spPr>
        <p:txBody>
          <a:bodyPr/>
          <a:p/>
        </p:txBody>
      </p:sp>
      <p:sp>
        <p:nvSpPr>
          <p:cNvPr id="18" name="Shape 16"/>
          <p:cNvSpPr/>
          <p:nvPr/>
        </p:nvSpPr>
        <p:spPr>
          <a:xfrm>
            <a:off x="4370832" y="3401568"/>
            <a:ext cx="3429000" cy="310896"/>
          </a:xfrm>
          <a:prstGeom prst="rect">
            <a:avLst/>
          </a:prstGeom>
          <a:solidFill>
            <a:srgbClr val="111111"/>
          </a:solidFill>
          <a:ln w="12700">
            <a:solidFill>
              <a:srgbClr val="111111"/>
            </a:solidFill>
            <a:prstDash val="solid"/>
          </a:ln>
        </p:spPr>
        <p:txBody>
          <a:bodyPr/>
          <a:p/>
        </p:txBody>
      </p:sp>
      <p:sp>
        <p:nvSpPr>
          <p:cNvPr id="19" name="Text 17"/>
          <p:cNvSpPr/>
          <p:nvPr/>
        </p:nvSpPr>
        <p:spPr>
          <a:xfrm>
            <a:off x="4489704" y="3488436"/>
            <a:ext cx="3191256" cy="109728"/>
          </a:xfrm>
          <a:prstGeom prst="rect">
            <a:avLst/>
          </a:prstGeom>
          <a:noFill/>
        </p:spPr>
        <p:txBody>
          <a:bodyPr wrap="square" lIns="0" tIns="0" rIns="0" bIns="0" rtlCol="0" anchor="ctr">
            <a:normAutofit/>
          </a:bodyPr>
          <a:lstStyle/>
          <a:p>
            <a:pPr marL="0" indent="0">
              <a:buNone/>
            </a:pPr>
            <a:r>
              <a:rPr lang="en-US" sz="980" b="1" dirty="0">
                <a:solidFill>
                  <a:srgbClr val="FFFFFF"/>
                </a:solidFill>
              </a:rPr>
              <a:t>HOW TO RUN IT</a:t>
            </a:r>
            <a:endParaRPr lang="en-US" sz="980" dirty="0"/>
          </a:p>
        </p:txBody>
      </p:sp>
      <p:sp>
        <p:nvSpPr>
          <p:cNvPr id="20" name="Text 18"/>
          <p:cNvSpPr/>
          <p:nvPr/>
        </p:nvSpPr>
        <p:spPr>
          <a:xfrm>
            <a:off x="4553712" y="3968496"/>
            <a:ext cx="3054096" cy="1097280"/>
          </a:xfrm>
          <a:prstGeom prst="rect">
            <a:avLst/>
          </a:prstGeom>
          <a:noFill/>
        </p:spPr>
        <p:txBody>
          <a:bodyPr wrap="square" lIns="254" tIns="254" rIns="254" bIns="254" rtlCol="0" anchor="t">
            <a:normAutofit/>
          </a:bodyPr>
          <a:lstStyle/>
          <a:p>
            <a:pPr marL="0" indent="0">
              <a:buNone/>
            </a:pPr>
            <a:r>
              <a:rPr lang="en-US" sz="1050" dirty="0">
                <a:solidFill>
                  <a:srgbClr val="6C737F"/>
                </a:solidFill>
              </a:rPr>
              <a:t>• Run scenario prompts</a:t>
            </a:r>
            <a:endParaRPr lang="en-US" sz="1050" dirty="0"/>
          </a:p>
          <a:p>
            <a:pPr marL="0" indent="0">
              <a:buNone/>
            </a:pPr>
            <a:r>
              <a:rPr lang="en-US" sz="1050" dirty="0">
                <a:solidFill>
                  <a:srgbClr val="6C737F"/>
                </a:solidFill>
              </a:rPr>
              <a:t>• Separate </a:t>
            </a:r>
            <a:r>
              <a:rPr lang="en-US" sz="1050" b="1" dirty="0">
                <a:solidFill>
                  <a:srgbClr val="6C737F"/>
                </a:solidFill>
              </a:rPr>
              <a:t>doctrine</a:t>
            </a:r>
            <a:r>
              <a:rPr lang="en-US" sz="1050" dirty="0">
                <a:solidFill>
                  <a:srgbClr val="6C737F"/>
                </a:solidFill>
              </a:rPr>
              <a:t> score from pastoral score</a:t>
            </a:r>
            <a:endParaRPr lang="en-US" sz="1050" dirty="0"/>
          </a:p>
          <a:p>
            <a:pPr marL="0" indent="0">
              <a:buNone/>
            </a:pPr>
            <a:r>
              <a:rPr lang="en-US" sz="1050" dirty="0">
                <a:solidFill>
                  <a:srgbClr val="6C737F"/>
                </a:solidFill>
              </a:rPr>
              <a:t>• Spot-check automated evaluation</a:t>
            </a:r>
            <a:endParaRPr lang="en-US" sz="1050" dirty="0"/>
          </a:p>
          <a:p>
            <a:pPr marL="0" indent="0">
              <a:buNone/>
            </a:pPr>
            <a:r>
              <a:rPr lang="en-US" sz="1050" dirty="0">
                <a:solidFill>
                  <a:srgbClr val="6C737F"/>
                </a:solidFill>
              </a:rPr>
              <a:t>• Audit sensitive cases with Catholic </a:t>
            </a:r>
            <a:r>
              <a:rPr lang="en-US" sz="1050" b="1" dirty="0">
                <a:solidFill>
                  <a:srgbClr val="6C737F"/>
                </a:solidFill>
              </a:rPr>
              <a:t>domain review</a:t>
            </a:r>
            <a:endParaRPr lang="en-US" sz="1050" dirty="0"/>
          </a:p>
        </p:txBody>
      </p:sp>
      <p:sp>
        <p:nvSpPr>
          <p:cNvPr id="21" name="Shape 19"/>
          <p:cNvSpPr/>
          <p:nvPr/>
        </p:nvSpPr>
        <p:spPr>
          <a:xfrm>
            <a:off x="8101584" y="3401568"/>
            <a:ext cx="3429000" cy="2048256"/>
          </a:xfrm>
          <a:prstGeom prst="rect">
            <a:avLst/>
          </a:prstGeom>
          <a:solidFill>
            <a:srgbClr val="F5F6F8"/>
          </a:solidFill>
          <a:ln w="8890">
            <a:solidFill>
              <a:srgbClr val="D6DAE0"/>
            </a:solidFill>
            <a:prstDash val="solid"/>
          </a:ln>
        </p:spPr>
        <p:txBody>
          <a:bodyPr/>
          <a:p/>
        </p:txBody>
      </p:sp>
      <p:sp>
        <p:nvSpPr>
          <p:cNvPr id="22" name="Shape 20"/>
          <p:cNvSpPr/>
          <p:nvPr/>
        </p:nvSpPr>
        <p:spPr>
          <a:xfrm>
            <a:off x="8101584" y="3401568"/>
            <a:ext cx="3429000" cy="310896"/>
          </a:xfrm>
          <a:prstGeom prst="rect">
            <a:avLst/>
          </a:prstGeom>
          <a:solidFill>
            <a:srgbClr val="111111"/>
          </a:solidFill>
          <a:ln w="12700">
            <a:solidFill>
              <a:srgbClr val="111111"/>
            </a:solidFill>
            <a:prstDash val="solid"/>
          </a:ln>
        </p:spPr>
        <p:txBody>
          <a:bodyPr/>
          <a:p/>
        </p:txBody>
      </p:sp>
      <p:sp>
        <p:nvSpPr>
          <p:cNvPr id="23" name="Text 21"/>
          <p:cNvSpPr/>
          <p:nvPr/>
        </p:nvSpPr>
        <p:spPr>
          <a:xfrm>
            <a:off x="8220456" y="3488436"/>
            <a:ext cx="3191256" cy="109728"/>
          </a:xfrm>
          <a:prstGeom prst="rect">
            <a:avLst/>
          </a:prstGeom>
          <a:noFill/>
        </p:spPr>
        <p:txBody>
          <a:bodyPr wrap="square" lIns="0" tIns="0" rIns="0" bIns="0" rtlCol="0" anchor="ctr">
            <a:normAutofit/>
          </a:bodyPr>
          <a:lstStyle/>
          <a:p>
            <a:pPr marL="0" indent="0">
              <a:buNone/>
            </a:pPr>
            <a:r>
              <a:rPr lang="en-US" sz="980" b="1" dirty="0">
                <a:solidFill>
                  <a:srgbClr val="FFFFFF"/>
                </a:solidFill>
              </a:rPr>
              <a:t>READOUT</a:t>
            </a:r>
            <a:endParaRPr lang="en-US" sz="980" dirty="0"/>
          </a:p>
        </p:txBody>
      </p:sp>
      <p:sp>
        <p:nvSpPr>
          <p:cNvPr id="24" name="Text 22"/>
          <p:cNvSpPr/>
          <p:nvPr/>
        </p:nvSpPr>
        <p:spPr>
          <a:xfrm>
            <a:off x="8284464" y="3968496"/>
            <a:ext cx="3054096" cy="1097280"/>
          </a:xfrm>
          <a:prstGeom prst="rect">
            <a:avLst/>
          </a:prstGeom>
          <a:noFill/>
        </p:spPr>
        <p:txBody>
          <a:bodyPr wrap="square" lIns="254" tIns="254" rIns="254" bIns="254" rtlCol="0" anchor="t">
            <a:normAutofit/>
          </a:bodyPr>
          <a:lstStyle/>
          <a:p>
            <a:pPr marL="0" indent="0">
              <a:buNone/>
            </a:pPr>
            <a:r>
              <a:rPr lang="en-US" sz="1050" dirty="0">
                <a:solidFill>
                  <a:srgbClr val="6C737F"/>
                </a:solidFill>
              </a:rPr>
              <a:t>Doctrinal fidelity · </a:t>
            </a:r>
            <a:r>
              <a:rPr lang="en-US" sz="1050" b="1" dirty="0">
                <a:solidFill>
                  <a:srgbClr val="6C737F"/>
                </a:solidFill>
              </a:rPr>
              <a:t>pastoral charity</a:t>
            </a:r>
            <a:r>
              <a:rPr lang="en-US" sz="1050" dirty="0">
                <a:solidFill>
                  <a:srgbClr val="6C737F"/>
                </a:solidFill>
              </a:rPr>
              <a:t> · historical accuracy · </a:t>
            </a:r>
            <a:r>
              <a:rPr lang="en-US" sz="1050" b="1" dirty="0">
                <a:solidFill>
                  <a:srgbClr val="6C737F"/>
                </a:solidFill>
              </a:rPr>
              <a:t>judge-audit flags</a:t>
            </a:r>
            <a:endParaRPr lang="en-US" sz="1050" dirty="0"/>
          </a:p>
        </p:txBody>
      </p:sp>
      <p:sp>
        <p:nvSpPr>
          <p:cNvPr id="25" name="Text 23"/>
          <p:cNvSpPr/>
          <p:nvPr/>
        </p:nvSpPr>
        <p:spPr>
          <a:xfrm>
            <a:off x="768096" y="5715000"/>
            <a:ext cx="10515600" cy="201168"/>
          </a:xfrm>
          <a:prstGeom prst="rect">
            <a:avLst/>
          </a:prstGeom>
          <a:noFill/>
        </p:spPr>
        <p:txBody>
          <a:bodyPr wrap="square" lIns="0" tIns="0" rIns="0" bIns="0" rtlCol="0" anchor="ctr">
            <a:normAutofit/>
          </a:bodyPr>
          <a:lstStyle/>
          <a:p>
            <a:pPr marL="0" indent="0" algn="ctr">
              <a:buNone/>
            </a:pPr>
            <a:r>
              <a:rPr lang="en-US" sz="1120" b="1" dirty="0">
                <a:solidFill>
                  <a:srgbClr val="176B5C"/>
                </a:solidFill>
              </a:rPr>
              <a:t>Guardrail</a:t>
            </a:r>
            <a:r>
              <a:rPr lang="en-US" sz="1120" b="1" dirty="0">
                <a:solidFill>
                  <a:srgbClr val="176B5C"/>
                </a:solidFill>
              </a:rPr>
              <a:t>: Catholic-specific; not a generic Christian benchmark.</a:t>
            </a:r>
            <a:endParaRPr lang="en-US" sz="11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065"/>
            <a:ext cx="2331720" cy="237490"/>
          </a:xfrm>
          <a:prstGeom prst="rect">
            <a:avLst/>
          </a:prstGeom>
          <a:noFill/>
        </p:spPr>
        <p:txBody>
          <a:bodyPr wrap="square" lIns="0" tIns="0" rIns="0" bIns="0" rtlCol="0" anchor="ctr">
            <a:normAutofit/>
          </a:bodyPr>
          <a:lstStyle/>
          <a:p>
            <a:pPr marL="0" indent="0">
              <a:buNone/>
            </a:pPr>
            <a:r>
              <a:rPr lang="en-US" sz="1050" b="1" dirty="0">
                <a:solidFill>
                  <a:srgbClr val="FFFFFF"/>
                </a:solidFill>
                <a:sym typeface="+mn-ea"/>
              </a:rPr>
              <a:t>TRACK A - Tier 1 candidate</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lang="en-US" sz="2800" b="1" dirty="0">
                <a:solidFill>
                  <a:srgbClr val="1C1C1C"/>
                </a:solidFill>
                <a:latin typeface="Aptos Display" pitchFamily="34" charset="0"/>
                <a:ea typeface="Aptos Display" pitchFamily="34" charset="-122"/>
                <a:cs typeface="Aptos Display" pitchFamily="34" charset="-120"/>
              </a:rPr>
              <a:t>#26 BuddhismEval</a:t>
            </a:r>
            <a:endParaRPr lang="en-US" sz="2800" dirty="0"/>
          </a:p>
        </p:txBody>
      </p:sp>
      <p:sp>
        <p:nvSpPr>
          <p:cNvPr id="5" name="Text 3"/>
          <p:cNvSpPr/>
          <p:nvPr/>
        </p:nvSpPr>
        <p:spPr>
          <a:xfrm>
            <a:off x="530352" y="1298448"/>
            <a:ext cx="10789920" cy="256032"/>
          </a:xfrm>
          <a:prstGeom prst="rect">
            <a:avLst/>
          </a:prstGeom>
          <a:noFill/>
        </p:spPr>
        <p:txBody>
          <a:bodyPr wrap="square" lIns="0" tIns="0" rIns="0" bIns="0" rtlCol="0" anchor="ctr">
            <a:normAutofit/>
          </a:bodyPr>
          <a:lstStyle/>
          <a:p>
            <a:pPr marL="0" indent="0">
              <a:buNone/>
            </a:pPr>
            <a:r>
              <a:rPr lang="en-US" sz="1220" i="1" dirty="0">
                <a:solidFill>
                  <a:srgbClr val="6C737F"/>
                </a:solidFill>
              </a:rPr>
              <a:t>Best ready-to-run non-Abrahamic candidate in #25–47.</a:t>
            </a:r>
            <a:endParaRPr lang="en-US" sz="1220"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10</a:t>
            </a:r>
            <a:endParaRPr lang="en-US" sz="1050" dirty="0"/>
          </a:p>
        </p:txBody>
      </p:sp>
      <p:sp>
        <p:nvSpPr>
          <p:cNvPr id="8" name="Text 6"/>
          <p:cNvSpPr/>
          <p:nvPr/>
        </p:nvSpPr>
        <p:spPr>
          <a:xfrm>
            <a:off x="640080" y="1847088"/>
            <a:ext cx="3840480" cy="219456"/>
          </a:xfrm>
          <a:prstGeom prst="rect">
            <a:avLst/>
          </a:prstGeom>
          <a:noFill/>
        </p:spPr>
        <p:txBody>
          <a:bodyPr wrap="square" lIns="0" tIns="0" rIns="0" bIns="0" rtlCol="0" anchor="ctr">
            <a:normAutofit/>
          </a:bodyPr>
          <a:lstStyle/>
          <a:p>
            <a:pPr marL="0" indent="0">
              <a:buNone/>
            </a:pPr>
            <a:r>
              <a:rPr lang="en-US" sz="1500" b="1" dirty="0">
                <a:solidFill>
                  <a:srgbClr val="176B5C"/>
                </a:solidFill>
              </a:rPr>
              <a:t>#26 BuddhismEval</a:t>
            </a:r>
            <a:endParaRPr lang="en-US" sz="1500" dirty="0"/>
          </a:p>
        </p:txBody>
      </p:sp>
      <p:sp>
        <p:nvSpPr>
          <p:cNvPr id="9" name="Text 7"/>
          <p:cNvSpPr/>
          <p:nvPr/>
        </p:nvSpPr>
        <p:spPr>
          <a:xfrm>
            <a:off x="640080" y="2148840"/>
            <a:ext cx="8595360" cy="237744"/>
          </a:xfrm>
          <a:prstGeom prst="rect">
            <a:avLst/>
          </a:prstGeom>
          <a:noFill/>
        </p:spPr>
        <p:txBody>
          <a:bodyPr wrap="square" lIns="0" tIns="0" rIns="0" bIns="0" rtlCol="0" anchor="ctr">
            <a:normAutofit/>
          </a:bodyPr>
          <a:lstStyle/>
          <a:p>
            <a:pPr marL="0" indent="0">
              <a:buNone/>
            </a:pPr>
            <a:r>
              <a:rPr lang="en-US" sz="1220" i="1" dirty="0">
                <a:solidFill>
                  <a:srgbClr val="6C737F"/>
                </a:solidFill>
              </a:rPr>
              <a:t>Direct </a:t>
            </a:r>
            <a:r>
              <a:rPr lang="en-US" sz="1220" b="1" i="1" dirty="0">
                <a:solidFill>
                  <a:srgbClr val="6C737F"/>
                </a:solidFill>
              </a:rPr>
              <a:t>Track A</a:t>
            </a:r>
            <a:r>
              <a:rPr lang="en-US" sz="1220" i="1" dirty="0">
                <a:solidFill>
                  <a:srgbClr val="6C737F"/>
                </a:solidFill>
              </a:rPr>
              <a:t> + </a:t>
            </a:r>
            <a:r>
              <a:rPr lang="en-US" sz="1220" b="1" i="1" dirty="0">
                <a:solidFill>
                  <a:srgbClr val="6C737F"/>
                </a:solidFill>
              </a:rPr>
              <a:t>Track B</a:t>
            </a:r>
            <a:r>
              <a:rPr lang="en-US" sz="1220" i="1" dirty="0">
                <a:solidFill>
                  <a:srgbClr val="6C737F"/>
                </a:solidFill>
              </a:rPr>
              <a:t> candidate</a:t>
            </a:r>
            <a:endParaRPr lang="en-US" sz="1220" dirty="0"/>
          </a:p>
        </p:txBody>
      </p:sp>
      <p:sp>
        <p:nvSpPr>
          <p:cNvPr id="10" name="Shape 8"/>
          <p:cNvSpPr/>
          <p:nvPr/>
        </p:nvSpPr>
        <p:spPr>
          <a:xfrm>
            <a:off x="640080" y="2542032"/>
            <a:ext cx="10881360" cy="530352"/>
          </a:xfrm>
          <a:prstGeom prst="rect">
            <a:avLst/>
          </a:prstGeom>
          <a:solidFill>
            <a:srgbClr val="176B5C"/>
          </a:solidFill>
          <a:ln w="12700">
            <a:solidFill>
              <a:srgbClr val="176B5C"/>
            </a:solidFill>
            <a:prstDash val="solid"/>
          </a:ln>
        </p:spPr>
        <p:txBody>
          <a:bodyPr/>
          <a:p/>
        </p:txBody>
      </p:sp>
      <p:sp>
        <p:nvSpPr>
          <p:cNvPr id="11" name="Text 9"/>
          <p:cNvSpPr/>
          <p:nvPr/>
        </p:nvSpPr>
        <p:spPr>
          <a:xfrm>
            <a:off x="841248" y="2651760"/>
            <a:ext cx="1005840" cy="91440"/>
          </a:xfrm>
          <a:prstGeom prst="rect">
            <a:avLst/>
          </a:prstGeom>
          <a:noFill/>
        </p:spPr>
        <p:txBody>
          <a:bodyPr wrap="square" lIns="0" tIns="0" rIns="0" bIns="0" rtlCol="0" anchor="ctr"/>
          <a:lstStyle/>
          <a:p>
            <a:pPr marL="0" indent="0">
              <a:buNone/>
            </a:pPr>
            <a:r>
              <a:rPr lang="en-US" sz="900" b="1" dirty="0">
                <a:solidFill>
                  <a:srgbClr val="FFFFFF"/>
                </a:solidFill>
              </a:rPr>
              <a:t>BIG IDEA</a:t>
            </a:r>
            <a:endParaRPr lang="en-US" sz="900" dirty="0"/>
          </a:p>
        </p:txBody>
      </p:sp>
      <p:sp>
        <p:nvSpPr>
          <p:cNvPr id="12" name="Text 10"/>
          <p:cNvSpPr/>
          <p:nvPr/>
        </p:nvSpPr>
        <p:spPr>
          <a:xfrm>
            <a:off x="2139696" y="2633472"/>
            <a:ext cx="9125712" cy="164592"/>
          </a:xfrm>
          <a:prstGeom prst="rect">
            <a:avLst/>
          </a:prstGeom>
          <a:noFill/>
        </p:spPr>
        <p:txBody>
          <a:bodyPr wrap="square" lIns="0" tIns="0" rIns="0" bIns="0" rtlCol="0" anchor="ctr">
            <a:normAutofit/>
          </a:bodyPr>
          <a:lstStyle/>
          <a:p>
            <a:pPr marL="0" indent="0">
              <a:buNone/>
            </a:pPr>
            <a:r>
              <a:rPr lang="en-US" sz="1220" b="1" dirty="0">
                <a:solidFill>
                  <a:srgbClr val="FFFFFF"/>
                </a:solidFill>
              </a:rPr>
              <a:t>Provides a </a:t>
            </a:r>
            <a:r>
              <a:rPr lang="en-US" sz="1220" b="1" dirty="0">
                <a:solidFill>
                  <a:srgbClr val="FFFFFF"/>
                </a:solidFill>
              </a:rPr>
              <a:t>runnable</a:t>
            </a:r>
            <a:r>
              <a:rPr lang="en-US" sz="1220" b="1" dirty="0">
                <a:solidFill>
                  <a:srgbClr val="FFFFFF"/>
                </a:solidFill>
              </a:rPr>
              <a:t> Buddhist ethics and philosophy benchmark in English and Sinhala.</a:t>
            </a:r>
            <a:endParaRPr lang="en-US" sz="1220" dirty="0"/>
          </a:p>
        </p:txBody>
      </p:sp>
      <p:sp>
        <p:nvSpPr>
          <p:cNvPr id="13" name="Shape 11"/>
          <p:cNvSpPr/>
          <p:nvPr/>
        </p:nvSpPr>
        <p:spPr>
          <a:xfrm>
            <a:off x="640080" y="3401568"/>
            <a:ext cx="3429000" cy="2048256"/>
          </a:xfrm>
          <a:prstGeom prst="rect">
            <a:avLst/>
          </a:prstGeom>
          <a:solidFill>
            <a:srgbClr val="F5F6F8"/>
          </a:solidFill>
          <a:ln w="8890">
            <a:solidFill>
              <a:srgbClr val="D6DAE0"/>
            </a:solidFill>
            <a:prstDash val="solid"/>
          </a:ln>
        </p:spPr>
        <p:txBody>
          <a:bodyPr/>
          <a:p/>
        </p:txBody>
      </p:sp>
      <p:sp>
        <p:nvSpPr>
          <p:cNvPr id="14" name="Shape 12"/>
          <p:cNvSpPr/>
          <p:nvPr/>
        </p:nvSpPr>
        <p:spPr>
          <a:xfrm>
            <a:off x="640080" y="3401568"/>
            <a:ext cx="3429000" cy="310896"/>
          </a:xfrm>
          <a:prstGeom prst="rect">
            <a:avLst/>
          </a:prstGeom>
          <a:solidFill>
            <a:srgbClr val="111111"/>
          </a:solidFill>
          <a:ln w="12700">
            <a:solidFill>
              <a:srgbClr val="111111"/>
            </a:solidFill>
            <a:prstDash val="solid"/>
          </a:ln>
        </p:spPr>
        <p:txBody>
          <a:bodyPr/>
          <a:p/>
        </p:txBody>
      </p:sp>
      <p:sp>
        <p:nvSpPr>
          <p:cNvPr id="15" name="Text 13"/>
          <p:cNvSpPr/>
          <p:nvPr/>
        </p:nvSpPr>
        <p:spPr>
          <a:xfrm>
            <a:off x="758952" y="3488436"/>
            <a:ext cx="3191256" cy="109728"/>
          </a:xfrm>
          <a:prstGeom prst="rect">
            <a:avLst/>
          </a:prstGeom>
          <a:noFill/>
        </p:spPr>
        <p:txBody>
          <a:bodyPr wrap="square" lIns="0" tIns="0" rIns="0" bIns="0" rtlCol="0" anchor="ctr">
            <a:normAutofit/>
          </a:bodyPr>
          <a:lstStyle/>
          <a:p>
            <a:pPr marL="0" indent="0">
              <a:buNone/>
            </a:pPr>
            <a:r>
              <a:rPr lang="en-US" sz="980" b="1" dirty="0">
                <a:solidFill>
                  <a:srgbClr val="FFFFFF"/>
                </a:solidFill>
              </a:rPr>
              <a:t>DATASET / TASK</a:t>
            </a:r>
            <a:endParaRPr lang="en-US" sz="980" dirty="0"/>
          </a:p>
        </p:txBody>
      </p:sp>
      <p:sp>
        <p:nvSpPr>
          <p:cNvPr id="16" name="Text 14"/>
          <p:cNvSpPr/>
          <p:nvPr/>
        </p:nvSpPr>
        <p:spPr>
          <a:xfrm>
            <a:off x="822960" y="3968496"/>
            <a:ext cx="3054096" cy="1097280"/>
          </a:xfrm>
          <a:prstGeom prst="rect">
            <a:avLst/>
          </a:prstGeom>
          <a:noFill/>
        </p:spPr>
        <p:txBody>
          <a:bodyPr wrap="square" lIns="254" tIns="254" rIns="254" bIns="254" rtlCol="0" anchor="t">
            <a:normAutofit/>
          </a:bodyPr>
          <a:lstStyle/>
          <a:p>
            <a:pPr marL="0" indent="0">
              <a:buNone/>
            </a:pPr>
            <a:r>
              <a:rPr lang="en-US" sz="1050" dirty="0">
                <a:solidFill>
                  <a:srgbClr val="6C737F"/>
                </a:solidFill>
              </a:rPr>
              <a:t>• Bilingual MCQ format</a:t>
            </a:r>
            <a:endParaRPr lang="en-US" sz="1050" dirty="0"/>
          </a:p>
          <a:p>
            <a:pPr marL="0" indent="0">
              <a:buNone/>
            </a:pPr>
            <a:r>
              <a:rPr lang="en-US" sz="1050" dirty="0">
                <a:solidFill>
                  <a:srgbClr val="6C737F"/>
                </a:solidFill>
              </a:rPr>
              <a:t>• Buddhist ethical reasoning</a:t>
            </a:r>
            <a:endParaRPr lang="en-US" sz="1050" dirty="0"/>
          </a:p>
          <a:p>
            <a:pPr marL="0" indent="0">
              <a:buNone/>
            </a:pPr>
            <a:r>
              <a:rPr lang="en-US" sz="1050" dirty="0">
                <a:solidFill>
                  <a:srgbClr val="6C737F"/>
                </a:solidFill>
              </a:rPr>
              <a:t>• Philosophical understanding</a:t>
            </a:r>
            <a:endParaRPr lang="en-US" sz="1050" dirty="0"/>
          </a:p>
          <a:p>
            <a:pPr marL="0" indent="0">
              <a:buNone/>
            </a:pPr>
            <a:r>
              <a:rPr lang="en-US" sz="1050" dirty="0">
                <a:solidFill>
                  <a:srgbClr val="6C737F"/>
                </a:solidFill>
              </a:rPr>
              <a:t>• </a:t>
            </a:r>
            <a:r>
              <a:rPr lang="en-US" sz="1050" b="1" dirty="0">
                <a:solidFill>
                  <a:srgbClr val="6C737F"/>
                </a:solidFill>
              </a:rPr>
              <a:t>No</a:t>
            </a:r>
            <a:r>
              <a:rPr lang="en-US" sz="1050" dirty="0">
                <a:solidFill>
                  <a:srgbClr val="6C737F"/>
                </a:solidFill>
              </a:rPr>
              <a:t>n-Abrahamic coverage</a:t>
            </a:r>
            <a:endParaRPr lang="en-US" sz="1050" dirty="0"/>
          </a:p>
        </p:txBody>
      </p:sp>
      <p:sp>
        <p:nvSpPr>
          <p:cNvPr id="17" name="Shape 15"/>
          <p:cNvSpPr/>
          <p:nvPr/>
        </p:nvSpPr>
        <p:spPr>
          <a:xfrm>
            <a:off x="4370832" y="3401568"/>
            <a:ext cx="3429000" cy="2048256"/>
          </a:xfrm>
          <a:prstGeom prst="rect">
            <a:avLst/>
          </a:prstGeom>
          <a:solidFill>
            <a:srgbClr val="F5F6F8"/>
          </a:solidFill>
          <a:ln w="8890">
            <a:solidFill>
              <a:srgbClr val="D6DAE0"/>
            </a:solidFill>
            <a:prstDash val="solid"/>
          </a:ln>
        </p:spPr>
        <p:txBody>
          <a:bodyPr/>
          <a:p/>
        </p:txBody>
      </p:sp>
      <p:sp>
        <p:nvSpPr>
          <p:cNvPr id="18" name="Shape 16"/>
          <p:cNvSpPr/>
          <p:nvPr/>
        </p:nvSpPr>
        <p:spPr>
          <a:xfrm>
            <a:off x="4370832" y="3401568"/>
            <a:ext cx="3429000" cy="310896"/>
          </a:xfrm>
          <a:prstGeom prst="rect">
            <a:avLst/>
          </a:prstGeom>
          <a:solidFill>
            <a:srgbClr val="111111"/>
          </a:solidFill>
          <a:ln w="12700">
            <a:solidFill>
              <a:srgbClr val="111111"/>
            </a:solidFill>
            <a:prstDash val="solid"/>
          </a:ln>
        </p:spPr>
        <p:txBody>
          <a:bodyPr/>
          <a:p/>
        </p:txBody>
      </p:sp>
      <p:sp>
        <p:nvSpPr>
          <p:cNvPr id="19" name="Text 17"/>
          <p:cNvSpPr/>
          <p:nvPr/>
        </p:nvSpPr>
        <p:spPr>
          <a:xfrm>
            <a:off x="4489704" y="3488436"/>
            <a:ext cx="3191256" cy="109728"/>
          </a:xfrm>
          <a:prstGeom prst="rect">
            <a:avLst/>
          </a:prstGeom>
          <a:noFill/>
        </p:spPr>
        <p:txBody>
          <a:bodyPr wrap="square" lIns="0" tIns="0" rIns="0" bIns="0" rtlCol="0" anchor="ctr">
            <a:normAutofit/>
          </a:bodyPr>
          <a:lstStyle/>
          <a:p>
            <a:pPr marL="0" indent="0">
              <a:buNone/>
            </a:pPr>
            <a:r>
              <a:rPr lang="en-US" sz="980" b="1" dirty="0">
                <a:solidFill>
                  <a:srgbClr val="FFFFFF"/>
                </a:solidFill>
              </a:rPr>
              <a:t>HOW TO RUN IT</a:t>
            </a:r>
            <a:endParaRPr lang="en-US" sz="980" dirty="0"/>
          </a:p>
        </p:txBody>
      </p:sp>
      <p:sp>
        <p:nvSpPr>
          <p:cNvPr id="20" name="Text 18"/>
          <p:cNvSpPr/>
          <p:nvPr/>
        </p:nvSpPr>
        <p:spPr>
          <a:xfrm>
            <a:off x="4553712" y="3968496"/>
            <a:ext cx="3054096" cy="1097280"/>
          </a:xfrm>
          <a:prstGeom prst="rect">
            <a:avLst/>
          </a:prstGeom>
          <a:noFill/>
        </p:spPr>
        <p:txBody>
          <a:bodyPr wrap="square" lIns="254" tIns="254" rIns="254" bIns="254" rtlCol="0" anchor="t">
            <a:normAutofit/>
          </a:bodyPr>
          <a:lstStyle/>
          <a:p>
            <a:pPr marL="0" indent="0">
              <a:buNone/>
            </a:pPr>
            <a:r>
              <a:rPr lang="en-US" sz="1050" dirty="0">
                <a:solidFill>
                  <a:srgbClr val="6C737F"/>
                </a:solidFill>
              </a:rPr>
              <a:t>• Run original MCQ items</a:t>
            </a:r>
            <a:endParaRPr lang="en-US" sz="1050" dirty="0"/>
          </a:p>
          <a:p>
            <a:pPr marL="0" indent="0">
              <a:buNone/>
            </a:pPr>
            <a:r>
              <a:rPr lang="en-US" sz="1050" dirty="0">
                <a:solidFill>
                  <a:srgbClr val="6C737F"/>
                </a:solidFill>
              </a:rPr>
              <a:t>• Ask for brief explanation</a:t>
            </a:r>
            <a:endParaRPr lang="en-US" sz="1050" dirty="0"/>
          </a:p>
          <a:p>
            <a:pPr marL="0" indent="0">
              <a:buNone/>
            </a:pPr>
            <a:r>
              <a:rPr lang="en-US" sz="1050" dirty="0">
                <a:solidFill>
                  <a:srgbClr val="6C737F"/>
                </a:solidFill>
              </a:rPr>
              <a:t>• Compare English vs Sinhala</a:t>
            </a:r>
            <a:endParaRPr lang="en-US" sz="1050" dirty="0"/>
          </a:p>
          <a:p>
            <a:pPr marL="0" indent="0">
              <a:buNone/>
            </a:pPr>
            <a:r>
              <a:rPr lang="en-US" sz="1050" dirty="0">
                <a:solidFill>
                  <a:srgbClr val="6C737F"/>
                </a:solidFill>
              </a:rPr>
              <a:t>• Score answer and concept fit</a:t>
            </a:r>
            <a:endParaRPr lang="en-US" sz="1050" dirty="0"/>
          </a:p>
        </p:txBody>
      </p:sp>
      <p:sp>
        <p:nvSpPr>
          <p:cNvPr id="21" name="Shape 19"/>
          <p:cNvSpPr/>
          <p:nvPr/>
        </p:nvSpPr>
        <p:spPr>
          <a:xfrm>
            <a:off x="8101584" y="3401568"/>
            <a:ext cx="3429000" cy="2048256"/>
          </a:xfrm>
          <a:prstGeom prst="rect">
            <a:avLst/>
          </a:prstGeom>
          <a:solidFill>
            <a:srgbClr val="F5F6F8"/>
          </a:solidFill>
          <a:ln w="8890">
            <a:solidFill>
              <a:srgbClr val="D6DAE0"/>
            </a:solidFill>
            <a:prstDash val="solid"/>
          </a:ln>
        </p:spPr>
        <p:txBody>
          <a:bodyPr/>
          <a:p/>
        </p:txBody>
      </p:sp>
      <p:sp>
        <p:nvSpPr>
          <p:cNvPr id="22" name="Shape 20"/>
          <p:cNvSpPr/>
          <p:nvPr/>
        </p:nvSpPr>
        <p:spPr>
          <a:xfrm>
            <a:off x="8101584" y="3401568"/>
            <a:ext cx="3429000" cy="310896"/>
          </a:xfrm>
          <a:prstGeom prst="rect">
            <a:avLst/>
          </a:prstGeom>
          <a:solidFill>
            <a:srgbClr val="111111"/>
          </a:solidFill>
          <a:ln w="12700">
            <a:solidFill>
              <a:srgbClr val="111111"/>
            </a:solidFill>
            <a:prstDash val="solid"/>
          </a:ln>
        </p:spPr>
        <p:txBody>
          <a:bodyPr/>
          <a:p/>
        </p:txBody>
      </p:sp>
      <p:sp>
        <p:nvSpPr>
          <p:cNvPr id="23" name="Text 21"/>
          <p:cNvSpPr/>
          <p:nvPr/>
        </p:nvSpPr>
        <p:spPr>
          <a:xfrm>
            <a:off x="8220456" y="3488436"/>
            <a:ext cx="3191256" cy="109728"/>
          </a:xfrm>
          <a:prstGeom prst="rect">
            <a:avLst/>
          </a:prstGeom>
          <a:noFill/>
        </p:spPr>
        <p:txBody>
          <a:bodyPr wrap="square" lIns="0" tIns="0" rIns="0" bIns="0" rtlCol="0" anchor="ctr">
            <a:normAutofit/>
          </a:bodyPr>
          <a:lstStyle/>
          <a:p>
            <a:pPr marL="0" indent="0">
              <a:buNone/>
            </a:pPr>
            <a:r>
              <a:rPr lang="en-US" sz="980" b="1" dirty="0">
                <a:solidFill>
                  <a:srgbClr val="FFFFFF"/>
                </a:solidFill>
              </a:rPr>
              <a:t>READOUT</a:t>
            </a:r>
            <a:endParaRPr lang="en-US" sz="980" dirty="0"/>
          </a:p>
        </p:txBody>
      </p:sp>
      <p:sp>
        <p:nvSpPr>
          <p:cNvPr id="24" name="Text 22"/>
          <p:cNvSpPr/>
          <p:nvPr/>
        </p:nvSpPr>
        <p:spPr>
          <a:xfrm>
            <a:off x="8284464" y="3968496"/>
            <a:ext cx="3054096" cy="1097280"/>
          </a:xfrm>
          <a:prstGeom prst="rect">
            <a:avLst/>
          </a:prstGeom>
          <a:noFill/>
        </p:spPr>
        <p:txBody>
          <a:bodyPr wrap="square" lIns="254" tIns="254" rIns="254" bIns="254" rtlCol="0" anchor="t">
            <a:normAutofit/>
          </a:bodyPr>
          <a:lstStyle/>
          <a:p>
            <a:pPr marL="0" indent="0">
              <a:buNone/>
            </a:pPr>
            <a:r>
              <a:rPr lang="en-US" sz="1050" dirty="0">
                <a:solidFill>
                  <a:srgbClr val="6C737F"/>
                </a:solidFill>
              </a:rPr>
              <a:t>MCQ accuracy · language consistency · concept specificity · generic-compassion fallback</a:t>
            </a:r>
            <a:endParaRPr lang="en-US" sz="1050" dirty="0"/>
          </a:p>
        </p:txBody>
      </p:sp>
      <p:sp>
        <p:nvSpPr>
          <p:cNvPr id="25" name="Text 23"/>
          <p:cNvSpPr/>
          <p:nvPr/>
        </p:nvSpPr>
        <p:spPr>
          <a:xfrm>
            <a:off x="768096" y="5715000"/>
            <a:ext cx="10515600" cy="201168"/>
          </a:xfrm>
          <a:prstGeom prst="rect">
            <a:avLst/>
          </a:prstGeom>
          <a:noFill/>
        </p:spPr>
        <p:txBody>
          <a:bodyPr wrap="square" lIns="0" tIns="0" rIns="0" bIns="0" rtlCol="0" anchor="ctr">
            <a:normAutofit/>
          </a:bodyPr>
          <a:lstStyle/>
          <a:p>
            <a:pPr marL="0" indent="0" algn="ctr">
              <a:buNone/>
            </a:pPr>
            <a:r>
              <a:rPr lang="en-US" sz="1120" b="1" dirty="0">
                <a:solidFill>
                  <a:srgbClr val="176B5C"/>
                </a:solidFill>
              </a:rPr>
              <a:t>Guardrail</a:t>
            </a:r>
            <a:r>
              <a:rPr lang="en-US" sz="1120" b="1" dirty="0">
                <a:solidFill>
                  <a:srgbClr val="176B5C"/>
                </a:solidFill>
              </a:rPr>
              <a:t>: Likely strongest for its source tradition; do not claim full coverage of all Buddhist traditions.</a:t>
            </a:r>
            <a:endParaRPr lang="en-US" sz="11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43535"/>
            <a:ext cx="2211070" cy="255905"/>
          </a:xfrm>
          <a:prstGeom prst="rect">
            <a:avLst/>
          </a:prstGeom>
          <a:noFill/>
        </p:spPr>
        <p:txBody>
          <a:bodyPr wrap="square" lIns="0" tIns="0" rIns="0" bIns="0" rtlCol="0" anchor="ctr">
            <a:normAutofit/>
          </a:bodyPr>
          <a:lstStyle/>
          <a:p>
            <a:pPr marL="0" indent="0">
              <a:buNone/>
            </a:pPr>
            <a:r>
              <a:rPr lang="en-US" sz="1050" b="1" dirty="0">
                <a:solidFill>
                  <a:srgbClr val="FFFFFF"/>
                </a:solidFill>
              </a:rPr>
              <a:t>TRACK A - Runners Up (tier 2)</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lang="en-US" altLang="en-US" sz="2800" b="1" dirty="0">
                <a:solidFill>
                  <a:srgbClr val="1C1C1C"/>
                </a:solidFill>
                <a:latin typeface="Aptos Display" pitchFamily="34" charset="0"/>
                <a:ea typeface="Aptos Display" pitchFamily="34" charset="-122"/>
                <a:cs typeface="Aptos Display" pitchFamily="34" charset="-120"/>
              </a:rPr>
              <a:t>Track A runners-up (Tier 2)</a:t>
            </a:r>
            <a:endParaRPr lang="en-US" sz="2800" dirty="0"/>
          </a:p>
        </p:txBody>
      </p:sp>
      <p:sp>
        <p:nvSpPr>
          <p:cNvPr id="5" name="Text 3"/>
          <p:cNvSpPr/>
          <p:nvPr/>
        </p:nvSpPr>
        <p:spPr>
          <a:xfrm>
            <a:off x="530352" y="1298448"/>
            <a:ext cx="10789920" cy="256032"/>
          </a:xfrm>
          <a:prstGeom prst="rect">
            <a:avLst/>
          </a:prstGeom>
          <a:noFill/>
        </p:spPr>
        <p:txBody>
          <a:bodyPr wrap="square" lIns="0" tIns="0" rIns="0" bIns="0" rtlCol="0" anchor="ctr">
            <a:normAutofit/>
          </a:bodyPr>
          <a:lstStyle/>
          <a:p>
            <a:pPr marL="0" indent="0">
              <a:buNone/>
            </a:pPr>
            <a:r>
              <a:rPr lang="en-US" altLang="en-US" sz="1220" dirty="0"/>
              <a:t>Not ready for immediate model runs, but valuable for expanding religious-values coverage.</a:t>
            </a:r>
            <a:endParaRPr lang="en-US" altLang="en-US" sz="1220"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11</a:t>
            </a:r>
            <a:endParaRPr lang="en-US" sz="1050" dirty="0"/>
          </a:p>
        </p:txBody>
      </p:sp>
      <p:sp>
        <p:nvSpPr>
          <p:cNvPr id="8" name="Shape 6"/>
          <p:cNvSpPr/>
          <p:nvPr/>
        </p:nvSpPr>
        <p:spPr>
          <a:xfrm>
            <a:off x="685800" y="1956816"/>
            <a:ext cx="2514600" cy="384048"/>
          </a:xfrm>
          <a:prstGeom prst="rect">
            <a:avLst/>
          </a:prstGeom>
          <a:solidFill>
            <a:srgbClr val="176B5C"/>
          </a:solidFill>
          <a:ln w="6985">
            <a:solidFill>
              <a:srgbClr val="D6DAE0"/>
            </a:solidFill>
            <a:prstDash val="solid"/>
          </a:ln>
        </p:spPr>
        <p:txBody>
          <a:bodyPr/>
          <a:p/>
        </p:txBody>
      </p:sp>
      <p:sp>
        <p:nvSpPr>
          <p:cNvPr id="9" name="Text 7"/>
          <p:cNvSpPr/>
          <p:nvPr/>
        </p:nvSpPr>
        <p:spPr>
          <a:xfrm>
            <a:off x="740664" y="2007108"/>
            <a:ext cx="2404872" cy="310896"/>
          </a:xfrm>
          <a:prstGeom prst="rect">
            <a:avLst/>
          </a:prstGeom>
          <a:noFill/>
        </p:spPr>
        <p:txBody>
          <a:bodyPr wrap="square" lIns="0" tIns="0" rIns="0" bIns="0" rtlCol="0" anchor="ctr">
            <a:normAutofit/>
          </a:bodyPr>
          <a:lstStyle/>
          <a:p>
            <a:pPr marL="0" indent="0">
              <a:buNone/>
            </a:pPr>
            <a:r>
              <a:rPr lang="en-US" sz="1050" b="1" dirty="0">
                <a:solidFill>
                  <a:srgbClr val="FFFFFF"/>
                </a:solidFill>
              </a:rPr>
              <a:t>Candidate</a:t>
            </a:r>
            <a:endParaRPr lang="en-US" sz="1050" dirty="0"/>
          </a:p>
        </p:txBody>
      </p:sp>
      <p:sp>
        <p:nvSpPr>
          <p:cNvPr id="10" name="Shape 8"/>
          <p:cNvSpPr/>
          <p:nvPr/>
        </p:nvSpPr>
        <p:spPr>
          <a:xfrm>
            <a:off x="3200400" y="1956816"/>
            <a:ext cx="5303520" cy="384048"/>
          </a:xfrm>
          <a:prstGeom prst="rect">
            <a:avLst/>
          </a:prstGeom>
          <a:solidFill>
            <a:srgbClr val="176B5C"/>
          </a:solidFill>
          <a:ln w="6985">
            <a:solidFill>
              <a:srgbClr val="D6DAE0"/>
            </a:solidFill>
            <a:prstDash val="solid"/>
          </a:ln>
        </p:spPr>
        <p:txBody>
          <a:bodyPr/>
          <a:p/>
        </p:txBody>
      </p:sp>
      <p:sp>
        <p:nvSpPr>
          <p:cNvPr id="11" name="Text 9"/>
          <p:cNvSpPr/>
          <p:nvPr/>
        </p:nvSpPr>
        <p:spPr>
          <a:xfrm>
            <a:off x="3255264" y="2007108"/>
            <a:ext cx="5193792" cy="310896"/>
          </a:xfrm>
          <a:prstGeom prst="rect">
            <a:avLst/>
          </a:prstGeom>
          <a:noFill/>
        </p:spPr>
        <p:txBody>
          <a:bodyPr wrap="square" lIns="0" tIns="0" rIns="0" bIns="0" rtlCol="0" anchor="ctr">
            <a:normAutofit/>
          </a:bodyPr>
          <a:lstStyle/>
          <a:p>
            <a:pPr marL="0" indent="0">
              <a:buNone/>
            </a:pPr>
            <a:r>
              <a:rPr lang="en-US" sz="1050" b="1" dirty="0">
                <a:solidFill>
                  <a:srgbClr val="FFFFFF"/>
                </a:solidFill>
              </a:rPr>
              <a:t>Why it matters</a:t>
            </a:r>
            <a:endParaRPr lang="en-US" sz="1050" dirty="0"/>
          </a:p>
        </p:txBody>
      </p:sp>
      <p:sp>
        <p:nvSpPr>
          <p:cNvPr id="12" name="Shape 10"/>
          <p:cNvSpPr/>
          <p:nvPr/>
        </p:nvSpPr>
        <p:spPr>
          <a:xfrm>
            <a:off x="8503920" y="1956816"/>
            <a:ext cx="3017520" cy="384048"/>
          </a:xfrm>
          <a:prstGeom prst="rect">
            <a:avLst/>
          </a:prstGeom>
          <a:solidFill>
            <a:srgbClr val="176B5C"/>
          </a:solidFill>
          <a:ln w="6985">
            <a:solidFill>
              <a:srgbClr val="D6DAE0"/>
            </a:solidFill>
            <a:prstDash val="solid"/>
          </a:ln>
        </p:spPr>
        <p:txBody>
          <a:bodyPr/>
          <a:p/>
        </p:txBody>
      </p:sp>
      <p:sp>
        <p:nvSpPr>
          <p:cNvPr id="13" name="Text 11"/>
          <p:cNvSpPr/>
          <p:nvPr/>
        </p:nvSpPr>
        <p:spPr>
          <a:xfrm>
            <a:off x="8558784" y="2007108"/>
            <a:ext cx="2907792" cy="310896"/>
          </a:xfrm>
          <a:prstGeom prst="rect">
            <a:avLst/>
          </a:prstGeom>
          <a:noFill/>
        </p:spPr>
        <p:txBody>
          <a:bodyPr wrap="square" lIns="0" tIns="0" rIns="0" bIns="0" rtlCol="0" anchor="ctr">
            <a:normAutofit/>
          </a:bodyPr>
          <a:lstStyle/>
          <a:p>
            <a:pPr marL="0" indent="0">
              <a:buNone/>
            </a:pPr>
            <a:r>
              <a:rPr lang="en-US" altLang="en-US" sz="1050" b="1" dirty="0">
                <a:solidFill>
                  <a:schemeClr val="bg1"/>
                </a:solidFill>
              </a:rPr>
              <a:t>why not good enough for Track A?</a:t>
            </a:r>
            <a:endParaRPr lang="en-US" altLang="en-US" sz="1050" b="1" dirty="0">
              <a:solidFill>
                <a:schemeClr val="bg1"/>
              </a:solidFill>
            </a:endParaRPr>
          </a:p>
        </p:txBody>
      </p:sp>
      <p:sp>
        <p:nvSpPr>
          <p:cNvPr id="14" name="Shape 12"/>
          <p:cNvSpPr/>
          <p:nvPr/>
        </p:nvSpPr>
        <p:spPr>
          <a:xfrm>
            <a:off x="685800" y="2340864"/>
            <a:ext cx="2514600" cy="877824"/>
          </a:xfrm>
          <a:prstGeom prst="rect">
            <a:avLst/>
          </a:prstGeom>
          <a:solidFill>
            <a:srgbClr val="F5F6F8"/>
          </a:solidFill>
          <a:ln w="6985">
            <a:solidFill>
              <a:srgbClr val="D6DAE0"/>
            </a:solidFill>
            <a:prstDash val="solid"/>
          </a:ln>
        </p:spPr>
        <p:txBody>
          <a:bodyPr/>
          <a:p/>
        </p:txBody>
      </p:sp>
      <p:sp>
        <p:nvSpPr>
          <p:cNvPr id="15" name="Text 13"/>
          <p:cNvSpPr/>
          <p:nvPr/>
        </p:nvSpPr>
        <p:spPr>
          <a:xfrm>
            <a:off x="740664" y="2391156"/>
            <a:ext cx="2404872" cy="804672"/>
          </a:xfrm>
          <a:prstGeom prst="rect">
            <a:avLst/>
          </a:prstGeom>
          <a:noFill/>
        </p:spPr>
        <p:txBody>
          <a:bodyPr wrap="square" lIns="0" tIns="0" rIns="0" bIns="0" rtlCol="0" anchor="ctr">
            <a:normAutofit/>
          </a:bodyPr>
          <a:lstStyle/>
          <a:p>
            <a:pPr marL="0" indent="0">
              <a:buNone/>
            </a:pPr>
            <a:r>
              <a:rPr lang="en-US" sz="1050" b="1" dirty="0">
                <a:solidFill>
                  <a:srgbClr val="1C1C1C"/>
                </a:solidFill>
              </a:rPr>
              <a:t>#34 Confucian Analects</a:t>
            </a:r>
            <a:endParaRPr lang="en-US" sz="1050" dirty="0"/>
          </a:p>
        </p:txBody>
      </p:sp>
      <p:sp>
        <p:nvSpPr>
          <p:cNvPr id="16" name="Shape 14"/>
          <p:cNvSpPr/>
          <p:nvPr/>
        </p:nvSpPr>
        <p:spPr>
          <a:xfrm>
            <a:off x="3200400" y="2340864"/>
            <a:ext cx="5303520" cy="877824"/>
          </a:xfrm>
          <a:prstGeom prst="rect">
            <a:avLst/>
          </a:prstGeom>
          <a:solidFill>
            <a:srgbClr val="F5F6F8"/>
          </a:solidFill>
          <a:ln w="6985">
            <a:solidFill>
              <a:srgbClr val="D6DAE0"/>
            </a:solidFill>
            <a:prstDash val="solid"/>
          </a:ln>
        </p:spPr>
        <p:txBody>
          <a:bodyPr/>
          <a:p/>
        </p:txBody>
      </p:sp>
      <p:sp>
        <p:nvSpPr>
          <p:cNvPr id="17" name="Text 15"/>
          <p:cNvSpPr/>
          <p:nvPr/>
        </p:nvSpPr>
        <p:spPr>
          <a:xfrm>
            <a:off x="3255264" y="2391156"/>
            <a:ext cx="5193792" cy="804672"/>
          </a:xfrm>
          <a:prstGeom prst="rect">
            <a:avLst/>
          </a:prstGeom>
          <a:noFill/>
        </p:spPr>
        <p:txBody>
          <a:bodyPr wrap="square" lIns="0" tIns="0" rIns="0" bIns="0" rtlCol="0" anchor="ctr">
            <a:normAutofit/>
          </a:bodyPr>
          <a:lstStyle/>
          <a:p>
            <a:pPr marL="0" indent="0">
              <a:buNone/>
            </a:pPr>
            <a:r>
              <a:rPr lang="en-US" sz="1050" dirty="0">
                <a:solidFill>
                  <a:srgbClr val="1C1C1C"/>
                </a:solidFill>
              </a:rPr>
              <a:t>Strong conceptual fit for Confucian ethical dilemmas: ren, li, yi, filial duty, role ethics, and harmony.</a:t>
            </a:r>
            <a:endParaRPr lang="en-US" sz="1050" dirty="0"/>
          </a:p>
        </p:txBody>
      </p:sp>
      <p:sp>
        <p:nvSpPr>
          <p:cNvPr id="18" name="Shape 16"/>
          <p:cNvSpPr/>
          <p:nvPr/>
        </p:nvSpPr>
        <p:spPr>
          <a:xfrm>
            <a:off x="8503920" y="2340864"/>
            <a:ext cx="3017520" cy="877824"/>
          </a:xfrm>
          <a:prstGeom prst="rect">
            <a:avLst/>
          </a:prstGeom>
          <a:solidFill>
            <a:srgbClr val="F5F6F8"/>
          </a:solidFill>
          <a:ln w="6985">
            <a:solidFill>
              <a:srgbClr val="D6DAE0"/>
            </a:solidFill>
            <a:prstDash val="solid"/>
          </a:ln>
        </p:spPr>
        <p:txBody>
          <a:bodyPr/>
          <a:p/>
        </p:txBody>
      </p:sp>
      <p:sp>
        <p:nvSpPr>
          <p:cNvPr id="19" name="Text 17"/>
          <p:cNvSpPr/>
          <p:nvPr/>
        </p:nvSpPr>
        <p:spPr>
          <a:xfrm>
            <a:off x="8558784" y="2391156"/>
            <a:ext cx="2907792" cy="804672"/>
          </a:xfrm>
          <a:prstGeom prst="rect">
            <a:avLst/>
          </a:prstGeom>
          <a:noFill/>
        </p:spPr>
        <p:txBody>
          <a:bodyPr wrap="square" lIns="0" tIns="0" rIns="0" bIns="0" rtlCol="0" anchor="ctr">
            <a:normAutofit/>
          </a:bodyPr>
          <a:lstStyle/>
          <a:p>
            <a:pPr marL="0" indent="0">
              <a:buNone/>
            </a:pPr>
            <a:r>
              <a:rPr lang="en-US" altLang="en-US" sz="1050" dirty="0"/>
              <a:t> No standardized dilemmas, labels, or evaluation metric yet; cannot test Confucian reasoning vs generic answers.</a:t>
            </a:r>
            <a:endParaRPr lang="en-US" altLang="en-US" sz="1050" dirty="0"/>
          </a:p>
        </p:txBody>
      </p:sp>
      <p:sp>
        <p:nvSpPr>
          <p:cNvPr id="20" name="Shape 18"/>
          <p:cNvSpPr/>
          <p:nvPr/>
        </p:nvSpPr>
        <p:spPr>
          <a:xfrm>
            <a:off x="685800" y="3218688"/>
            <a:ext cx="2514600" cy="877824"/>
          </a:xfrm>
          <a:prstGeom prst="rect">
            <a:avLst/>
          </a:prstGeom>
          <a:solidFill>
            <a:srgbClr val="FFFFFF"/>
          </a:solidFill>
          <a:ln w="6985">
            <a:solidFill>
              <a:srgbClr val="D6DAE0"/>
            </a:solidFill>
            <a:prstDash val="solid"/>
          </a:ln>
        </p:spPr>
        <p:txBody>
          <a:bodyPr/>
          <a:p/>
        </p:txBody>
      </p:sp>
      <p:sp>
        <p:nvSpPr>
          <p:cNvPr id="21" name="Text 19"/>
          <p:cNvSpPr/>
          <p:nvPr/>
        </p:nvSpPr>
        <p:spPr>
          <a:xfrm>
            <a:off x="740664" y="3268980"/>
            <a:ext cx="2404872" cy="804672"/>
          </a:xfrm>
          <a:prstGeom prst="rect">
            <a:avLst/>
          </a:prstGeom>
          <a:noFill/>
        </p:spPr>
        <p:txBody>
          <a:bodyPr wrap="square" lIns="0" tIns="0" rIns="0" bIns="0" rtlCol="0" anchor="ctr">
            <a:normAutofit/>
          </a:bodyPr>
          <a:lstStyle/>
          <a:p>
            <a:pPr marL="0" indent="0">
              <a:buNone/>
            </a:pPr>
            <a:r>
              <a:rPr lang="en-US" sz="1050" b="1" dirty="0">
                <a:solidFill>
                  <a:srgbClr val="1C1C1C"/>
                </a:solidFill>
              </a:rPr>
              <a:t>#43 Religion &amp; Morality</a:t>
            </a:r>
            <a:r>
              <a:rPr lang="en-US" sz="1050" dirty="0">
                <a:solidFill>
                  <a:srgbClr val="1C1C1C"/>
                </a:solidFill>
              </a:rPr>
              <a:t> dataset</a:t>
            </a:r>
            <a:endParaRPr lang="en-US" sz="1050" dirty="0"/>
          </a:p>
        </p:txBody>
      </p:sp>
      <p:sp>
        <p:nvSpPr>
          <p:cNvPr id="22" name="Shape 20"/>
          <p:cNvSpPr/>
          <p:nvPr/>
        </p:nvSpPr>
        <p:spPr>
          <a:xfrm>
            <a:off x="3200400" y="3218688"/>
            <a:ext cx="5303520" cy="877824"/>
          </a:xfrm>
          <a:prstGeom prst="rect">
            <a:avLst/>
          </a:prstGeom>
          <a:solidFill>
            <a:srgbClr val="FFFFFF"/>
          </a:solidFill>
          <a:ln w="6985">
            <a:solidFill>
              <a:srgbClr val="D6DAE0"/>
            </a:solidFill>
            <a:prstDash val="solid"/>
          </a:ln>
        </p:spPr>
        <p:txBody>
          <a:bodyPr/>
          <a:p/>
        </p:txBody>
      </p:sp>
      <p:sp>
        <p:nvSpPr>
          <p:cNvPr id="23" name="Text 21"/>
          <p:cNvSpPr/>
          <p:nvPr/>
        </p:nvSpPr>
        <p:spPr>
          <a:xfrm>
            <a:off x="3255264" y="3268980"/>
            <a:ext cx="5193792" cy="804672"/>
          </a:xfrm>
          <a:prstGeom prst="rect">
            <a:avLst/>
          </a:prstGeom>
          <a:noFill/>
        </p:spPr>
        <p:txBody>
          <a:bodyPr wrap="square" lIns="0" tIns="0" rIns="0" bIns="0" rtlCol="0" anchor="ctr">
            <a:normAutofit/>
          </a:bodyPr>
          <a:lstStyle/>
          <a:p>
            <a:pPr marL="0" indent="0">
              <a:buNone/>
            </a:pPr>
            <a:r>
              <a:rPr lang="en-US" sz="1050" dirty="0">
                <a:solidFill>
                  <a:srgbClr val="1C1C1C"/>
                </a:solidFill>
              </a:rPr>
              <a:t>Empirical cross-cultural data linking religion, moral behavior, cooperation, and intergroup perception.</a:t>
            </a:r>
            <a:endParaRPr lang="en-US" sz="1050" dirty="0"/>
          </a:p>
        </p:txBody>
      </p:sp>
      <p:sp>
        <p:nvSpPr>
          <p:cNvPr id="24" name="Shape 22"/>
          <p:cNvSpPr/>
          <p:nvPr/>
        </p:nvSpPr>
        <p:spPr>
          <a:xfrm>
            <a:off x="8503920" y="3218688"/>
            <a:ext cx="3017520" cy="877824"/>
          </a:xfrm>
          <a:prstGeom prst="rect">
            <a:avLst/>
          </a:prstGeom>
          <a:solidFill>
            <a:srgbClr val="FFFFFF"/>
          </a:solidFill>
          <a:ln w="6985">
            <a:solidFill>
              <a:srgbClr val="D6DAE0"/>
            </a:solidFill>
            <a:prstDash val="solid"/>
          </a:ln>
        </p:spPr>
        <p:txBody>
          <a:bodyPr/>
          <a:p/>
        </p:txBody>
      </p:sp>
      <p:sp>
        <p:nvSpPr>
          <p:cNvPr id="25" name="Text 23"/>
          <p:cNvSpPr/>
          <p:nvPr/>
        </p:nvSpPr>
        <p:spPr>
          <a:xfrm>
            <a:off x="8558784" y="3268980"/>
            <a:ext cx="2907792" cy="804672"/>
          </a:xfrm>
          <a:prstGeom prst="rect">
            <a:avLst/>
          </a:prstGeom>
          <a:noFill/>
        </p:spPr>
        <p:txBody>
          <a:bodyPr wrap="square" lIns="0" tIns="0" rIns="0" bIns="0" rtlCol="0" anchor="ctr">
            <a:normAutofit/>
          </a:bodyPr>
          <a:lstStyle/>
          <a:p>
            <a:pPr marL="0" indent="0">
              <a:buNone/>
            </a:pPr>
            <a:r>
              <a:rPr lang="en-US" altLang="en-US" sz="1050" dirty="0"/>
              <a:t>   Survey-style data; lacks clear questions and ground-truth answers for model evaluation.</a:t>
            </a:r>
            <a:endParaRPr lang="en-US" altLang="en-US" sz="1050" dirty="0"/>
          </a:p>
        </p:txBody>
      </p:sp>
      <p:sp>
        <p:nvSpPr>
          <p:cNvPr id="26" name="Shape 24"/>
          <p:cNvSpPr/>
          <p:nvPr/>
        </p:nvSpPr>
        <p:spPr>
          <a:xfrm>
            <a:off x="685800" y="4096512"/>
            <a:ext cx="2514600" cy="877824"/>
          </a:xfrm>
          <a:prstGeom prst="rect">
            <a:avLst/>
          </a:prstGeom>
          <a:solidFill>
            <a:srgbClr val="F5F6F8"/>
          </a:solidFill>
          <a:ln w="6985">
            <a:solidFill>
              <a:srgbClr val="D6DAE0"/>
            </a:solidFill>
            <a:prstDash val="solid"/>
          </a:ln>
        </p:spPr>
        <p:txBody>
          <a:bodyPr/>
          <a:p/>
        </p:txBody>
      </p:sp>
      <p:sp>
        <p:nvSpPr>
          <p:cNvPr id="27" name="Text 25"/>
          <p:cNvSpPr/>
          <p:nvPr/>
        </p:nvSpPr>
        <p:spPr>
          <a:xfrm>
            <a:off x="740664" y="4146804"/>
            <a:ext cx="2404872" cy="804672"/>
          </a:xfrm>
          <a:prstGeom prst="rect">
            <a:avLst/>
          </a:prstGeom>
          <a:noFill/>
        </p:spPr>
        <p:txBody>
          <a:bodyPr wrap="square" lIns="0" tIns="0" rIns="0" bIns="0" rtlCol="0" anchor="ctr">
            <a:normAutofit/>
          </a:bodyPr>
          <a:lstStyle/>
          <a:p>
            <a:pPr marL="0" indent="0">
              <a:buNone/>
            </a:pPr>
            <a:r>
              <a:rPr lang="en-US" sz="1050" b="1" dirty="0">
                <a:solidFill>
                  <a:srgbClr val="1C1C1C"/>
                </a:solidFill>
              </a:rPr>
              <a:t>#44/#45 FatwaSet</a:t>
            </a:r>
            <a:endParaRPr lang="en-US" sz="1050" dirty="0"/>
          </a:p>
        </p:txBody>
      </p:sp>
      <p:sp>
        <p:nvSpPr>
          <p:cNvPr id="28" name="Shape 26"/>
          <p:cNvSpPr/>
          <p:nvPr/>
        </p:nvSpPr>
        <p:spPr>
          <a:xfrm>
            <a:off x="3200400" y="4096512"/>
            <a:ext cx="5303520" cy="877824"/>
          </a:xfrm>
          <a:prstGeom prst="rect">
            <a:avLst/>
          </a:prstGeom>
          <a:solidFill>
            <a:srgbClr val="F5F6F8"/>
          </a:solidFill>
          <a:ln w="6985">
            <a:solidFill>
              <a:srgbClr val="D6DAE0"/>
            </a:solidFill>
            <a:prstDash val="solid"/>
          </a:ln>
        </p:spPr>
        <p:txBody>
          <a:bodyPr/>
          <a:p/>
        </p:txBody>
      </p:sp>
      <p:sp>
        <p:nvSpPr>
          <p:cNvPr id="29" name="Text 27"/>
          <p:cNvSpPr/>
          <p:nvPr/>
        </p:nvSpPr>
        <p:spPr>
          <a:xfrm>
            <a:off x="3255264" y="4146804"/>
            <a:ext cx="5193792" cy="804672"/>
          </a:xfrm>
          <a:prstGeom prst="rect">
            <a:avLst/>
          </a:prstGeom>
          <a:noFill/>
        </p:spPr>
        <p:txBody>
          <a:bodyPr wrap="square" lIns="0" tIns="0" rIns="0" bIns="0" rtlCol="0" anchor="ctr">
            <a:normAutofit/>
          </a:bodyPr>
          <a:lstStyle/>
          <a:p>
            <a:pPr marL="0" indent="0">
              <a:buNone/>
            </a:pPr>
            <a:r>
              <a:rPr lang="en-US" sz="1050" dirty="0">
                <a:solidFill>
                  <a:srgbClr val="1C1C1C"/>
                </a:solidFill>
              </a:rPr>
              <a:t>Can </a:t>
            </a:r>
            <a:r>
              <a:rPr lang="en-US" sz="1050" b="1" dirty="0">
                <a:solidFill>
                  <a:srgbClr val="1C1C1C"/>
                </a:solidFill>
              </a:rPr>
              <a:t>bridge </a:t>
            </a:r>
            <a:r>
              <a:rPr lang="en-US" sz="1050" dirty="0">
                <a:solidFill>
                  <a:srgbClr val="1C1C1C"/>
                </a:solidFill>
              </a:rPr>
              <a:t>Islamic knowledge </a:t>
            </a:r>
            <a:r>
              <a:rPr lang="en-US" sz="1050" b="1" dirty="0">
                <a:solidFill>
                  <a:srgbClr val="1C1C1C"/>
                </a:solidFill>
              </a:rPr>
              <a:t>QA</a:t>
            </a:r>
            <a:r>
              <a:rPr lang="en-US" sz="1050" dirty="0">
                <a:solidFill>
                  <a:srgbClr val="1C1C1C"/>
                </a:solidFill>
              </a:rPr>
              <a:t> and </a:t>
            </a:r>
            <a:r>
              <a:rPr lang="en-US" sz="1050" b="1" dirty="0">
                <a:solidFill>
                  <a:srgbClr val="1C1C1C"/>
                </a:solidFill>
              </a:rPr>
              <a:t>applied jurisprudential reasoning.</a:t>
            </a:r>
            <a:endParaRPr lang="en-US" sz="1050" b="1" dirty="0"/>
          </a:p>
        </p:txBody>
      </p:sp>
      <p:sp>
        <p:nvSpPr>
          <p:cNvPr id="30" name="Shape 28"/>
          <p:cNvSpPr/>
          <p:nvPr/>
        </p:nvSpPr>
        <p:spPr>
          <a:xfrm>
            <a:off x="8503920" y="4096512"/>
            <a:ext cx="3017520" cy="877824"/>
          </a:xfrm>
          <a:prstGeom prst="rect">
            <a:avLst/>
          </a:prstGeom>
          <a:solidFill>
            <a:srgbClr val="F5F6F8"/>
          </a:solidFill>
          <a:ln w="6985">
            <a:solidFill>
              <a:srgbClr val="D6DAE0"/>
            </a:solidFill>
            <a:prstDash val="solid"/>
          </a:ln>
        </p:spPr>
        <p:txBody>
          <a:bodyPr/>
          <a:p/>
        </p:txBody>
      </p:sp>
      <p:sp>
        <p:nvSpPr>
          <p:cNvPr id="31" name="Text 29"/>
          <p:cNvSpPr/>
          <p:nvPr/>
        </p:nvSpPr>
        <p:spPr>
          <a:xfrm>
            <a:off x="8558784" y="4146804"/>
            <a:ext cx="2907792" cy="804672"/>
          </a:xfrm>
          <a:prstGeom prst="rect">
            <a:avLst/>
          </a:prstGeom>
          <a:noFill/>
        </p:spPr>
        <p:txBody>
          <a:bodyPr wrap="square" lIns="0" tIns="0" rIns="0" bIns="0" rtlCol="0" anchor="ctr">
            <a:normAutofit/>
          </a:bodyPr>
          <a:lstStyle/>
          <a:p>
            <a:pPr marL="0" indent="0">
              <a:buNone/>
            </a:pPr>
            <a:r>
              <a:rPr lang="en-US" altLang="en-US" sz="1050" dirty="0"/>
              <a:t>    Mostly retrieval/classification; does not require reasoning on new cases or value-based judgment - but good for track B</a:t>
            </a:r>
            <a:endParaRPr lang="en-US" altLang="en-US" sz="1050" dirty="0"/>
          </a:p>
        </p:txBody>
      </p:sp>
      <p:sp>
        <p:nvSpPr>
          <p:cNvPr id="32" name="Shape 30"/>
          <p:cNvSpPr/>
          <p:nvPr/>
        </p:nvSpPr>
        <p:spPr>
          <a:xfrm>
            <a:off x="685800" y="5376672"/>
            <a:ext cx="10835640" cy="676656"/>
          </a:xfrm>
          <a:prstGeom prst="rect">
            <a:avLst/>
          </a:prstGeom>
          <a:solidFill>
            <a:srgbClr val="E8F4F1"/>
          </a:solidFill>
          <a:ln w="8890">
            <a:solidFill>
              <a:srgbClr val="176B5C"/>
            </a:solidFill>
            <a:prstDash val="solid"/>
          </a:ln>
        </p:spPr>
        <p:txBody>
          <a:bodyPr/>
          <a:p/>
        </p:txBody>
      </p:sp>
      <p:sp>
        <p:nvSpPr>
          <p:cNvPr id="33" name="Text 31"/>
          <p:cNvSpPr/>
          <p:nvPr/>
        </p:nvSpPr>
        <p:spPr>
          <a:xfrm>
            <a:off x="960120" y="5376545"/>
            <a:ext cx="10241280" cy="651510"/>
          </a:xfrm>
          <a:prstGeom prst="rect">
            <a:avLst/>
          </a:prstGeom>
          <a:noFill/>
        </p:spPr>
        <p:txBody>
          <a:bodyPr wrap="square" lIns="0" tIns="0" rIns="0" bIns="0" rtlCol="0" anchor="ctr">
            <a:normAutofit/>
          </a:bodyPr>
          <a:lstStyle/>
          <a:p>
            <a:pPr marL="0" indent="0" algn="ctr">
              <a:buNone/>
            </a:pPr>
            <a:r>
              <a:rPr lang="en-US" sz="1220" b="1" dirty="0">
                <a:solidFill>
                  <a:srgbClr val="176B5C"/>
                </a:solidFill>
              </a:rPr>
              <a:t>Track A takeaway: true religious-</a:t>
            </a:r>
            <a:r>
              <a:rPr lang="en-US" sz="1220" b="1" i="1" dirty="0">
                <a:solidFill>
                  <a:srgbClr val="176B5C"/>
                </a:solidFill>
              </a:rPr>
              <a:t>values </a:t>
            </a:r>
            <a:r>
              <a:rPr lang="en-US" sz="1220" b="1" dirty="0">
                <a:solidFill>
                  <a:srgbClr val="176B5C"/>
                </a:solidFill>
              </a:rPr>
              <a:t>benchmarks are rare. </a:t>
            </a:r>
            <a:endParaRPr lang="en-US" sz="1220" b="1" dirty="0">
              <a:solidFill>
                <a:srgbClr val="176B5C"/>
              </a:solidFill>
            </a:endParaRPr>
          </a:p>
          <a:p>
            <a:pPr marL="0" indent="0" algn="ctr">
              <a:buNone/>
            </a:pPr>
            <a:r>
              <a:rPr lang="en-US" sz="1220" b="1" dirty="0"/>
              <a:t>Seeing the gap creates opportunities for CEI’s future work! </a:t>
            </a:r>
            <a:endParaRPr lang="en-US" sz="122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F4E79"/>
          </a:solidFill>
          <a:ln w="12700">
            <a:solidFill>
              <a:srgbClr val="1F4E79"/>
            </a:solidFill>
            <a:prstDash val="solid"/>
          </a:ln>
        </p:spPr>
        <p:txBody>
          <a:bodyPr/>
          <a:p/>
        </p:txBody>
      </p:sp>
      <p:sp>
        <p:nvSpPr>
          <p:cNvPr id="3" name="Text 1"/>
          <p:cNvSpPr/>
          <p:nvPr/>
        </p:nvSpPr>
        <p:spPr>
          <a:xfrm>
            <a:off x="777240" y="2331720"/>
            <a:ext cx="9692640" cy="658368"/>
          </a:xfrm>
          <a:prstGeom prst="rect">
            <a:avLst/>
          </a:prstGeom>
          <a:noFill/>
        </p:spPr>
        <p:txBody>
          <a:bodyPr wrap="square" lIns="0" tIns="0" rIns="0" bIns="0" rtlCol="0" anchor="ctr">
            <a:normAutofit/>
          </a:bodyPr>
          <a:lstStyle/>
          <a:p>
            <a:pPr marL="0" indent="0">
              <a:buNone/>
            </a:pPr>
            <a:r>
              <a:rPr lang="en-US" sz="3800" b="1" dirty="0">
                <a:solidFill>
                  <a:srgbClr val="1C1C1C"/>
                </a:solidFill>
              </a:rPr>
              <a:t>Track B</a:t>
            </a:r>
            <a:endParaRPr lang="en-US" sz="3800" dirty="0"/>
          </a:p>
        </p:txBody>
      </p:sp>
      <p:sp>
        <p:nvSpPr>
          <p:cNvPr id="4" name="Text 2"/>
          <p:cNvSpPr/>
          <p:nvPr/>
        </p:nvSpPr>
        <p:spPr>
          <a:xfrm>
            <a:off x="804545" y="3154680"/>
            <a:ext cx="9460865" cy="658495"/>
          </a:xfrm>
          <a:prstGeom prst="rect">
            <a:avLst/>
          </a:prstGeom>
          <a:noFill/>
        </p:spPr>
        <p:txBody>
          <a:bodyPr wrap="square" lIns="0" tIns="0" rIns="0" bIns="0" rtlCol="0" anchor="ctr">
            <a:normAutofit/>
          </a:bodyPr>
          <a:lstStyle/>
          <a:p>
            <a:pPr marL="0" indent="0">
              <a:buNone/>
            </a:pPr>
            <a:r>
              <a:rPr lang="en-US" sz="1500" b="1" dirty="0">
                <a:solidFill>
                  <a:srgbClr val="6C737F"/>
                </a:solidFill>
              </a:rPr>
              <a:t>Knowledge / doctrine</a:t>
            </a:r>
            <a:r>
              <a:rPr lang="en-US" sz="1500" dirty="0">
                <a:solidFill>
                  <a:srgbClr val="6C737F"/>
                </a:solidFill>
              </a:rPr>
              <a:t>: </a:t>
            </a:r>
            <a:endParaRPr lang="en-US" sz="1500" dirty="0">
              <a:solidFill>
                <a:srgbClr val="6C737F"/>
              </a:solidFill>
            </a:endParaRPr>
          </a:p>
          <a:p>
            <a:pPr marL="0" indent="0">
              <a:buNone/>
            </a:pPr>
            <a:r>
              <a:rPr lang="en-US" sz="1500" dirty="0">
                <a:solidFill>
                  <a:srgbClr val="6C737F"/>
                </a:solidFill>
              </a:rPr>
              <a:t>Can the model answer </a:t>
            </a:r>
            <a:r>
              <a:rPr lang="en-US" sz="1500" b="1" dirty="0">
                <a:solidFill>
                  <a:srgbClr val="6C737F"/>
                </a:solidFill>
              </a:rPr>
              <a:t>scripture</a:t>
            </a:r>
            <a:r>
              <a:rPr lang="en-US" sz="1500" dirty="0">
                <a:solidFill>
                  <a:srgbClr val="6C737F"/>
                </a:solidFill>
              </a:rPr>
              <a:t>, </a:t>
            </a:r>
            <a:r>
              <a:rPr lang="en-US" sz="1500" b="1" dirty="0">
                <a:solidFill>
                  <a:srgbClr val="6C737F"/>
                </a:solidFill>
              </a:rPr>
              <a:t>doctrine</a:t>
            </a:r>
            <a:r>
              <a:rPr lang="en-US" sz="1500" dirty="0">
                <a:solidFill>
                  <a:srgbClr val="6C737F"/>
                </a:solidFill>
              </a:rPr>
              <a:t>, </a:t>
            </a:r>
            <a:r>
              <a:rPr lang="en-US" sz="1500" b="1" dirty="0">
                <a:solidFill>
                  <a:srgbClr val="6C737F"/>
                </a:solidFill>
              </a:rPr>
              <a:t>QA</a:t>
            </a:r>
            <a:r>
              <a:rPr lang="en-US" sz="1500" dirty="0">
                <a:solidFill>
                  <a:srgbClr val="6C737F"/>
                </a:solidFill>
              </a:rPr>
              <a:t>, or </a:t>
            </a:r>
            <a:r>
              <a:rPr lang="en-US" sz="1500" b="1" dirty="0">
                <a:solidFill>
                  <a:srgbClr val="6C737F"/>
                </a:solidFill>
              </a:rPr>
              <a:t>source-grounded</a:t>
            </a:r>
            <a:r>
              <a:rPr lang="en-US" sz="1500" dirty="0">
                <a:solidFill>
                  <a:srgbClr val="6C737F"/>
                </a:solidFill>
              </a:rPr>
              <a:t> religious knowledge?</a:t>
            </a:r>
            <a:endParaRPr lang="en-US" sz="1500" dirty="0"/>
          </a:p>
        </p:txBody>
      </p:sp>
      <p:sp>
        <p:nvSpPr>
          <p:cNvPr id="5" name="Shape 3"/>
          <p:cNvSpPr/>
          <p:nvPr/>
        </p:nvSpPr>
        <p:spPr>
          <a:xfrm>
            <a:off x="777240" y="3886200"/>
            <a:ext cx="9875520" cy="0"/>
          </a:xfrm>
          <a:prstGeom prst="line">
            <a:avLst/>
          </a:prstGeom>
          <a:noFill/>
          <a:ln w="25400">
            <a:solidFill>
              <a:srgbClr val="1F4E79"/>
            </a:solidFill>
            <a:prstDash val="solid"/>
          </a:ln>
        </p:spPr>
        <p:txBody>
          <a:bodyPr/>
          <a:p/>
        </p:txBody>
      </p:sp>
      <p:sp>
        <p:nvSpPr>
          <p:cNvPr id="6" name="Text 4"/>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192"/>
            <a:ext cx="2057400" cy="109728"/>
          </a:xfrm>
          <a:prstGeom prst="rect">
            <a:avLst/>
          </a:prstGeom>
          <a:noFill/>
        </p:spPr>
        <p:txBody>
          <a:bodyPr wrap="square" lIns="0" tIns="0" rIns="0" bIns="0" rtlCol="0" anchor="ctr">
            <a:normAutofit/>
          </a:bodyPr>
          <a:lstStyle/>
          <a:p>
            <a:pPr marL="0" indent="0">
              <a:buNone/>
            </a:pPr>
            <a:r>
              <a:rPr lang="en-US" sz="1050" b="1" dirty="0">
                <a:solidFill>
                  <a:srgbClr val="FFFFFF"/>
                </a:solidFill>
              </a:rPr>
              <a:t>TRACK B</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sz="2800" b="1">
                <a:solidFill>
                  <a:srgbClr val="C00000"/>
                </a:solidFill>
                <a:latin typeface="Aptos Display"/>
              </a:rPr>
              <a:t>Track B: integrated candidates, different research question</a:t>
            </a:r>
            <a:endParaRPr lang="en-US" sz="2800" dirty="0"/>
          </a:p>
        </p:txBody>
      </p:sp>
      <p:sp>
        <p:nvSpPr>
          <p:cNvPr id="5" name="Text 3"/>
          <p:cNvSpPr/>
          <p:nvPr/>
        </p:nvSpPr>
        <p:spPr>
          <a:xfrm>
            <a:off x="530352" y="1298448"/>
            <a:ext cx="10789920" cy="256032"/>
          </a:xfrm>
          <a:prstGeom prst="rect">
            <a:avLst/>
          </a:prstGeom>
          <a:noFill/>
        </p:spPr>
        <p:txBody>
          <a:bodyPr wrap="square" lIns="0" tIns="0" rIns="0" bIns="0" rtlCol="0" anchor="ctr">
            <a:normAutofit fontScale="90000"/>
          </a:bodyPr>
          <a:lstStyle/>
          <a:p>
            <a:pPr marL="0" indent="0">
              <a:buNone/>
            </a:pPr>
            <a:r>
              <a:rPr lang="en-US" i="1" dirty="0">
                <a:solidFill>
                  <a:srgbClr val="6C737F"/>
                </a:solidFill>
                <a:sym typeface="+mn-ea"/>
              </a:rPr>
              <a:t>for </a:t>
            </a:r>
            <a:r>
              <a:rPr lang="en-US" b="1" i="1" dirty="0">
                <a:solidFill>
                  <a:srgbClr val="6C737F"/>
                </a:solidFill>
                <a:sym typeface="+mn-ea"/>
              </a:rPr>
              <a:t>MultiFaithBench</a:t>
            </a:r>
            <a:r>
              <a:rPr lang="en-US" i="1" dirty="0">
                <a:solidFill>
                  <a:srgbClr val="6C737F"/>
                </a:solidFill>
                <a:sym typeface="+mn-ea"/>
              </a:rPr>
              <a:t>, not </a:t>
            </a:r>
            <a:r>
              <a:rPr lang="en-US" b="1" i="1" dirty="0">
                <a:solidFill>
                  <a:srgbClr val="6C737F"/>
                </a:solidFill>
                <a:sym typeface="+mn-ea"/>
              </a:rPr>
              <a:t>values alignment</a:t>
            </a:r>
            <a:r>
              <a:rPr lang="en-US" i="1" dirty="0">
                <a:solidFill>
                  <a:srgbClr val="6C737F"/>
                </a:solidFill>
                <a:sym typeface="+mn-ea"/>
              </a:rPr>
              <a:t>.</a:t>
            </a:r>
            <a:endParaRPr lang="en-US" i="1" dirty="0">
              <a:solidFill>
                <a:srgbClr val="6C737F"/>
              </a:solidFill>
              <a:sym typeface="+mn-ea"/>
            </a:endParaRPr>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13</a:t>
            </a:r>
            <a:endParaRPr lang="en-US" sz="1050" dirty="0"/>
          </a:p>
        </p:txBody>
      </p:sp>
      <p:sp>
        <p:nvSpPr>
          <p:cNvPr id="8" name="Shape 6"/>
          <p:cNvSpPr/>
          <p:nvPr/>
        </p:nvSpPr>
        <p:spPr>
          <a:xfrm>
            <a:off x="566928" y="1883664"/>
            <a:ext cx="1508760" cy="384048"/>
          </a:xfrm>
          <a:prstGeom prst="rect">
            <a:avLst/>
          </a:prstGeom>
          <a:solidFill>
            <a:srgbClr val="1F4E79"/>
          </a:solidFill>
          <a:ln w="6985">
            <a:solidFill>
              <a:srgbClr val="D6DAE0"/>
            </a:solidFill>
            <a:prstDash val="solid"/>
          </a:ln>
        </p:spPr>
        <p:txBody>
          <a:bodyPr/>
          <a:p/>
        </p:txBody>
      </p:sp>
      <p:sp>
        <p:nvSpPr>
          <p:cNvPr id="9" name="Text 7"/>
          <p:cNvSpPr/>
          <p:nvPr/>
        </p:nvSpPr>
        <p:spPr>
          <a:xfrm>
            <a:off x="621792" y="1933956"/>
            <a:ext cx="1399032" cy="310896"/>
          </a:xfrm>
          <a:prstGeom prst="rect">
            <a:avLst/>
          </a:prstGeom>
          <a:noFill/>
        </p:spPr>
        <p:txBody>
          <a:bodyPr wrap="square" lIns="0" tIns="0" rIns="0" bIns="0" rtlCol="0" anchor="ctr">
            <a:normAutofit/>
          </a:bodyPr>
          <a:lstStyle/>
          <a:p>
            <a:pPr marL="0" indent="0">
              <a:buNone/>
            </a:pPr>
            <a:r>
              <a:rPr lang="en-US" sz="1050" b="1" dirty="0">
                <a:solidFill>
                  <a:srgbClr val="FFFFFF"/>
                </a:solidFill>
              </a:rPr>
              <a:t>Tier</a:t>
            </a:r>
            <a:endParaRPr lang="en-US" sz="1050" dirty="0"/>
          </a:p>
        </p:txBody>
      </p:sp>
      <p:sp>
        <p:nvSpPr>
          <p:cNvPr id="10" name="Shape 8"/>
          <p:cNvSpPr/>
          <p:nvPr/>
        </p:nvSpPr>
        <p:spPr>
          <a:xfrm>
            <a:off x="2075688" y="1883664"/>
            <a:ext cx="2148840" cy="384048"/>
          </a:xfrm>
          <a:prstGeom prst="rect">
            <a:avLst/>
          </a:prstGeom>
          <a:solidFill>
            <a:srgbClr val="1F4E79"/>
          </a:solidFill>
          <a:ln w="6985">
            <a:solidFill>
              <a:srgbClr val="D6DAE0"/>
            </a:solidFill>
            <a:prstDash val="solid"/>
          </a:ln>
        </p:spPr>
        <p:txBody>
          <a:bodyPr/>
          <a:p/>
        </p:txBody>
      </p:sp>
      <p:sp>
        <p:nvSpPr>
          <p:cNvPr id="11" name="Text 9"/>
          <p:cNvSpPr/>
          <p:nvPr/>
        </p:nvSpPr>
        <p:spPr>
          <a:xfrm>
            <a:off x="2130552" y="1933956"/>
            <a:ext cx="2039112" cy="310896"/>
          </a:xfrm>
          <a:prstGeom prst="rect">
            <a:avLst/>
          </a:prstGeom>
          <a:noFill/>
        </p:spPr>
        <p:txBody>
          <a:bodyPr wrap="square" lIns="0" tIns="0" rIns="0" bIns="0" rtlCol="0" anchor="ctr">
            <a:normAutofit/>
          </a:bodyPr>
          <a:lstStyle/>
          <a:p>
            <a:pPr marL="0" indent="0">
              <a:buNone/>
            </a:pPr>
            <a:r>
              <a:rPr lang="en-US" sz="1050" b="1" dirty="0">
                <a:solidFill>
                  <a:srgbClr val="FFFFFF"/>
                </a:solidFill>
              </a:rPr>
              <a:t>Paper</a:t>
            </a:r>
            <a:endParaRPr lang="en-US" sz="1050" dirty="0"/>
          </a:p>
        </p:txBody>
      </p:sp>
      <p:sp>
        <p:nvSpPr>
          <p:cNvPr id="12" name="Shape 10"/>
          <p:cNvSpPr/>
          <p:nvPr/>
        </p:nvSpPr>
        <p:spPr>
          <a:xfrm>
            <a:off x="4224528" y="1883664"/>
            <a:ext cx="5989320" cy="384048"/>
          </a:xfrm>
          <a:prstGeom prst="rect">
            <a:avLst/>
          </a:prstGeom>
          <a:solidFill>
            <a:srgbClr val="1F4E79"/>
          </a:solidFill>
          <a:ln w="6985">
            <a:solidFill>
              <a:srgbClr val="D6DAE0"/>
            </a:solidFill>
            <a:prstDash val="solid"/>
          </a:ln>
        </p:spPr>
        <p:txBody>
          <a:bodyPr/>
          <a:p/>
        </p:txBody>
      </p:sp>
      <p:sp>
        <p:nvSpPr>
          <p:cNvPr id="13" name="Text 11"/>
          <p:cNvSpPr/>
          <p:nvPr/>
        </p:nvSpPr>
        <p:spPr>
          <a:xfrm>
            <a:off x="4279392" y="1933956"/>
            <a:ext cx="5879592" cy="310896"/>
          </a:xfrm>
          <a:prstGeom prst="rect">
            <a:avLst/>
          </a:prstGeom>
          <a:noFill/>
        </p:spPr>
        <p:txBody>
          <a:bodyPr wrap="square" lIns="0" tIns="0" rIns="0" bIns="0" rtlCol="0" anchor="ctr">
            <a:normAutofit/>
          </a:bodyPr>
          <a:lstStyle/>
          <a:p>
            <a:pPr marL="0" indent="0">
              <a:buNone/>
            </a:pPr>
            <a:r>
              <a:rPr lang="en-US" sz="1050" b="1" dirty="0">
                <a:solidFill>
                  <a:srgbClr val="FFFFFF"/>
                </a:solidFill>
              </a:rPr>
              <a:t>Why it belongs in </a:t>
            </a:r>
            <a:r>
              <a:rPr lang="en-US" sz="1050" b="1" dirty="0">
                <a:solidFill>
                  <a:srgbClr val="FFFFFF"/>
                </a:solidFill>
              </a:rPr>
              <a:t>Track B</a:t>
            </a:r>
            <a:endParaRPr lang="en-US" sz="1050" dirty="0"/>
          </a:p>
        </p:txBody>
      </p:sp>
      <p:sp>
        <p:nvSpPr>
          <p:cNvPr id="14" name="Shape 12"/>
          <p:cNvSpPr/>
          <p:nvPr/>
        </p:nvSpPr>
        <p:spPr>
          <a:xfrm>
            <a:off x="10213848" y="1883664"/>
            <a:ext cx="1435608" cy="384048"/>
          </a:xfrm>
          <a:prstGeom prst="rect">
            <a:avLst/>
          </a:prstGeom>
          <a:solidFill>
            <a:srgbClr val="1F4E79"/>
          </a:solidFill>
          <a:ln w="6985">
            <a:solidFill>
              <a:srgbClr val="D6DAE0"/>
            </a:solidFill>
            <a:prstDash val="solid"/>
          </a:ln>
        </p:spPr>
        <p:txBody>
          <a:bodyPr/>
          <a:p/>
        </p:txBody>
      </p:sp>
      <p:sp>
        <p:nvSpPr>
          <p:cNvPr id="15" name="Text 13"/>
          <p:cNvSpPr/>
          <p:nvPr/>
        </p:nvSpPr>
        <p:spPr>
          <a:xfrm>
            <a:off x="10268712" y="1933956"/>
            <a:ext cx="1325880" cy="310896"/>
          </a:xfrm>
          <a:prstGeom prst="rect">
            <a:avLst/>
          </a:prstGeom>
          <a:noFill/>
        </p:spPr>
        <p:txBody>
          <a:bodyPr wrap="square" lIns="0" tIns="0" rIns="0" bIns="0" rtlCol="0" anchor="ctr">
            <a:normAutofit/>
          </a:bodyPr>
          <a:lstStyle/>
          <a:p>
            <a:pPr marL="0" indent="0">
              <a:buNone/>
            </a:pPr>
            <a:r>
              <a:rPr lang="en-US" sz="1050" b="1" dirty="0">
                <a:solidFill>
                  <a:srgbClr val="FFFFFF"/>
                </a:solidFill>
              </a:rPr>
              <a:t>Status</a:t>
            </a:r>
            <a:endParaRPr lang="en-US" sz="1050" dirty="0"/>
          </a:p>
        </p:txBody>
      </p:sp>
      <p:sp>
        <p:nvSpPr>
          <p:cNvPr id="16" name="Shape 14"/>
          <p:cNvSpPr/>
          <p:nvPr/>
        </p:nvSpPr>
        <p:spPr>
          <a:xfrm>
            <a:off x="566928" y="2267712"/>
            <a:ext cx="1508760" cy="772668"/>
          </a:xfrm>
          <a:prstGeom prst="rect">
            <a:avLst/>
          </a:prstGeom>
          <a:solidFill>
            <a:srgbClr val="F5F6F8"/>
          </a:solidFill>
          <a:ln w="6985">
            <a:solidFill>
              <a:srgbClr val="D6DAE0"/>
            </a:solidFill>
            <a:prstDash val="solid"/>
          </a:ln>
        </p:spPr>
        <p:txBody>
          <a:bodyPr/>
          <a:p/>
        </p:txBody>
      </p:sp>
      <p:sp>
        <p:nvSpPr>
          <p:cNvPr id="17" name="Text 15"/>
          <p:cNvSpPr/>
          <p:nvPr/>
        </p:nvSpPr>
        <p:spPr>
          <a:xfrm>
            <a:off x="621792" y="2318004"/>
            <a:ext cx="1399032" cy="699516"/>
          </a:xfrm>
          <a:prstGeom prst="rect">
            <a:avLst/>
          </a:prstGeom>
          <a:noFill/>
        </p:spPr>
        <p:txBody>
          <a:bodyPr wrap="square" lIns="0" tIns="0" rIns="0" bIns="0" rtlCol="0" anchor="ctr">
            <a:normAutofit/>
          </a:bodyPr>
          <a:lstStyle/>
          <a:p>
            <a:pPr marL="0" indent="0">
              <a:buNone/>
            </a:pPr>
            <a:r>
              <a:rPr lang="en-US" sz="1050" b="1" dirty="0">
                <a:solidFill>
                  <a:srgbClr val="1C1C1C"/>
                </a:solidFill>
              </a:rPr>
              <a:t>Tier 1</a:t>
            </a:r>
            <a:endParaRPr lang="en-US" sz="1050" dirty="0"/>
          </a:p>
        </p:txBody>
      </p:sp>
      <p:sp>
        <p:nvSpPr>
          <p:cNvPr id="18" name="Shape 16"/>
          <p:cNvSpPr/>
          <p:nvPr/>
        </p:nvSpPr>
        <p:spPr>
          <a:xfrm>
            <a:off x="2075688" y="2267712"/>
            <a:ext cx="2148840" cy="772668"/>
          </a:xfrm>
          <a:prstGeom prst="rect">
            <a:avLst/>
          </a:prstGeom>
          <a:solidFill>
            <a:srgbClr val="F5F6F8"/>
          </a:solidFill>
          <a:ln w="6985">
            <a:solidFill>
              <a:srgbClr val="D6DAE0"/>
            </a:solidFill>
            <a:prstDash val="solid"/>
          </a:ln>
        </p:spPr>
        <p:txBody>
          <a:bodyPr/>
          <a:p/>
        </p:txBody>
      </p:sp>
      <p:sp>
        <p:nvSpPr>
          <p:cNvPr id="19" name="Text 17"/>
          <p:cNvSpPr/>
          <p:nvPr/>
        </p:nvSpPr>
        <p:spPr>
          <a:xfrm>
            <a:off x="2130552" y="2318004"/>
            <a:ext cx="2039112" cy="699516"/>
          </a:xfrm>
          <a:prstGeom prst="rect">
            <a:avLst/>
          </a:prstGeom>
          <a:noFill/>
        </p:spPr>
        <p:txBody>
          <a:bodyPr wrap="square" lIns="0" tIns="0" rIns="0" bIns="0" rtlCol="0" anchor="ctr">
            <a:normAutofit/>
          </a:bodyPr>
          <a:lstStyle/>
          <a:p>
            <a:pPr marL="0" indent="0">
              <a:buNone/>
            </a:pPr>
            <a:r>
              <a:rPr sz="1050" b="1">
                <a:solidFill>
                  <a:srgbClr val="8B0000"/>
                </a:solidFill>
              </a:rPr>
              <a:t>TGC / FaithBench (Andrew)</a:t>
            </a:r>
            <a:endParaRPr lang="en-US" sz="1050" dirty="0"/>
          </a:p>
        </p:txBody>
      </p:sp>
      <p:sp>
        <p:nvSpPr>
          <p:cNvPr id="20" name="Shape 18"/>
          <p:cNvSpPr/>
          <p:nvPr/>
        </p:nvSpPr>
        <p:spPr>
          <a:xfrm>
            <a:off x="4224528" y="2267712"/>
            <a:ext cx="5989320" cy="772668"/>
          </a:xfrm>
          <a:prstGeom prst="rect">
            <a:avLst/>
          </a:prstGeom>
          <a:solidFill>
            <a:srgbClr val="F5F6F8"/>
          </a:solidFill>
          <a:ln w="6985">
            <a:solidFill>
              <a:srgbClr val="D6DAE0"/>
            </a:solidFill>
            <a:prstDash val="solid"/>
          </a:ln>
        </p:spPr>
        <p:txBody>
          <a:bodyPr/>
          <a:p/>
        </p:txBody>
      </p:sp>
      <p:sp>
        <p:nvSpPr>
          <p:cNvPr id="21" name="Text 19"/>
          <p:cNvSpPr/>
          <p:nvPr/>
        </p:nvSpPr>
        <p:spPr>
          <a:xfrm>
            <a:off x="4279392" y="2318004"/>
            <a:ext cx="5879592" cy="699516"/>
          </a:xfrm>
          <a:prstGeom prst="rect">
            <a:avLst/>
          </a:prstGeom>
          <a:noFill/>
        </p:spPr>
        <p:txBody>
          <a:bodyPr wrap="square" lIns="0" tIns="0" rIns="0" bIns="0" rtlCol="0" anchor="ctr">
            <a:normAutofit/>
          </a:bodyPr>
          <a:lstStyle/>
          <a:p>
            <a:pPr marL="0" indent="0">
              <a:buNone/>
            </a:pPr>
            <a:r>
              <a:rPr sz="1050">
                <a:solidFill>
                  <a:srgbClr val="1C1C1C"/>
                </a:solidFill>
              </a:rPr>
              <a:t>Christian belief, theology, history, and Biblical exegesis questions; useful Christian doctrine QA add-on.</a:t>
            </a:r>
            <a:endParaRPr lang="en-US" sz="1050" dirty="0"/>
          </a:p>
        </p:txBody>
      </p:sp>
      <p:sp>
        <p:nvSpPr>
          <p:cNvPr id="22" name="Shape 20"/>
          <p:cNvSpPr/>
          <p:nvPr/>
        </p:nvSpPr>
        <p:spPr>
          <a:xfrm>
            <a:off x="10213848" y="2267712"/>
            <a:ext cx="1435608" cy="772668"/>
          </a:xfrm>
          <a:prstGeom prst="rect">
            <a:avLst/>
          </a:prstGeom>
          <a:solidFill>
            <a:srgbClr val="F5F6F8"/>
          </a:solidFill>
          <a:ln w="6985">
            <a:solidFill>
              <a:srgbClr val="D6DAE0"/>
            </a:solidFill>
            <a:prstDash val="solid"/>
          </a:ln>
        </p:spPr>
        <p:txBody>
          <a:bodyPr/>
          <a:p/>
        </p:txBody>
      </p:sp>
      <p:sp>
        <p:nvSpPr>
          <p:cNvPr id="23" name="Text 21"/>
          <p:cNvSpPr/>
          <p:nvPr/>
        </p:nvSpPr>
        <p:spPr>
          <a:xfrm>
            <a:off x="10268712" y="2318004"/>
            <a:ext cx="1325880" cy="699516"/>
          </a:xfrm>
          <a:prstGeom prst="rect">
            <a:avLst/>
          </a:prstGeom>
          <a:noFill/>
        </p:spPr>
        <p:txBody>
          <a:bodyPr wrap="square" lIns="0" tIns="0" rIns="0" bIns="0" rtlCol="0" anchor="ctr">
            <a:normAutofit/>
          </a:bodyPr>
          <a:lstStyle/>
          <a:p>
            <a:pPr marL="0" indent="0">
              <a:buNone/>
            </a:pPr>
            <a:r>
              <a:rPr sz="1050" b="1">
                <a:solidFill>
                  <a:srgbClr val="1C1C1C"/>
                </a:solidFill>
              </a:rPr>
              <a:t>Run/verify</a:t>
            </a:r>
            <a:endParaRPr lang="en-US" sz="1050" dirty="0"/>
          </a:p>
        </p:txBody>
      </p:sp>
      <p:sp>
        <p:nvSpPr>
          <p:cNvPr id="24" name="Shape 22"/>
          <p:cNvSpPr/>
          <p:nvPr/>
        </p:nvSpPr>
        <p:spPr>
          <a:xfrm>
            <a:off x="566928" y="3040380"/>
            <a:ext cx="1508760" cy="772668"/>
          </a:xfrm>
          <a:prstGeom prst="rect">
            <a:avLst/>
          </a:prstGeom>
          <a:solidFill>
            <a:srgbClr val="FFFFFF"/>
          </a:solidFill>
          <a:ln w="6985">
            <a:solidFill>
              <a:srgbClr val="D6DAE0"/>
            </a:solidFill>
            <a:prstDash val="solid"/>
          </a:ln>
        </p:spPr>
        <p:txBody>
          <a:bodyPr/>
          <a:p/>
        </p:txBody>
      </p:sp>
      <p:sp>
        <p:nvSpPr>
          <p:cNvPr id="25" name="Text 23"/>
          <p:cNvSpPr/>
          <p:nvPr/>
        </p:nvSpPr>
        <p:spPr>
          <a:xfrm>
            <a:off x="621792" y="3090672"/>
            <a:ext cx="1399032" cy="699516"/>
          </a:xfrm>
          <a:prstGeom prst="rect">
            <a:avLst/>
          </a:prstGeom>
          <a:noFill/>
        </p:spPr>
        <p:txBody>
          <a:bodyPr wrap="square" lIns="0" tIns="0" rIns="0" bIns="0" rtlCol="0" anchor="ctr">
            <a:normAutofit/>
          </a:bodyPr>
          <a:lstStyle/>
          <a:p>
            <a:pPr marL="0" indent="0">
              <a:buNone/>
            </a:pPr>
            <a:r>
              <a:rPr lang="en-US" sz="1050" b="1" dirty="0">
                <a:solidFill>
                  <a:srgbClr val="1C1C1C"/>
                </a:solidFill>
              </a:rPr>
              <a:t>Tier 1</a:t>
            </a:r>
            <a:endParaRPr lang="en-US" sz="1050" dirty="0"/>
          </a:p>
        </p:txBody>
      </p:sp>
      <p:sp>
        <p:nvSpPr>
          <p:cNvPr id="26" name="Shape 24"/>
          <p:cNvSpPr/>
          <p:nvPr/>
        </p:nvSpPr>
        <p:spPr>
          <a:xfrm>
            <a:off x="2075688" y="3040380"/>
            <a:ext cx="2148840" cy="772668"/>
          </a:xfrm>
          <a:prstGeom prst="rect">
            <a:avLst/>
          </a:prstGeom>
          <a:solidFill>
            <a:srgbClr val="FFFFFF"/>
          </a:solidFill>
          <a:ln w="6985">
            <a:solidFill>
              <a:srgbClr val="D6DAE0"/>
            </a:solidFill>
            <a:prstDash val="solid"/>
          </a:ln>
        </p:spPr>
        <p:txBody>
          <a:bodyPr/>
          <a:p/>
        </p:txBody>
      </p:sp>
      <p:sp>
        <p:nvSpPr>
          <p:cNvPr id="27" name="Text 25"/>
          <p:cNvSpPr/>
          <p:nvPr/>
        </p:nvSpPr>
        <p:spPr>
          <a:xfrm>
            <a:off x="2130552" y="3090672"/>
            <a:ext cx="2039112" cy="699516"/>
          </a:xfrm>
          <a:prstGeom prst="rect">
            <a:avLst/>
          </a:prstGeom>
          <a:noFill/>
        </p:spPr>
        <p:txBody>
          <a:bodyPr wrap="square" lIns="0" tIns="0" rIns="0" bIns="0" rtlCol="0" anchor="ctr">
            <a:normAutofit/>
          </a:bodyPr>
          <a:lstStyle/>
          <a:p>
            <a:pPr marL="0" indent="0">
              <a:buNone/>
            </a:pPr>
            <a:r>
              <a:rPr sz="1050" b="1"/>
              <a:t>#42 QASiNa + </a:t>
            </a:r>
            <a:r>
              <a:rPr sz="1050" b="1">
                <a:solidFill>
                  <a:srgbClr val="8B0000"/>
                </a:solidFill>
              </a:rPr>
              <a:t>HAQA/QUQA (Andrew)</a:t>
            </a:r>
            <a:endParaRPr lang="en-US" sz="1050" dirty="0"/>
          </a:p>
        </p:txBody>
      </p:sp>
      <p:sp>
        <p:nvSpPr>
          <p:cNvPr id="28" name="Shape 26"/>
          <p:cNvSpPr/>
          <p:nvPr/>
        </p:nvSpPr>
        <p:spPr>
          <a:xfrm>
            <a:off x="4224528" y="3040380"/>
            <a:ext cx="5989320" cy="772668"/>
          </a:xfrm>
          <a:prstGeom prst="rect">
            <a:avLst/>
          </a:prstGeom>
          <a:solidFill>
            <a:srgbClr val="FFFFFF"/>
          </a:solidFill>
          <a:ln w="6985">
            <a:solidFill>
              <a:srgbClr val="D6DAE0"/>
            </a:solidFill>
            <a:prstDash val="solid"/>
          </a:ln>
        </p:spPr>
        <p:txBody>
          <a:bodyPr/>
          <a:p/>
        </p:txBody>
      </p:sp>
      <p:sp>
        <p:nvSpPr>
          <p:cNvPr id="29" name="Text 27"/>
          <p:cNvSpPr/>
          <p:nvPr/>
        </p:nvSpPr>
        <p:spPr>
          <a:xfrm>
            <a:off x="4279392" y="3090672"/>
            <a:ext cx="5879592" cy="699516"/>
          </a:xfrm>
          <a:prstGeom prst="rect">
            <a:avLst/>
          </a:prstGeom>
          <a:noFill/>
        </p:spPr>
        <p:txBody>
          <a:bodyPr wrap="square" lIns="0" tIns="0" rIns="0" bIns="0" rtlCol="0" anchor="ctr">
            <a:normAutofit/>
          </a:bodyPr>
          <a:lstStyle/>
          <a:p>
            <a:pPr marL="0" indent="0">
              <a:buNone/>
            </a:pPr>
            <a:r>
              <a:rPr sz="1050">
                <a:solidFill>
                  <a:srgbClr val="1C1C1C"/>
                </a:solidFill>
              </a:rPr>
              <a:t>Islamic QA across Indonesian Sirah and Arabic Quran/Hadith factual questions; useful for source grounding and saturation checks.</a:t>
            </a:r>
            <a:endParaRPr lang="en-US" sz="1050" dirty="0"/>
          </a:p>
        </p:txBody>
      </p:sp>
      <p:sp>
        <p:nvSpPr>
          <p:cNvPr id="30" name="Shape 28"/>
          <p:cNvSpPr/>
          <p:nvPr/>
        </p:nvSpPr>
        <p:spPr>
          <a:xfrm>
            <a:off x="10213848" y="3040380"/>
            <a:ext cx="1435608" cy="772668"/>
          </a:xfrm>
          <a:prstGeom prst="rect">
            <a:avLst/>
          </a:prstGeom>
          <a:solidFill>
            <a:srgbClr val="FFFFFF"/>
          </a:solidFill>
          <a:ln w="6985">
            <a:solidFill>
              <a:srgbClr val="D6DAE0"/>
            </a:solidFill>
            <a:prstDash val="solid"/>
          </a:ln>
        </p:spPr>
        <p:txBody>
          <a:bodyPr/>
          <a:p/>
        </p:txBody>
      </p:sp>
      <p:sp>
        <p:nvSpPr>
          <p:cNvPr id="31" name="Text 29"/>
          <p:cNvSpPr/>
          <p:nvPr/>
        </p:nvSpPr>
        <p:spPr>
          <a:xfrm>
            <a:off x="10268712" y="3090672"/>
            <a:ext cx="1325880" cy="699516"/>
          </a:xfrm>
          <a:prstGeom prst="rect">
            <a:avLst/>
          </a:prstGeom>
          <a:noFill/>
        </p:spPr>
        <p:txBody>
          <a:bodyPr wrap="square" lIns="0" tIns="0" rIns="0" bIns="0" rtlCol="0" anchor="ctr">
            <a:normAutofit/>
          </a:bodyPr>
          <a:lstStyle/>
          <a:p>
            <a:pPr marL="0" indent="0">
              <a:buNone/>
            </a:pPr>
            <a:r>
              <a:rPr sz="1050" b="1">
                <a:solidFill>
                  <a:srgbClr val="1C1C1C"/>
                </a:solidFill>
              </a:rPr>
              <a:t>Run now</a:t>
            </a:r>
            <a:endParaRPr lang="en-US" sz="1050" dirty="0"/>
          </a:p>
        </p:txBody>
      </p:sp>
      <p:sp>
        <p:nvSpPr>
          <p:cNvPr id="32" name="Shape 30"/>
          <p:cNvSpPr/>
          <p:nvPr/>
        </p:nvSpPr>
        <p:spPr>
          <a:xfrm>
            <a:off x="566928" y="3813048"/>
            <a:ext cx="1508760" cy="772668"/>
          </a:xfrm>
          <a:prstGeom prst="rect">
            <a:avLst/>
          </a:prstGeom>
          <a:solidFill>
            <a:srgbClr val="F5F6F8"/>
          </a:solidFill>
          <a:ln w="6985">
            <a:solidFill>
              <a:srgbClr val="D6DAE0"/>
            </a:solidFill>
            <a:prstDash val="solid"/>
          </a:ln>
        </p:spPr>
        <p:txBody>
          <a:bodyPr/>
          <a:p/>
        </p:txBody>
      </p:sp>
      <p:sp>
        <p:nvSpPr>
          <p:cNvPr id="33" name="Text 31"/>
          <p:cNvSpPr/>
          <p:nvPr/>
        </p:nvSpPr>
        <p:spPr>
          <a:xfrm>
            <a:off x="621792" y="3863340"/>
            <a:ext cx="1399032" cy="699516"/>
          </a:xfrm>
          <a:prstGeom prst="rect">
            <a:avLst/>
          </a:prstGeom>
          <a:noFill/>
        </p:spPr>
        <p:txBody>
          <a:bodyPr wrap="square" lIns="0" tIns="0" rIns="0" bIns="0" rtlCol="0" anchor="ctr">
            <a:normAutofit/>
          </a:bodyPr>
          <a:lstStyle/>
          <a:p>
            <a:pPr marL="0" indent="0">
              <a:buNone/>
            </a:pPr>
            <a:r>
              <a:rPr lang="en-US" sz="1050" b="1" dirty="0">
                <a:solidFill>
                  <a:srgbClr val="1C1C1C"/>
                </a:solidFill>
              </a:rPr>
              <a:t>Tier 1</a:t>
            </a:r>
            <a:r>
              <a:rPr lang="en-US" sz="1050" dirty="0">
                <a:solidFill>
                  <a:srgbClr val="1C1C1C"/>
                </a:solidFill>
              </a:rPr>
              <a:t> / adapt</a:t>
            </a:r>
            <a:endParaRPr lang="en-US" sz="1050" dirty="0"/>
          </a:p>
        </p:txBody>
      </p:sp>
      <p:sp>
        <p:nvSpPr>
          <p:cNvPr id="34" name="Shape 32"/>
          <p:cNvSpPr/>
          <p:nvPr/>
        </p:nvSpPr>
        <p:spPr>
          <a:xfrm>
            <a:off x="2075688" y="3813048"/>
            <a:ext cx="2148840" cy="772668"/>
          </a:xfrm>
          <a:prstGeom prst="rect">
            <a:avLst/>
          </a:prstGeom>
          <a:solidFill>
            <a:srgbClr val="F5F6F8"/>
          </a:solidFill>
          <a:ln w="6985">
            <a:solidFill>
              <a:srgbClr val="D6DAE0"/>
            </a:solidFill>
            <a:prstDash val="solid"/>
          </a:ln>
        </p:spPr>
        <p:txBody>
          <a:bodyPr/>
          <a:p/>
        </p:txBody>
      </p:sp>
      <p:sp>
        <p:nvSpPr>
          <p:cNvPr id="35" name="Text 33"/>
          <p:cNvSpPr/>
          <p:nvPr/>
        </p:nvSpPr>
        <p:spPr>
          <a:xfrm>
            <a:off x="2130552" y="3863340"/>
            <a:ext cx="2039112" cy="699516"/>
          </a:xfrm>
          <a:prstGeom prst="rect">
            <a:avLst/>
          </a:prstGeom>
          <a:noFill/>
        </p:spPr>
        <p:txBody>
          <a:bodyPr wrap="square" lIns="0" tIns="0" rIns="0" bIns="0" rtlCol="0" anchor="ctr">
            <a:normAutofit/>
          </a:bodyPr>
          <a:lstStyle/>
          <a:p>
            <a:pPr marL="0" indent="0">
              <a:buNone/>
            </a:pPr>
            <a:r>
              <a:rPr sz="1050" b="1">
                <a:solidFill>
                  <a:srgbClr val="1C1C1C"/>
                </a:solidFill>
              </a:rPr>
              <a:t>#37 BibleQA + #44/#45 FatwaSet</a:t>
            </a:r>
            <a:endParaRPr lang="en-US" sz="1050" dirty="0"/>
          </a:p>
        </p:txBody>
      </p:sp>
      <p:sp>
        <p:nvSpPr>
          <p:cNvPr id="36" name="Shape 34"/>
          <p:cNvSpPr/>
          <p:nvPr/>
        </p:nvSpPr>
        <p:spPr>
          <a:xfrm>
            <a:off x="4224528" y="3813048"/>
            <a:ext cx="5989320" cy="772668"/>
          </a:xfrm>
          <a:prstGeom prst="rect">
            <a:avLst/>
          </a:prstGeom>
          <a:solidFill>
            <a:srgbClr val="F5F6F8"/>
          </a:solidFill>
          <a:ln w="6985">
            <a:solidFill>
              <a:srgbClr val="D6DAE0"/>
            </a:solidFill>
            <a:prstDash val="solid"/>
          </a:ln>
        </p:spPr>
        <p:txBody>
          <a:bodyPr/>
          <a:p/>
        </p:txBody>
      </p:sp>
      <p:sp>
        <p:nvSpPr>
          <p:cNvPr id="37" name="Text 35"/>
          <p:cNvSpPr/>
          <p:nvPr/>
        </p:nvSpPr>
        <p:spPr>
          <a:xfrm>
            <a:off x="4279392" y="3863340"/>
            <a:ext cx="5879592" cy="699516"/>
          </a:xfrm>
          <a:prstGeom prst="rect">
            <a:avLst/>
          </a:prstGeom>
          <a:noFill/>
        </p:spPr>
        <p:txBody>
          <a:bodyPr wrap="square" lIns="0" tIns="0" rIns="0" bIns="0" rtlCol="0" anchor="ctr">
            <a:normAutofit/>
          </a:bodyPr>
          <a:lstStyle/>
          <a:p>
            <a:pPr marL="0" indent="0">
              <a:buNone/>
            </a:pPr>
            <a:r>
              <a:rPr sz="1050">
                <a:solidFill>
                  <a:srgbClr val="1C1C1C"/>
                </a:solidFill>
              </a:rPr>
              <a:t>Christian scripture QA plus Arabic Islamic fatwa corpus for verse selection, rulings, and source-grounded knowledge.</a:t>
            </a:r>
            <a:endParaRPr lang="en-US" sz="1050" dirty="0"/>
          </a:p>
        </p:txBody>
      </p:sp>
      <p:sp>
        <p:nvSpPr>
          <p:cNvPr id="38" name="Shape 36"/>
          <p:cNvSpPr/>
          <p:nvPr/>
        </p:nvSpPr>
        <p:spPr>
          <a:xfrm>
            <a:off x="10213848" y="3813048"/>
            <a:ext cx="1435608" cy="772668"/>
          </a:xfrm>
          <a:prstGeom prst="rect">
            <a:avLst/>
          </a:prstGeom>
          <a:solidFill>
            <a:srgbClr val="F5F6F8"/>
          </a:solidFill>
          <a:ln w="6985">
            <a:solidFill>
              <a:srgbClr val="D6DAE0"/>
            </a:solidFill>
            <a:prstDash val="solid"/>
          </a:ln>
        </p:spPr>
        <p:txBody>
          <a:bodyPr/>
          <a:p/>
        </p:txBody>
      </p:sp>
      <p:sp>
        <p:nvSpPr>
          <p:cNvPr id="39" name="Text 37"/>
          <p:cNvSpPr/>
          <p:nvPr/>
        </p:nvSpPr>
        <p:spPr>
          <a:xfrm>
            <a:off x="10268712" y="3863340"/>
            <a:ext cx="1325880" cy="699516"/>
          </a:xfrm>
          <a:prstGeom prst="rect">
            <a:avLst/>
          </a:prstGeom>
          <a:noFill/>
        </p:spPr>
        <p:txBody>
          <a:bodyPr wrap="square" lIns="0" tIns="0" rIns="0" bIns="0" rtlCol="0" anchor="ctr">
            <a:normAutofit/>
          </a:bodyPr>
          <a:lstStyle/>
          <a:p>
            <a:pPr marL="0" indent="0">
              <a:buNone/>
            </a:pPr>
            <a:r>
              <a:rPr sz="1050" b="1">
                <a:solidFill>
                  <a:srgbClr val="1C1C1C"/>
                </a:solidFill>
              </a:rPr>
              <a:t>Run/adapt</a:t>
            </a:r>
            <a:endParaRPr lang="en-US" sz="1050" dirty="0"/>
          </a:p>
        </p:txBody>
      </p:sp>
      <p:sp>
        <p:nvSpPr>
          <p:cNvPr id="40" name="Shape 38"/>
          <p:cNvSpPr/>
          <p:nvPr/>
        </p:nvSpPr>
        <p:spPr>
          <a:xfrm>
            <a:off x="566928" y="4585716"/>
            <a:ext cx="1508760" cy="772668"/>
          </a:xfrm>
          <a:prstGeom prst="rect">
            <a:avLst/>
          </a:prstGeom>
          <a:solidFill>
            <a:srgbClr val="FFFFFF"/>
          </a:solidFill>
          <a:ln w="6985">
            <a:solidFill>
              <a:srgbClr val="D6DAE0"/>
            </a:solidFill>
            <a:prstDash val="solid"/>
          </a:ln>
        </p:spPr>
        <p:txBody>
          <a:bodyPr/>
          <a:p/>
        </p:txBody>
      </p:sp>
      <p:sp>
        <p:nvSpPr>
          <p:cNvPr id="41" name="Text 39"/>
          <p:cNvSpPr/>
          <p:nvPr/>
        </p:nvSpPr>
        <p:spPr>
          <a:xfrm>
            <a:off x="621792" y="4636008"/>
            <a:ext cx="1399032" cy="699516"/>
          </a:xfrm>
          <a:prstGeom prst="rect">
            <a:avLst/>
          </a:prstGeom>
          <a:noFill/>
        </p:spPr>
        <p:txBody>
          <a:bodyPr wrap="square" lIns="0" tIns="0" rIns="0" bIns="0" rtlCol="0" anchor="ctr">
            <a:normAutofit/>
          </a:bodyPr>
          <a:lstStyle/>
          <a:p>
            <a:pPr marL="0" indent="0">
              <a:buNone/>
            </a:pPr>
            <a:r>
              <a:rPr lang="en-US" sz="1050" dirty="0">
                <a:solidFill>
                  <a:srgbClr val="1C1C1C"/>
                </a:solidFill>
              </a:rPr>
              <a:t>Tier 2 / verify</a:t>
            </a:r>
            <a:endParaRPr lang="en-US" sz="1050" dirty="0"/>
          </a:p>
        </p:txBody>
      </p:sp>
      <p:sp>
        <p:nvSpPr>
          <p:cNvPr id="42" name="Shape 40"/>
          <p:cNvSpPr/>
          <p:nvPr/>
        </p:nvSpPr>
        <p:spPr>
          <a:xfrm>
            <a:off x="2075688" y="4585716"/>
            <a:ext cx="2148840" cy="772668"/>
          </a:xfrm>
          <a:prstGeom prst="rect">
            <a:avLst/>
          </a:prstGeom>
          <a:solidFill>
            <a:srgbClr val="FFFFFF"/>
          </a:solidFill>
          <a:ln w="6985">
            <a:solidFill>
              <a:srgbClr val="D6DAE0"/>
            </a:solidFill>
            <a:prstDash val="solid"/>
          </a:ln>
        </p:spPr>
        <p:txBody>
          <a:bodyPr/>
          <a:p/>
        </p:txBody>
      </p:sp>
      <p:sp>
        <p:nvSpPr>
          <p:cNvPr id="43" name="Text 41"/>
          <p:cNvSpPr/>
          <p:nvPr/>
        </p:nvSpPr>
        <p:spPr>
          <a:xfrm>
            <a:off x="2130552" y="4636008"/>
            <a:ext cx="2039112" cy="699516"/>
          </a:xfrm>
          <a:prstGeom prst="rect">
            <a:avLst/>
          </a:prstGeom>
          <a:noFill/>
        </p:spPr>
        <p:txBody>
          <a:bodyPr wrap="square" lIns="0" tIns="0" rIns="0" bIns="0" rtlCol="0" anchor="ctr">
            <a:normAutofit/>
          </a:bodyPr>
          <a:lstStyle/>
          <a:p>
            <a:pPr marL="0" indent="0">
              <a:buNone/>
            </a:pPr>
            <a:r>
              <a:rPr sz="1050" b="1">
                <a:solidFill>
                  <a:srgbClr val="8B0000"/>
                </a:solidFill>
              </a:rPr>
              <a:t>AceGPT (Andrew)</a:t>
            </a:r>
            <a:r>
              <a:rPr sz="1050" b="1"/>
              <a:t> (+ #32 Islam QA)</a:t>
            </a:r>
            <a:endParaRPr lang="en-US" sz="1050" dirty="0"/>
          </a:p>
        </p:txBody>
      </p:sp>
      <p:sp>
        <p:nvSpPr>
          <p:cNvPr id="44" name="Shape 42"/>
          <p:cNvSpPr/>
          <p:nvPr/>
        </p:nvSpPr>
        <p:spPr>
          <a:xfrm>
            <a:off x="4224528" y="4585716"/>
            <a:ext cx="5989320" cy="772668"/>
          </a:xfrm>
          <a:prstGeom prst="rect">
            <a:avLst/>
          </a:prstGeom>
          <a:solidFill>
            <a:srgbClr val="FFFFFF"/>
          </a:solidFill>
          <a:ln w="6985">
            <a:solidFill>
              <a:srgbClr val="D6DAE0"/>
            </a:solidFill>
            <a:prstDash val="solid"/>
          </a:ln>
        </p:spPr>
        <p:txBody>
          <a:bodyPr/>
          <a:p/>
        </p:txBody>
      </p:sp>
      <p:sp>
        <p:nvSpPr>
          <p:cNvPr id="45" name="Text 43"/>
          <p:cNvSpPr/>
          <p:nvPr/>
        </p:nvSpPr>
        <p:spPr>
          <a:xfrm>
            <a:off x="4279392" y="4636008"/>
            <a:ext cx="5879592" cy="699516"/>
          </a:xfrm>
          <a:prstGeom prst="rect">
            <a:avLst/>
          </a:prstGeom>
          <a:noFill/>
        </p:spPr>
        <p:txBody>
          <a:bodyPr wrap="square" lIns="0" tIns="0" rIns="0" bIns="0" rtlCol="0" anchor="ctr">
            <a:normAutofit/>
          </a:bodyPr>
          <a:lstStyle/>
          <a:p>
            <a:pPr marL="0" indent="0">
              <a:buNone/>
            </a:pPr>
            <a:r>
              <a:rPr sz="1050">
                <a:solidFill>
                  <a:srgbClr val="1C1C1C"/>
                </a:solidFill>
              </a:rPr>
              <a:t>Arabic-culture yes/no questions with some Islam overlap; not Islam-specific and likely saturated, so keep as runner-up/verify.</a:t>
            </a:r>
            <a:endParaRPr lang="en-US" sz="1050" dirty="0"/>
          </a:p>
        </p:txBody>
      </p:sp>
      <p:sp>
        <p:nvSpPr>
          <p:cNvPr id="46" name="Shape 44"/>
          <p:cNvSpPr/>
          <p:nvPr/>
        </p:nvSpPr>
        <p:spPr>
          <a:xfrm>
            <a:off x="10213848" y="4585716"/>
            <a:ext cx="1435608" cy="772668"/>
          </a:xfrm>
          <a:prstGeom prst="rect">
            <a:avLst/>
          </a:prstGeom>
          <a:solidFill>
            <a:srgbClr val="FFFFFF"/>
          </a:solidFill>
          <a:ln w="6985">
            <a:solidFill>
              <a:srgbClr val="D6DAE0"/>
            </a:solidFill>
            <a:prstDash val="solid"/>
          </a:ln>
        </p:spPr>
        <p:txBody>
          <a:bodyPr/>
          <a:p/>
        </p:txBody>
      </p:sp>
      <p:sp>
        <p:nvSpPr>
          <p:cNvPr id="47" name="Text 45"/>
          <p:cNvSpPr/>
          <p:nvPr/>
        </p:nvSpPr>
        <p:spPr>
          <a:xfrm>
            <a:off x="10268712" y="4636008"/>
            <a:ext cx="1325880" cy="699516"/>
          </a:xfrm>
          <a:prstGeom prst="rect">
            <a:avLst/>
          </a:prstGeom>
          <a:noFill/>
        </p:spPr>
        <p:txBody>
          <a:bodyPr wrap="square" lIns="0" tIns="0" rIns="0" bIns="0" rtlCol="0" anchor="ctr">
            <a:normAutofit/>
          </a:bodyPr>
          <a:lstStyle/>
          <a:p>
            <a:pPr marL="0" indent="0">
              <a:buNone/>
            </a:pPr>
            <a:r>
              <a:rPr sz="1050" b="1">
                <a:solidFill>
                  <a:srgbClr val="1C1C1C"/>
                </a:solidFill>
              </a:rPr>
              <a:t>Runner-up</a:t>
            </a:r>
            <a:endParaRPr lang="en-US" sz="1050" dirty="0"/>
          </a:p>
        </p:txBody>
      </p:sp>
      <p:sp>
        <p:nvSpPr>
          <p:cNvPr id="48" name="Shape 46"/>
          <p:cNvSpPr/>
          <p:nvPr/>
        </p:nvSpPr>
        <p:spPr>
          <a:xfrm>
            <a:off x="658368" y="5641848"/>
            <a:ext cx="10881360" cy="502920"/>
          </a:xfrm>
          <a:prstGeom prst="rect">
            <a:avLst/>
          </a:prstGeom>
          <a:solidFill>
            <a:srgbClr val="E8F0F8"/>
          </a:solidFill>
          <a:ln w="8890">
            <a:solidFill>
              <a:srgbClr val="1F4E79"/>
            </a:solidFill>
            <a:prstDash val="solid"/>
          </a:ln>
        </p:spPr>
        <p:txBody>
          <a:bodyPr/>
          <a:p/>
        </p:txBody>
      </p:sp>
      <p:sp>
        <p:nvSpPr>
          <p:cNvPr id="49" name="Text 47"/>
          <p:cNvSpPr/>
          <p:nvPr/>
        </p:nvSpPr>
        <p:spPr>
          <a:xfrm>
            <a:off x="914400" y="5806440"/>
            <a:ext cx="10241280" cy="128016"/>
          </a:xfrm>
          <a:prstGeom prst="rect">
            <a:avLst/>
          </a:prstGeom>
          <a:noFill/>
        </p:spPr>
        <p:txBody>
          <a:bodyPr wrap="square" lIns="0" tIns="0" rIns="0" bIns="0" rtlCol="0" anchor="ctr">
            <a:noAutofit/>
          </a:bodyPr>
          <a:lstStyle/>
          <a:p>
            <a:pPr marL="0" indent="0" algn="ctr">
              <a:buNone/>
            </a:pPr>
            <a:r>
              <a:rPr sz="1400" b="1">
                <a:solidFill>
                  <a:srgbClr val="1F4E79"/>
                </a:solidFill>
              </a:rPr>
              <a:t>Track B takeaway: </a:t>
            </a:r>
            <a:r>
              <a:rPr sz="1400" b="1">
                <a:solidFill>
                  <a:srgbClr val="1F4E79"/>
                </a:solidFill>
                <a:highlight>
                  <a:srgbClr val="FFFF00"/>
                </a:highlight>
              </a:rPr>
              <a:t>MultiFaithBench </a:t>
            </a:r>
            <a:r>
              <a:rPr sz="1400" b="1">
                <a:solidFill>
                  <a:srgbClr val="1F4E79"/>
                </a:solidFill>
              </a:rPr>
              <a:t>knowledge work — scripture QA, factual doctrine, source faithfulness, fatwa/ruling knowledge, and saturation checks.</a:t>
            </a:r>
            <a:endParaRPr lang="en-US" sz="1400" b="1" dirty="0">
              <a:solidFill>
                <a:srgbClr val="1F4E7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192"/>
            <a:ext cx="2057400" cy="109728"/>
          </a:xfrm>
          <a:prstGeom prst="rect">
            <a:avLst/>
          </a:prstGeom>
          <a:noFill/>
        </p:spPr>
        <p:txBody>
          <a:bodyPr wrap="square" lIns="0" tIns="0" rIns="0" bIns="0" rtlCol="0" anchor="ctr">
            <a:normAutofit/>
          </a:bodyPr>
          <a:lstStyle/>
          <a:p>
            <a:pPr marL="0" indent="0">
              <a:buNone/>
            </a:pPr>
            <a:r>
              <a:rPr lang="en-US" sz="1050" b="1" dirty="0">
                <a:solidFill>
                  <a:srgbClr val="FFFFFF"/>
                </a:solidFill>
              </a:rPr>
              <a:t>TRACK B</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sz="2800" b="1">
                <a:latin typeface="Aptos Display"/>
              </a:rPr>
              <a:t>#42 QASiNa + </a:t>
            </a:r>
            <a:r>
              <a:rPr sz="2800" b="1">
                <a:solidFill>
                  <a:srgbClr val="8B0000"/>
                </a:solidFill>
                <a:latin typeface="Aptos Display"/>
              </a:rPr>
              <a:t>HAQA/QUQA (Andrew)</a:t>
            </a:r>
            <a:endParaRPr lang="en-US" sz="2800" dirty="0"/>
          </a:p>
        </p:txBody>
      </p:sp>
      <p:sp>
        <p:nvSpPr>
          <p:cNvPr id="5" name="Text 3"/>
          <p:cNvSpPr/>
          <p:nvPr/>
        </p:nvSpPr>
        <p:spPr>
          <a:xfrm>
            <a:off x="530352" y="1298448"/>
            <a:ext cx="10789920" cy="256032"/>
          </a:xfrm>
          <a:prstGeom prst="rect">
            <a:avLst/>
          </a:prstGeom>
          <a:noFill/>
        </p:spPr>
        <p:txBody>
          <a:bodyPr wrap="square" lIns="0" tIns="0" rIns="0" bIns="0" rtlCol="0" anchor="ctr">
            <a:normAutofit/>
          </a:bodyPr>
          <a:lstStyle/>
          <a:p>
            <a:pPr marL="0" indent="0">
              <a:buNone/>
            </a:pPr>
            <a:r>
              <a:rPr sz="1220" i="1">
                <a:solidFill>
                  <a:srgbClr val="6C737F"/>
                </a:solidFill>
              </a:rPr>
              <a:t>Islamic QA: source grounding plus Quran/Hadith factual questions.</a:t>
            </a:r>
            <a:endParaRPr lang="en-US" sz="1220"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14</a:t>
            </a:r>
            <a:endParaRPr lang="en-US" sz="1050" dirty="0"/>
          </a:p>
        </p:txBody>
      </p:sp>
      <p:sp>
        <p:nvSpPr>
          <p:cNvPr id="8" name="Text 6"/>
          <p:cNvSpPr/>
          <p:nvPr/>
        </p:nvSpPr>
        <p:spPr>
          <a:xfrm>
            <a:off x="640080" y="1847088"/>
            <a:ext cx="3840480" cy="219456"/>
          </a:xfrm>
          <a:prstGeom prst="rect">
            <a:avLst/>
          </a:prstGeom>
          <a:noFill/>
        </p:spPr>
        <p:txBody>
          <a:bodyPr wrap="square" lIns="0" tIns="0" rIns="0" bIns="0" rtlCol="0" anchor="ctr">
            <a:normAutofit/>
          </a:bodyPr>
          <a:lstStyle/>
          <a:p>
            <a:pPr marL="0" indent="0">
              <a:buNone/>
            </a:pPr>
            <a:r>
              <a:rPr sz="1500" b="1"/>
              <a:t>#42 QASiNa + </a:t>
            </a:r>
            <a:r>
              <a:rPr sz="1500" b="1">
                <a:solidFill>
                  <a:srgbClr val="8B0000"/>
                </a:solidFill>
              </a:rPr>
              <a:t>HAQA/QUQA (Andrew)</a:t>
            </a:r>
            <a:endParaRPr lang="en-US" sz="1500" dirty="0"/>
          </a:p>
        </p:txBody>
      </p:sp>
      <p:sp>
        <p:nvSpPr>
          <p:cNvPr id="9" name="Text 7"/>
          <p:cNvSpPr/>
          <p:nvPr/>
        </p:nvSpPr>
        <p:spPr>
          <a:xfrm>
            <a:off x="640080" y="2148840"/>
            <a:ext cx="8595360" cy="237744"/>
          </a:xfrm>
          <a:prstGeom prst="rect">
            <a:avLst/>
          </a:prstGeom>
          <a:noFill/>
        </p:spPr>
        <p:txBody>
          <a:bodyPr wrap="square" lIns="0" tIns="0" rIns="0" bIns="0" rtlCol="0" anchor="ctr">
            <a:normAutofit/>
          </a:bodyPr>
          <a:lstStyle/>
          <a:p>
            <a:pPr marL="0" indent="0">
              <a:buNone/>
            </a:pPr>
            <a:r>
              <a:rPr sz="1220" i="1">
                <a:solidFill>
                  <a:srgbClr val="6C737F"/>
                </a:solidFill>
              </a:rPr>
              <a:t>Direct Track B candidates</a:t>
            </a:r>
            <a:endParaRPr lang="en-US" sz="1220" dirty="0"/>
          </a:p>
        </p:txBody>
      </p:sp>
      <p:sp>
        <p:nvSpPr>
          <p:cNvPr id="10" name="Shape 8"/>
          <p:cNvSpPr/>
          <p:nvPr/>
        </p:nvSpPr>
        <p:spPr>
          <a:xfrm>
            <a:off x="640080" y="2542032"/>
            <a:ext cx="10881360" cy="530352"/>
          </a:xfrm>
          <a:prstGeom prst="rect">
            <a:avLst/>
          </a:prstGeom>
          <a:solidFill>
            <a:srgbClr val="1F4E79"/>
          </a:solidFill>
          <a:ln w="12700">
            <a:solidFill>
              <a:srgbClr val="1F4E79"/>
            </a:solidFill>
            <a:prstDash val="solid"/>
          </a:ln>
        </p:spPr>
        <p:txBody>
          <a:bodyPr/>
          <a:p/>
        </p:txBody>
      </p:sp>
      <p:sp>
        <p:nvSpPr>
          <p:cNvPr id="11" name="Text 9"/>
          <p:cNvSpPr/>
          <p:nvPr/>
        </p:nvSpPr>
        <p:spPr>
          <a:xfrm>
            <a:off x="841248" y="2651760"/>
            <a:ext cx="1005840" cy="91440"/>
          </a:xfrm>
          <a:prstGeom prst="rect">
            <a:avLst/>
          </a:prstGeom>
          <a:noFill/>
        </p:spPr>
        <p:txBody>
          <a:bodyPr wrap="square" lIns="0" tIns="0" rIns="0" bIns="0" rtlCol="0" anchor="ctr"/>
          <a:lstStyle/>
          <a:p>
            <a:pPr marL="0" indent="0">
              <a:buNone/>
            </a:pPr>
            <a:r>
              <a:rPr lang="en-US" sz="900" b="1" dirty="0">
                <a:solidFill>
                  <a:srgbClr val="FFFFFF"/>
                </a:solidFill>
              </a:rPr>
              <a:t>BIG IDEA</a:t>
            </a:r>
            <a:endParaRPr lang="en-US" sz="900" dirty="0"/>
          </a:p>
        </p:txBody>
      </p:sp>
      <p:sp>
        <p:nvSpPr>
          <p:cNvPr id="12" name="Text 10"/>
          <p:cNvSpPr/>
          <p:nvPr/>
        </p:nvSpPr>
        <p:spPr>
          <a:xfrm>
            <a:off x="2139696" y="2633472"/>
            <a:ext cx="9125712" cy="164592"/>
          </a:xfrm>
          <a:prstGeom prst="rect">
            <a:avLst/>
          </a:prstGeom>
          <a:noFill/>
        </p:spPr>
        <p:txBody>
          <a:bodyPr wrap="square" lIns="0" tIns="0" rIns="0" bIns="0" rtlCol="0" anchor="ctr">
            <a:normAutofit/>
          </a:bodyPr>
          <a:lstStyle/>
          <a:p>
            <a:pPr marL="0" indent="0">
              <a:buNone/>
            </a:pPr>
            <a:r>
              <a:rPr sz="1220" b="1">
                <a:solidFill>
                  <a:srgbClr val="FFFFFF"/>
                </a:solidFill>
              </a:rPr>
              <a:t>Tests whether models answer Islamic religious questions from source context rather than adding unsupported interpretation.</a:t>
            </a:r>
            <a:endParaRPr lang="en-US" sz="1220" dirty="0"/>
          </a:p>
        </p:txBody>
      </p:sp>
      <p:sp>
        <p:nvSpPr>
          <p:cNvPr id="13" name="Shape 11"/>
          <p:cNvSpPr/>
          <p:nvPr/>
        </p:nvSpPr>
        <p:spPr>
          <a:xfrm>
            <a:off x="640080" y="3401568"/>
            <a:ext cx="3429000" cy="2048256"/>
          </a:xfrm>
          <a:prstGeom prst="rect">
            <a:avLst/>
          </a:prstGeom>
          <a:solidFill>
            <a:srgbClr val="F5F6F8"/>
          </a:solidFill>
          <a:ln w="8890">
            <a:solidFill>
              <a:srgbClr val="D6DAE0"/>
            </a:solidFill>
            <a:prstDash val="solid"/>
          </a:ln>
        </p:spPr>
        <p:txBody>
          <a:bodyPr/>
          <a:p/>
        </p:txBody>
      </p:sp>
      <p:sp>
        <p:nvSpPr>
          <p:cNvPr id="14" name="Shape 12"/>
          <p:cNvSpPr/>
          <p:nvPr/>
        </p:nvSpPr>
        <p:spPr>
          <a:xfrm>
            <a:off x="640080" y="3401568"/>
            <a:ext cx="3429000" cy="310896"/>
          </a:xfrm>
          <a:prstGeom prst="rect">
            <a:avLst/>
          </a:prstGeom>
          <a:solidFill>
            <a:srgbClr val="111111"/>
          </a:solidFill>
          <a:ln w="12700">
            <a:solidFill>
              <a:srgbClr val="111111"/>
            </a:solidFill>
            <a:prstDash val="solid"/>
          </a:ln>
        </p:spPr>
        <p:txBody>
          <a:bodyPr/>
          <a:p/>
        </p:txBody>
      </p:sp>
      <p:sp>
        <p:nvSpPr>
          <p:cNvPr id="15" name="Text 13"/>
          <p:cNvSpPr/>
          <p:nvPr/>
        </p:nvSpPr>
        <p:spPr>
          <a:xfrm>
            <a:off x="758952" y="3488436"/>
            <a:ext cx="3191256" cy="109728"/>
          </a:xfrm>
          <a:prstGeom prst="rect">
            <a:avLst/>
          </a:prstGeom>
          <a:noFill/>
        </p:spPr>
        <p:txBody>
          <a:bodyPr wrap="square" lIns="0" tIns="0" rIns="0" bIns="0" rtlCol="0" anchor="ctr">
            <a:normAutofit/>
          </a:bodyPr>
          <a:lstStyle/>
          <a:p>
            <a:pPr marL="0" indent="0">
              <a:buNone/>
            </a:pPr>
            <a:r>
              <a:rPr lang="en-US" sz="980" b="1" dirty="0">
                <a:solidFill>
                  <a:srgbClr val="FFFFFF"/>
                </a:solidFill>
              </a:rPr>
              <a:t>DATASET / TASK</a:t>
            </a:r>
            <a:endParaRPr lang="en-US" sz="980" dirty="0"/>
          </a:p>
        </p:txBody>
      </p:sp>
      <p:sp>
        <p:nvSpPr>
          <p:cNvPr id="16" name="Text 14"/>
          <p:cNvSpPr/>
          <p:nvPr/>
        </p:nvSpPr>
        <p:spPr>
          <a:xfrm>
            <a:off x="822960" y="3968496"/>
            <a:ext cx="3054096" cy="1097280"/>
          </a:xfrm>
          <a:prstGeom prst="rect">
            <a:avLst/>
          </a:prstGeom>
          <a:noFill/>
        </p:spPr>
        <p:txBody>
          <a:bodyPr wrap="square" lIns="254" tIns="254" rIns="254" bIns="254" rtlCol="0" anchor="t">
            <a:normAutofit/>
          </a:bodyPr>
          <a:lstStyle/>
          <a:p>
            <a:pPr marL="0" indent="0">
              <a:buNone/>
            </a:pPr>
            <a:r>
              <a:rPr sz="1050"/>
              <a:t>• Indonesian Sirah QA (QASiNa)</a:t>
            </a:r>
            <a:endParaRPr lang="en-US" sz="1050" dirty="0"/>
          </a:p>
          <a:p>
            <a:r>
              <a:rPr sz="1050">
                <a:solidFill>
                  <a:srgbClr val="8B0000"/>
                </a:solidFill>
              </a:rPr>
              <a:t>• Arabic Quran QA (QUQA) (Andrew)</a:t>
            </a:r>
            <a:endParaRPr sz="1050">
              <a:solidFill>
                <a:srgbClr val="8B0000"/>
              </a:solidFill>
            </a:endParaRPr>
          </a:p>
          <a:p>
            <a:r>
              <a:rPr sz="1050">
                <a:solidFill>
                  <a:srgbClr val="8B0000"/>
                </a:solidFill>
              </a:rPr>
              <a:t>• Arabic Hadith QA (HAQA) (Andrew)</a:t>
            </a:r>
            <a:endParaRPr sz="1050">
              <a:solidFill>
                <a:srgbClr val="8B0000"/>
              </a:solidFill>
            </a:endParaRPr>
          </a:p>
          <a:p>
            <a:r>
              <a:rPr sz="1050"/>
              <a:t>• Mostly factual; saturation risk</a:t>
            </a:r>
            <a:endParaRPr sz="1050"/>
          </a:p>
        </p:txBody>
      </p:sp>
      <p:sp>
        <p:nvSpPr>
          <p:cNvPr id="17" name="Shape 15"/>
          <p:cNvSpPr/>
          <p:nvPr/>
        </p:nvSpPr>
        <p:spPr>
          <a:xfrm>
            <a:off x="4370832" y="3401568"/>
            <a:ext cx="3429000" cy="2048256"/>
          </a:xfrm>
          <a:prstGeom prst="rect">
            <a:avLst/>
          </a:prstGeom>
          <a:solidFill>
            <a:srgbClr val="F5F6F8"/>
          </a:solidFill>
          <a:ln w="8890">
            <a:solidFill>
              <a:srgbClr val="D6DAE0"/>
            </a:solidFill>
            <a:prstDash val="solid"/>
          </a:ln>
        </p:spPr>
        <p:txBody>
          <a:bodyPr/>
          <a:p/>
        </p:txBody>
      </p:sp>
      <p:sp>
        <p:nvSpPr>
          <p:cNvPr id="18" name="Shape 16"/>
          <p:cNvSpPr/>
          <p:nvPr/>
        </p:nvSpPr>
        <p:spPr>
          <a:xfrm>
            <a:off x="4370832" y="3401568"/>
            <a:ext cx="3429000" cy="310896"/>
          </a:xfrm>
          <a:prstGeom prst="rect">
            <a:avLst/>
          </a:prstGeom>
          <a:solidFill>
            <a:srgbClr val="111111"/>
          </a:solidFill>
          <a:ln w="12700">
            <a:solidFill>
              <a:srgbClr val="111111"/>
            </a:solidFill>
            <a:prstDash val="solid"/>
          </a:ln>
        </p:spPr>
        <p:txBody>
          <a:bodyPr/>
          <a:p/>
        </p:txBody>
      </p:sp>
      <p:sp>
        <p:nvSpPr>
          <p:cNvPr id="19" name="Text 17"/>
          <p:cNvSpPr/>
          <p:nvPr/>
        </p:nvSpPr>
        <p:spPr>
          <a:xfrm>
            <a:off x="4489704" y="3488436"/>
            <a:ext cx="3191256" cy="109728"/>
          </a:xfrm>
          <a:prstGeom prst="rect">
            <a:avLst/>
          </a:prstGeom>
          <a:noFill/>
        </p:spPr>
        <p:txBody>
          <a:bodyPr wrap="square" lIns="0" tIns="0" rIns="0" bIns="0" rtlCol="0" anchor="ctr">
            <a:normAutofit/>
          </a:bodyPr>
          <a:lstStyle/>
          <a:p>
            <a:pPr marL="0" indent="0">
              <a:buNone/>
            </a:pPr>
            <a:r>
              <a:rPr lang="en-US" sz="980" b="1" dirty="0">
                <a:solidFill>
                  <a:srgbClr val="FFFFFF"/>
                </a:solidFill>
              </a:rPr>
              <a:t>HOW TO RUN IT</a:t>
            </a:r>
            <a:endParaRPr lang="en-US" sz="980" dirty="0"/>
          </a:p>
        </p:txBody>
      </p:sp>
      <p:sp>
        <p:nvSpPr>
          <p:cNvPr id="20" name="Text 18"/>
          <p:cNvSpPr/>
          <p:nvPr/>
        </p:nvSpPr>
        <p:spPr>
          <a:xfrm>
            <a:off x="4553712" y="3968496"/>
            <a:ext cx="3054096" cy="1097280"/>
          </a:xfrm>
          <a:prstGeom prst="rect">
            <a:avLst/>
          </a:prstGeom>
          <a:noFill/>
        </p:spPr>
        <p:txBody>
          <a:bodyPr wrap="square" lIns="254" tIns="254" rIns="254" bIns="254" rtlCol="0" anchor="t">
            <a:normAutofit/>
          </a:bodyPr>
          <a:lstStyle/>
          <a:p>
            <a:pPr marL="0" indent="0">
              <a:buNone/>
            </a:pPr>
            <a:r>
              <a:rPr sz="1050">
                <a:solidFill>
                  <a:srgbClr val="6C737F"/>
                </a:solidFill>
              </a:rPr>
              <a:t>• Provide source context when available</a:t>
            </a:r>
            <a:endParaRPr lang="en-US" sz="1050" dirty="0"/>
          </a:p>
          <a:p>
            <a:r>
              <a:rPr sz="1050">
                <a:solidFill>
                  <a:srgbClr val="6C737F"/>
                </a:solidFill>
              </a:rPr>
              <a:t>• Ask answer-only from context</a:t>
            </a:r>
            <a:endParaRPr sz="1050">
              <a:solidFill>
                <a:srgbClr val="6C737F"/>
              </a:solidFill>
            </a:endParaRPr>
          </a:p>
          <a:p>
            <a:r>
              <a:rPr sz="1050">
                <a:solidFill>
                  <a:srgbClr val="6C737F"/>
                </a:solidFill>
              </a:rPr>
              <a:t>• Score Exact/F1 or retrieval hit</a:t>
            </a:r>
            <a:endParaRPr sz="1050">
              <a:solidFill>
                <a:srgbClr val="6C737F"/>
              </a:solidFill>
            </a:endParaRPr>
          </a:p>
          <a:p>
            <a:r>
              <a:rPr sz="1050">
                <a:solidFill>
                  <a:srgbClr val="6C737F"/>
                </a:solidFill>
              </a:rPr>
              <a:t>• Compare Arabic vs Indonesian</a:t>
            </a:r>
            <a:endParaRPr sz="1050">
              <a:solidFill>
                <a:srgbClr val="6C737F"/>
              </a:solidFill>
            </a:endParaRPr>
          </a:p>
        </p:txBody>
      </p:sp>
      <p:sp>
        <p:nvSpPr>
          <p:cNvPr id="21" name="Shape 19"/>
          <p:cNvSpPr/>
          <p:nvPr/>
        </p:nvSpPr>
        <p:spPr>
          <a:xfrm>
            <a:off x="8101584" y="3401568"/>
            <a:ext cx="3429000" cy="2048256"/>
          </a:xfrm>
          <a:prstGeom prst="rect">
            <a:avLst/>
          </a:prstGeom>
          <a:solidFill>
            <a:srgbClr val="F5F6F8"/>
          </a:solidFill>
          <a:ln w="8890">
            <a:solidFill>
              <a:srgbClr val="D6DAE0"/>
            </a:solidFill>
            <a:prstDash val="solid"/>
          </a:ln>
        </p:spPr>
        <p:txBody>
          <a:bodyPr/>
          <a:p/>
        </p:txBody>
      </p:sp>
      <p:sp>
        <p:nvSpPr>
          <p:cNvPr id="22" name="Shape 20"/>
          <p:cNvSpPr/>
          <p:nvPr/>
        </p:nvSpPr>
        <p:spPr>
          <a:xfrm>
            <a:off x="8101584" y="3401568"/>
            <a:ext cx="3429000" cy="310896"/>
          </a:xfrm>
          <a:prstGeom prst="rect">
            <a:avLst/>
          </a:prstGeom>
          <a:solidFill>
            <a:srgbClr val="111111"/>
          </a:solidFill>
          <a:ln w="12700">
            <a:solidFill>
              <a:srgbClr val="111111"/>
            </a:solidFill>
            <a:prstDash val="solid"/>
          </a:ln>
        </p:spPr>
        <p:txBody>
          <a:bodyPr/>
          <a:p/>
        </p:txBody>
      </p:sp>
      <p:sp>
        <p:nvSpPr>
          <p:cNvPr id="23" name="Text 21"/>
          <p:cNvSpPr/>
          <p:nvPr/>
        </p:nvSpPr>
        <p:spPr>
          <a:xfrm>
            <a:off x="8220456" y="3488436"/>
            <a:ext cx="3191256" cy="109728"/>
          </a:xfrm>
          <a:prstGeom prst="rect">
            <a:avLst/>
          </a:prstGeom>
          <a:noFill/>
        </p:spPr>
        <p:txBody>
          <a:bodyPr wrap="square" lIns="0" tIns="0" rIns="0" bIns="0" rtlCol="0" anchor="ctr">
            <a:normAutofit/>
          </a:bodyPr>
          <a:lstStyle/>
          <a:p>
            <a:pPr marL="0" indent="0">
              <a:buNone/>
            </a:pPr>
            <a:r>
              <a:rPr lang="en-US" sz="980" b="1" dirty="0">
                <a:solidFill>
                  <a:srgbClr val="FFFFFF"/>
                </a:solidFill>
              </a:rPr>
              <a:t>READOUT</a:t>
            </a:r>
            <a:endParaRPr lang="en-US" sz="980" dirty="0"/>
          </a:p>
        </p:txBody>
      </p:sp>
      <p:sp>
        <p:nvSpPr>
          <p:cNvPr id="24" name="Text 22"/>
          <p:cNvSpPr/>
          <p:nvPr/>
        </p:nvSpPr>
        <p:spPr>
          <a:xfrm>
            <a:off x="8284464" y="3968496"/>
            <a:ext cx="3054096" cy="1097280"/>
          </a:xfrm>
          <a:prstGeom prst="rect">
            <a:avLst/>
          </a:prstGeom>
          <a:noFill/>
        </p:spPr>
        <p:txBody>
          <a:bodyPr wrap="square" lIns="254" tIns="254" rIns="254" bIns="254" rtlCol="0" anchor="t">
            <a:normAutofit/>
          </a:bodyPr>
          <a:lstStyle/>
          <a:p>
            <a:pPr marL="0" indent="0">
              <a:buNone/>
            </a:pPr>
            <a:r>
              <a:rPr sz="1050">
                <a:solidFill>
                  <a:srgbClr val="6C737F"/>
                </a:solidFill>
              </a:rPr>
              <a:t>Answer accuracy · source faithfulness</a:t>
            </a:r>
            <a:endParaRPr lang="en-US" sz="1050" dirty="0"/>
          </a:p>
          <a:p>
            <a:r>
              <a:rPr sz="1050">
                <a:solidFill>
                  <a:srgbClr val="6C737F"/>
                </a:solidFill>
              </a:rPr>
              <a:t>Over-interpretation · Arabic/Indonesian robustness</a:t>
            </a:r>
            <a:endParaRPr sz="1050">
              <a:solidFill>
                <a:srgbClr val="6C737F"/>
              </a:solidFill>
            </a:endParaRPr>
          </a:p>
          <a:p>
            <a:r>
              <a:rPr sz="1050">
                <a:solidFill>
                  <a:srgbClr val="6C737F"/>
                </a:solidFill>
              </a:rPr>
              <a:t>Saturation risk</a:t>
            </a:r>
            <a:endParaRPr sz="1050">
              <a:solidFill>
                <a:srgbClr val="6C737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192"/>
            <a:ext cx="2057400" cy="109728"/>
          </a:xfrm>
          <a:prstGeom prst="rect">
            <a:avLst/>
          </a:prstGeom>
          <a:noFill/>
        </p:spPr>
        <p:txBody>
          <a:bodyPr wrap="square" lIns="0" tIns="0" rIns="0" bIns="0" rtlCol="0" anchor="ctr">
            <a:normAutofit/>
          </a:bodyPr>
          <a:lstStyle/>
          <a:p>
            <a:pPr marL="0" indent="0">
              <a:buNone/>
            </a:pPr>
            <a:r>
              <a:rPr lang="en-US" sz="1050" b="1" dirty="0">
                <a:solidFill>
                  <a:srgbClr val="FFFFFF"/>
                </a:solidFill>
              </a:rPr>
              <a:t>TRACK B</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sz="2800" b="1">
                <a:latin typeface="Aptos Display"/>
              </a:rPr>
              <a:t>#37 BibleQA, </a:t>
            </a:r>
            <a:r>
              <a:rPr sz="2800" b="1">
                <a:solidFill>
                  <a:srgbClr val="8B0000"/>
                </a:solidFill>
                <a:latin typeface="Aptos Display"/>
              </a:rPr>
              <a:t>TGC/FaithBench (Andrew)</a:t>
            </a:r>
            <a:r>
              <a:rPr sz="2800" b="1">
                <a:latin typeface="Aptos Display"/>
              </a:rPr>
              <a:t>, and #44/#45 FatwaSet</a:t>
            </a:r>
            <a:endParaRPr lang="en-US" sz="2800" dirty="0"/>
          </a:p>
        </p:txBody>
      </p:sp>
      <p:sp>
        <p:nvSpPr>
          <p:cNvPr id="5" name="Text 3"/>
          <p:cNvSpPr/>
          <p:nvPr/>
        </p:nvSpPr>
        <p:spPr>
          <a:xfrm>
            <a:off x="530352" y="1298448"/>
            <a:ext cx="10789920" cy="256032"/>
          </a:xfrm>
          <a:prstGeom prst="rect">
            <a:avLst/>
          </a:prstGeom>
          <a:noFill/>
        </p:spPr>
        <p:txBody>
          <a:bodyPr wrap="square" lIns="0" tIns="0" rIns="0" bIns="0" rtlCol="0" anchor="ctr">
            <a:normAutofit/>
          </a:bodyPr>
          <a:lstStyle/>
          <a:p>
            <a:pPr marL="0" indent="0">
              <a:buNone/>
            </a:pPr>
            <a:r>
              <a:rPr sz="1220" i="1">
                <a:solidFill>
                  <a:srgbClr val="6C737F"/>
                </a:solidFill>
              </a:rPr>
              <a:t>Christian doctrine/scripture QA plus applied fatwa knowledge.</a:t>
            </a:r>
            <a:endParaRPr lang="en-US" sz="1220"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15</a:t>
            </a:r>
            <a:endParaRPr lang="en-US" sz="1050" dirty="0"/>
          </a:p>
        </p:txBody>
      </p:sp>
      <p:sp>
        <p:nvSpPr>
          <p:cNvPr id="8" name="Shape 6"/>
          <p:cNvSpPr/>
          <p:nvPr/>
        </p:nvSpPr>
        <p:spPr>
          <a:xfrm>
            <a:off x="749808" y="1965960"/>
            <a:ext cx="5074920" cy="3977640"/>
          </a:xfrm>
          <a:prstGeom prst="rect">
            <a:avLst/>
          </a:prstGeom>
          <a:solidFill>
            <a:srgbClr val="E8F0F8"/>
          </a:solidFill>
          <a:ln w="8890">
            <a:solidFill>
              <a:srgbClr val="1F4E79"/>
            </a:solidFill>
            <a:prstDash val="solid"/>
          </a:ln>
        </p:spPr>
        <p:txBody>
          <a:bodyPr/>
          <a:p/>
        </p:txBody>
      </p:sp>
      <p:sp>
        <p:nvSpPr>
          <p:cNvPr id="9" name="Shape 7"/>
          <p:cNvSpPr/>
          <p:nvPr/>
        </p:nvSpPr>
        <p:spPr>
          <a:xfrm>
            <a:off x="749808" y="1965960"/>
            <a:ext cx="5074920" cy="310896"/>
          </a:xfrm>
          <a:prstGeom prst="rect">
            <a:avLst/>
          </a:prstGeom>
          <a:solidFill>
            <a:srgbClr val="1F4E79"/>
          </a:solidFill>
          <a:ln w="12700">
            <a:solidFill>
              <a:srgbClr val="1F4E79"/>
            </a:solidFill>
            <a:prstDash val="solid"/>
          </a:ln>
        </p:spPr>
        <p:txBody>
          <a:bodyPr/>
          <a:p/>
        </p:txBody>
      </p:sp>
      <p:sp>
        <p:nvSpPr>
          <p:cNvPr id="10" name="Text 8"/>
          <p:cNvSpPr/>
          <p:nvPr/>
        </p:nvSpPr>
        <p:spPr>
          <a:xfrm>
            <a:off x="868680" y="2052828"/>
            <a:ext cx="4837176" cy="109728"/>
          </a:xfrm>
          <a:prstGeom prst="rect">
            <a:avLst/>
          </a:prstGeom>
          <a:noFill/>
        </p:spPr>
        <p:txBody>
          <a:bodyPr wrap="square" lIns="0" tIns="0" rIns="0" bIns="0" rtlCol="0" anchor="ctr">
            <a:normAutofit/>
          </a:bodyPr>
          <a:lstStyle/>
          <a:p>
            <a:pPr marL="0" indent="0">
              <a:buNone/>
            </a:pPr>
            <a:r>
              <a:rPr sz="980" b="1">
                <a:solidFill>
                  <a:srgbClr val="FFFFFF"/>
                </a:solidFill>
              </a:rPr>
              <a:t>CHRISTIAN TRACK B</a:t>
            </a:r>
            <a:endParaRPr lang="en-US" sz="980" dirty="0"/>
          </a:p>
        </p:txBody>
      </p:sp>
      <p:sp>
        <p:nvSpPr>
          <p:cNvPr id="11" name="Text 9"/>
          <p:cNvSpPr/>
          <p:nvPr/>
        </p:nvSpPr>
        <p:spPr>
          <a:xfrm>
            <a:off x="1005840" y="2587752"/>
            <a:ext cx="4617720" cy="2834640"/>
          </a:xfrm>
          <a:prstGeom prst="rect">
            <a:avLst/>
          </a:prstGeom>
          <a:noFill/>
        </p:spPr>
        <p:txBody>
          <a:bodyPr wrap="square" lIns="254" tIns="254" rIns="254" bIns="254" rtlCol="0" anchor="ctr">
            <a:normAutofit/>
          </a:bodyPr>
          <a:lstStyle/>
          <a:p>
            <a:pPr marL="0" indent="0">
              <a:buNone/>
            </a:pPr>
            <a:r>
              <a:rPr sz="1220"/>
              <a:t>What it tests:</a:t>
            </a:r>
            <a:endParaRPr lang="en-US" sz="1220" dirty="0"/>
          </a:p>
          <a:p>
            <a:r>
              <a:rPr sz="1220"/>
              <a:t>• BibleQA: verse / answer selection</a:t>
            </a:r>
            <a:endParaRPr sz="1220"/>
          </a:p>
          <a:p>
            <a:r>
              <a:rPr sz="1220">
                <a:solidFill>
                  <a:srgbClr val="8B0000"/>
                </a:solidFill>
              </a:rPr>
              <a:t>• TGC (Andrew): 7 Christian belief questions</a:t>
            </a:r>
            <a:endParaRPr sz="1220">
              <a:solidFill>
                <a:srgbClr val="8B0000"/>
              </a:solidFill>
            </a:endParaRPr>
          </a:p>
          <a:p>
            <a:r>
              <a:rPr sz="1220">
                <a:solidFill>
                  <a:srgbClr val="8B0000"/>
                </a:solidFill>
              </a:rPr>
              <a:t>• FaithBench (Andrew): ~300 Christianity questions</a:t>
            </a:r>
            <a:endParaRPr sz="1220">
              <a:solidFill>
                <a:srgbClr val="8B0000"/>
              </a:solidFill>
            </a:endParaRPr>
          </a:p>
          <a:p>
            <a:endParaRPr sz="1220"/>
          </a:p>
          <a:p>
            <a:r>
              <a:rPr sz="1220"/>
              <a:t>Use:</a:t>
            </a:r>
            <a:endParaRPr sz="1220"/>
          </a:p>
          <a:p>
            <a:r>
              <a:rPr sz="1220"/>
              <a:t>• Doctrine, exegesis, history QA</a:t>
            </a:r>
            <a:endParaRPr sz="1220"/>
          </a:p>
          <a:p>
            <a:r>
              <a:rPr sz="1220"/>
              <a:t>• Exact answer / source grounding</a:t>
            </a:r>
            <a:endParaRPr sz="1220"/>
          </a:p>
          <a:p>
            <a:endParaRPr sz="1220"/>
          </a:p>
          <a:p>
            <a:r>
              <a:rPr sz="1220"/>
              <a:t>Guardrail:</a:t>
            </a:r>
            <a:endParaRPr sz="1220"/>
          </a:p>
          <a:p>
            <a:r>
              <a:rPr sz="1220"/>
              <a:t>• Small/saturated items need audit.</a:t>
            </a:r>
            <a:endParaRPr sz="1220"/>
          </a:p>
        </p:txBody>
      </p:sp>
      <p:sp>
        <p:nvSpPr>
          <p:cNvPr id="12" name="Shape 10"/>
          <p:cNvSpPr/>
          <p:nvPr/>
        </p:nvSpPr>
        <p:spPr>
          <a:xfrm>
            <a:off x="6281928" y="1965960"/>
            <a:ext cx="5074920" cy="3977640"/>
          </a:xfrm>
          <a:prstGeom prst="rect">
            <a:avLst/>
          </a:prstGeom>
          <a:solidFill>
            <a:srgbClr val="FFF2CC"/>
          </a:solidFill>
          <a:ln w="8890">
            <a:solidFill>
              <a:srgbClr val="B7791F"/>
            </a:solidFill>
            <a:prstDash val="solid"/>
          </a:ln>
        </p:spPr>
        <p:txBody>
          <a:bodyPr/>
          <a:p/>
        </p:txBody>
      </p:sp>
      <p:sp>
        <p:nvSpPr>
          <p:cNvPr id="13" name="Shape 11"/>
          <p:cNvSpPr/>
          <p:nvPr/>
        </p:nvSpPr>
        <p:spPr>
          <a:xfrm>
            <a:off x="6281928" y="1965960"/>
            <a:ext cx="5074920" cy="310896"/>
          </a:xfrm>
          <a:prstGeom prst="rect">
            <a:avLst/>
          </a:prstGeom>
          <a:solidFill>
            <a:srgbClr val="B7791F"/>
          </a:solidFill>
          <a:ln w="12700">
            <a:solidFill>
              <a:srgbClr val="B7791F"/>
            </a:solidFill>
            <a:prstDash val="solid"/>
          </a:ln>
        </p:spPr>
        <p:txBody>
          <a:bodyPr/>
          <a:p/>
        </p:txBody>
      </p:sp>
      <p:sp>
        <p:nvSpPr>
          <p:cNvPr id="14" name="Text 12"/>
          <p:cNvSpPr/>
          <p:nvPr/>
        </p:nvSpPr>
        <p:spPr>
          <a:xfrm>
            <a:off x="6400800" y="2052828"/>
            <a:ext cx="4837176" cy="109728"/>
          </a:xfrm>
          <a:prstGeom prst="rect">
            <a:avLst/>
          </a:prstGeom>
          <a:noFill/>
        </p:spPr>
        <p:txBody>
          <a:bodyPr wrap="square" lIns="0" tIns="0" rIns="0" bIns="0" rtlCol="0" anchor="ctr">
            <a:normAutofit/>
          </a:bodyPr>
          <a:lstStyle/>
          <a:p>
            <a:pPr marL="0" indent="0">
              <a:buNone/>
            </a:pPr>
            <a:r>
              <a:rPr sz="980" b="1">
                <a:solidFill>
                  <a:srgbClr val="FFFFFF"/>
                </a:solidFill>
              </a:rPr>
              <a:t>ISLAMIC FATWA / RUNNER-UP</a:t>
            </a:r>
            <a:endParaRPr lang="en-US" sz="980" dirty="0"/>
          </a:p>
        </p:txBody>
      </p:sp>
      <p:sp>
        <p:nvSpPr>
          <p:cNvPr id="15" name="Text 13"/>
          <p:cNvSpPr/>
          <p:nvPr/>
        </p:nvSpPr>
        <p:spPr>
          <a:xfrm>
            <a:off x="6537960" y="2587752"/>
            <a:ext cx="4617720" cy="2834640"/>
          </a:xfrm>
          <a:prstGeom prst="rect">
            <a:avLst/>
          </a:prstGeom>
          <a:noFill/>
        </p:spPr>
        <p:txBody>
          <a:bodyPr wrap="square" lIns="254" tIns="254" rIns="254" bIns="254" rtlCol="0" anchor="ctr">
            <a:normAutofit/>
          </a:bodyPr>
          <a:lstStyle/>
          <a:p>
            <a:pPr marL="0" indent="0">
              <a:buNone/>
            </a:pPr>
            <a:r>
              <a:rPr sz="1220"/>
              <a:t>What it tests:</a:t>
            </a:r>
            <a:endParaRPr lang="en-US" sz="1220" dirty="0"/>
          </a:p>
          <a:p>
            <a:r>
              <a:rPr sz="1220"/>
              <a:t>• FatwaSet: Arabic fatwa QA / rulings</a:t>
            </a:r>
            <a:endParaRPr sz="1220"/>
          </a:p>
          <a:p>
            <a:r>
              <a:rPr sz="1220">
                <a:solidFill>
                  <a:srgbClr val="8B0000"/>
                </a:solidFill>
              </a:rPr>
              <a:t>• AceGPT (Andrew): Arabic culture yes/no items</a:t>
            </a:r>
            <a:endParaRPr sz="1220">
              <a:solidFill>
                <a:srgbClr val="8B0000"/>
              </a:solidFill>
            </a:endParaRPr>
          </a:p>
          <a:p>
            <a:r>
              <a:rPr sz="1220"/>
              <a:t>• Some Islam overlap, not Islam-specific</a:t>
            </a:r>
            <a:endParaRPr sz="1220"/>
          </a:p>
          <a:p>
            <a:endParaRPr sz="1220"/>
          </a:p>
          <a:p>
            <a:r>
              <a:rPr sz="1220"/>
              <a:t>Use:</a:t>
            </a:r>
            <a:endParaRPr sz="1220"/>
          </a:p>
          <a:p>
            <a:r>
              <a:rPr sz="1220"/>
              <a:t>• Ruling/category accuracy</a:t>
            </a:r>
            <a:endParaRPr sz="1220"/>
          </a:p>
          <a:p>
            <a:r>
              <a:rPr sz="1220"/>
              <a:t>• Runner-up saturation check</a:t>
            </a:r>
            <a:endParaRPr sz="1220"/>
          </a:p>
          <a:p>
            <a:endParaRPr sz="1220"/>
          </a:p>
          <a:p>
            <a:r>
              <a:rPr sz="1220"/>
              <a:t>Guardrail:</a:t>
            </a:r>
            <a:endParaRPr sz="1220"/>
          </a:p>
          <a:p>
            <a:r>
              <a:rPr sz="1220"/>
              <a:t>• Values use needs scenarios + rubric.</a:t>
            </a:r>
            <a:endParaRPr sz="122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192"/>
            <a:ext cx="2057400" cy="109728"/>
          </a:xfrm>
          <a:prstGeom prst="rect">
            <a:avLst/>
          </a:prstGeom>
          <a:noFill/>
        </p:spPr>
        <p:txBody>
          <a:bodyPr wrap="square" lIns="0" tIns="0" rIns="0" bIns="0" rtlCol="0" anchor="ctr">
            <a:normAutofit fontScale="70000"/>
          </a:bodyPr>
          <a:lstStyle/>
          <a:p>
            <a:pPr marL="0" indent="0">
              <a:buNone/>
            </a:pPr>
            <a:r>
              <a:rPr lang="en-US" sz="1050" b="1" dirty="0">
                <a:solidFill>
                  <a:srgbClr val="FFFFFF"/>
                </a:solidFill>
              </a:rPr>
              <a:t>TRACK B RESOURCES</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sz="2800" b="1">
                <a:solidFill>
                  <a:srgbClr val="1C1C1C"/>
                </a:solidFill>
                <a:latin typeface="Aptos Display"/>
              </a:rPr>
              <a:t>Track B resources + runners-up</a:t>
            </a:r>
            <a:endParaRPr lang="en-US" sz="2800" dirty="0"/>
          </a:p>
        </p:txBody>
      </p:sp>
      <p:sp>
        <p:nvSpPr>
          <p:cNvPr id="5" name="Text 3"/>
          <p:cNvSpPr/>
          <p:nvPr/>
        </p:nvSpPr>
        <p:spPr>
          <a:xfrm>
            <a:off x="530352" y="1298448"/>
            <a:ext cx="10789920" cy="256032"/>
          </a:xfrm>
          <a:prstGeom prst="rect">
            <a:avLst/>
          </a:prstGeom>
          <a:noFill/>
        </p:spPr>
        <p:txBody>
          <a:bodyPr wrap="square" lIns="0" tIns="0" rIns="0" bIns="0" rtlCol="0" anchor="ctr">
            <a:normAutofit/>
          </a:bodyPr>
          <a:lstStyle/>
          <a:p>
            <a:pPr marL="0" indent="0">
              <a:buNone/>
            </a:pPr>
            <a:r>
              <a:rPr sz="1220" i="1">
                <a:solidFill>
                  <a:srgbClr val="6C737F"/>
                </a:solidFill>
              </a:rPr>
              <a:t>Infrastructure; label or saturation-check later.</a:t>
            </a:r>
            <a:endParaRPr lang="en-US" sz="1220"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16</a:t>
            </a:r>
            <a:endParaRPr lang="en-US" sz="1050" dirty="0"/>
          </a:p>
        </p:txBody>
      </p:sp>
      <p:sp>
        <p:nvSpPr>
          <p:cNvPr id="8" name="Shape 6"/>
          <p:cNvSpPr/>
          <p:nvPr/>
        </p:nvSpPr>
        <p:spPr>
          <a:xfrm>
            <a:off x="566928" y="1828800"/>
            <a:ext cx="2240280" cy="384048"/>
          </a:xfrm>
          <a:prstGeom prst="rect">
            <a:avLst/>
          </a:prstGeom>
          <a:solidFill>
            <a:srgbClr val="1F4E79"/>
          </a:solidFill>
          <a:ln w="6985">
            <a:solidFill>
              <a:srgbClr val="D6DAE0"/>
            </a:solidFill>
            <a:prstDash val="solid"/>
          </a:ln>
        </p:spPr>
        <p:txBody>
          <a:bodyPr/>
          <a:p/>
        </p:txBody>
      </p:sp>
      <p:sp>
        <p:nvSpPr>
          <p:cNvPr id="9" name="Text 7"/>
          <p:cNvSpPr/>
          <p:nvPr/>
        </p:nvSpPr>
        <p:spPr>
          <a:xfrm>
            <a:off x="621792" y="1879092"/>
            <a:ext cx="2130552" cy="310896"/>
          </a:xfrm>
          <a:prstGeom prst="rect">
            <a:avLst/>
          </a:prstGeom>
          <a:noFill/>
        </p:spPr>
        <p:txBody>
          <a:bodyPr wrap="square" lIns="0" tIns="0" rIns="0" bIns="0" rtlCol="0" anchor="ctr">
            <a:normAutofit/>
          </a:bodyPr>
          <a:lstStyle/>
          <a:p>
            <a:pPr marL="0" indent="0">
              <a:buNone/>
            </a:pPr>
            <a:r>
              <a:rPr lang="en-US" sz="980" b="1" dirty="0">
                <a:solidFill>
                  <a:srgbClr val="FFFFFF"/>
                </a:solidFill>
              </a:rPr>
              <a:t>Paper</a:t>
            </a:r>
            <a:endParaRPr lang="en-US" sz="980" dirty="0"/>
          </a:p>
        </p:txBody>
      </p:sp>
      <p:sp>
        <p:nvSpPr>
          <p:cNvPr id="10" name="Shape 8"/>
          <p:cNvSpPr/>
          <p:nvPr/>
        </p:nvSpPr>
        <p:spPr>
          <a:xfrm>
            <a:off x="2807208" y="1828800"/>
            <a:ext cx="4023360" cy="384048"/>
          </a:xfrm>
          <a:prstGeom prst="rect">
            <a:avLst/>
          </a:prstGeom>
          <a:solidFill>
            <a:srgbClr val="1F4E79"/>
          </a:solidFill>
          <a:ln w="6985">
            <a:solidFill>
              <a:srgbClr val="D6DAE0"/>
            </a:solidFill>
            <a:prstDash val="solid"/>
          </a:ln>
        </p:spPr>
        <p:txBody>
          <a:bodyPr/>
          <a:p/>
        </p:txBody>
      </p:sp>
      <p:sp>
        <p:nvSpPr>
          <p:cNvPr id="11" name="Text 9"/>
          <p:cNvSpPr/>
          <p:nvPr/>
        </p:nvSpPr>
        <p:spPr>
          <a:xfrm>
            <a:off x="2862072" y="1879092"/>
            <a:ext cx="3913632" cy="310896"/>
          </a:xfrm>
          <a:prstGeom prst="rect">
            <a:avLst/>
          </a:prstGeom>
          <a:noFill/>
        </p:spPr>
        <p:txBody>
          <a:bodyPr wrap="square" lIns="0" tIns="0" rIns="0" bIns="0" rtlCol="0" anchor="ctr">
            <a:normAutofit/>
          </a:bodyPr>
          <a:lstStyle/>
          <a:p>
            <a:pPr marL="0" indent="0">
              <a:buNone/>
            </a:pPr>
            <a:r>
              <a:rPr lang="en-US" sz="980" b="1" dirty="0">
                <a:solidFill>
                  <a:srgbClr val="FFFFFF"/>
                </a:solidFill>
              </a:rPr>
              <a:t>Use</a:t>
            </a:r>
            <a:endParaRPr lang="en-US" sz="980" dirty="0"/>
          </a:p>
        </p:txBody>
      </p:sp>
      <p:sp>
        <p:nvSpPr>
          <p:cNvPr id="12" name="Shape 10"/>
          <p:cNvSpPr/>
          <p:nvPr/>
        </p:nvSpPr>
        <p:spPr>
          <a:xfrm>
            <a:off x="6830568" y="1828800"/>
            <a:ext cx="4818888" cy="384048"/>
          </a:xfrm>
          <a:prstGeom prst="rect">
            <a:avLst/>
          </a:prstGeom>
          <a:solidFill>
            <a:srgbClr val="1F4E79"/>
          </a:solidFill>
          <a:ln w="6985">
            <a:solidFill>
              <a:srgbClr val="D6DAE0"/>
            </a:solidFill>
            <a:prstDash val="solid"/>
          </a:ln>
        </p:spPr>
        <p:txBody>
          <a:bodyPr/>
          <a:p/>
        </p:txBody>
      </p:sp>
      <p:sp>
        <p:nvSpPr>
          <p:cNvPr id="13" name="Text 11"/>
          <p:cNvSpPr/>
          <p:nvPr/>
        </p:nvSpPr>
        <p:spPr>
          <a:xfrm>
            <a:off x="6885432" y="1879092"/>
            <a:ext cx="4709160" cy="310896"/>
          </a:xfrm>
          <a:prstGeom prst="rect">
            <a:avLst/>
          </a:prstGeom>
          <a:noFill/>
        </p:spPr>
        <p:txBody>
          <a:bodyPr wrap="square" lIns="0" tIns="0" rIns="0" bIns="0" rtlCol="0" anchor="ctr">
            <a:normAutofit/>
          </a:bodyPr>
          <a:lstStyle/>
          <a:p>
            <a:pPr marL="0" indent="0">
              <a:buNone/>
            </a:pPr>
            <a:r>
              <a:rPr lang="en-US" sz="980" b="1" dirty="0">
                <a:solidFill>
                  <a:srgbClr val="FFFFFF"/>
                </a:solidFill>
              </a:rPr>
              <a:t>Correct interpretation</a:t>
            </a:r>
            <a:endParaRPr lang="en-US" sz="980" dirty="0"/>
          </a:p>
        </p:txBody>
      </p:sp>
      <p:sp>
        <p:nvSpPr>
          <p:cNvPr id="14" name="Shape 12"/>
          <p:cNvSpPr/>
          <p:nvPr/>
        </p:nvSpPr>
        <p:spPr>
          <a:xfrm>
            <a:off x="566928" y="2212848"/>
            <a:ext cx="2240280" cy="679704"/>
          </a:xfrm>
          <a:prstGeom prst="rect">
            <a:avLst/>
          </a:prstGeom>
          <a:solidFill>
            <a:srgbClr val="F5F6F8"/>
          </a:solidFill>
          <a:ln w="6985">
            <a:solidFill>
              <a:srgbClr val="D6DAE0"/>
            </a:solidFill>
            <a:prstDash val="solid"/>
          </a:ln>
        </p:spPr>
        <p:txBody>
          <a:bodyPr/>
          <a:p/>
        </p:txBody>
      </p:sp>
      <p:sp>
        <p:nvSpPr>
          <p:cNvPr id="15" name="Text 13"/>
          <p:cNvSpPr/>
          <p:nvPr/>
        </p:nvSpPr>
        <p:spPr>
          <a:xfrm>
            <a:off x="621792" y="2263140"/>
            <a:ext cx="21305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#25 eBible</a:t>
            </a:r>
            <a:endParaRPr lang="en-US" sz="980" dirty="0"/>
          </a:p>
        </p:txBody>
      </p:sp>
      <p:sp>
        <p:nvSpPr>
          <p:cNvPr id="16" name="Shape 14"/>
          <p:cNvSpPr/>
          <p:nvPr/>
        </p:nvSpPr>
        <p:spPr>
          <a:xfrm>
            <a:off x="2807208" y="2212848"/>
            <a:ext cx="4023360" cy="679704"/>
          </a:xfrm>
          <a:prstGeom prst="rect">
            <a:avLst/>
          </a:prstGeom>
          <a:solidFill>
            <a:srgbClr val="F5F6F8"/>
          </a:solidFill>
          <a:ln w="6985">
            <a:solidFill>
              <a:srgbClr val="D6DAE0"/>
            </a:solidFill>
            <a:prstDash val="solid"/>
          </a:ln>
        </p:spPr>
        <p:txBody>
          <a:bodyPr/>
          <a:p/>
        </p:txBody>
      </p:sp>
      <p:sp>
        <p:nvSpPr>
          <p:cNvPr id="17" name="Text 15"/>
          <p:cNvSpPr/>
          <p:nvPr/>
        </p:nvSpPr>
        <p:spPr>
          <a:xfrm>
            <a:off x="2862072" y="2263140"/>
            <a:ext cx="3913632" cy="606552"/>
          </a:xfrm>
          <a:prstGeom prst="rect">
            <a:avLst/>
          </a:prstGeom>
          <a:noFill/>
        </p:spPr>
        <p:txBody>
          <a:bodyPr wrap="square" lIns="0" tIns="0" rIns="0" bIns="0" rtlCol="0" anchor="ctr">
            <a:normAutofit/>
          </a:bodyPr>
          <a:lstStyle/>
          <a:p>
            <a:pPr marL="0" indent="0">
              <a:buNone/>
            </a:pPr>
            <a:r>
              <a:rPr lang="en-US" sz="980" dirty="0">
                <a:solidFill>
                  <a:srgbClr val="1C1C1C"/>
                </a:solidFill>
              </a:rPr>
              <a:t>Multilingual Bible corpus / translation resource.</a:t>
            </a:r>
            <a:endParaRPr lang="en-US" sz="980" dirty="0"/>
          </a:p>
        </p:txBody>
      </p:sp>
      <p:sp>
        <p:nvSpPr>
          <p:cNvPr id="18" name="Shape 16"/>
          <p:cNvSpPr/>
          <p:nvPr/>
        </p:nvSpPr>
        <p:spPr>
          <a:xfrm>
            <a:off x="6830568" y="2212848"/>
            <a:ext cx="4818888" cy="679704"/>
          </a:xfrm>
          <a:prstGeom prst="rect">
            <a:avLst/>
          </a:prstGeom>
          <a:solidFill>
            <a:srgbClr val="F5F6F8"/>
          </a:solidFill>
          <a:ln w="6985">
            <a:solidFill>
              <a:srgbClr val="D6DAE0"/>
            </a:solidFill>
            <a:prstDash val="solid"/>
          </a:ln>
        </p:spPr>
        <p:txBody>
          <a:bodyPr/>
          <a:p/>
        </p:txBody>
      </p:sp>
      <p:sp>
        <p:nvSpPr>
          <p:cNvPr id="19" name="Text 17"/>
          <p:cNvSpPr/>
          <p:nvPr/>
        </p:nvSpPr>
        <p:spPr>
          <a:xfrm>
            <a:off x="6885432" y="2263140"/>
            <a:ext cx="4709160" cy="606552"/>
          </a:xfrm>
          <a:prstGeom prst="rect">
            <a:avLst/>
          </a:prstGeom>
          <a:noFill/>
        </p:spPr>
        <p:txBody>
          <a:bodyPr wrap="square" lIns="0" tIns="0" rIns="0" bIns="0" rtlCol="0" anchor="ctr">
            <a:normAutofit/>
          </a:bodyPr>
          <a:lstStyle/>
          <a:p>
            <a:pPr marL="0" indent="0">
              <a:buNone/>
            </a:pPr>
            <a:r>
              <a:rPr lang="en-US" sz="980" dirty="0">
                <a:solidFill>
                  <a:srgbClr val="1C1C1C"/>
                </a:solidFill>
              </a:rPr>
              <a:t>Infrastructure; not </a:t>
            </a:r>
            <a:r>
              <a:rPr lang="en-US" sz="980" b="1" dirty="0">
                <a:solidFill>
                  <a:srgbClr val="1C1C1C"/>
                </a:solidFill>
              </a:rPr>
              <a:t>doctrine</a:t>
            </a:r>
            <a:r>
              <a:rPr lang="en-US" sz="980" dirty="0">
                <a:solidFill>
                  <a:srgbClr val="1C1C1C"/>
                </a:solidFill>
              </a:rPr>
              <a:t> </a:t>
            </a:r>
            <a:r>
              <a:rPr lang="en-US" sz="980" b="1" dirty="0">
                <a:solidFill>
                  <a:srgbClr val="1C1C1C"/>
                </a:solidFill>
              </a:rPr>
              <a:t>QA</a:t>
            </a:r>
            <a:r>
              <a:rPr lang="en-US" sz="980" dirty="0">
                <a:solidFill>
                  <a:srgbClr val="1C1C1C"/>
                </a:solidFill>
              </a:rPr>
              <a:t> by itself.</a:t>
            </a:r>
            <a:endParaRPr lang="en-US" sz="980" dirty="0"/>
          </a:p>
        </p:txBody>
      </p:sp>
      <p:sp>
        <p:nvSpPr>
          <p:cNvPr id="20" name="Shape 18"/>
          <p:cNvSpPr/>
          <p:nvPr/>
        </p:nvSpPr>
        <p:spPr>
          <a:xfrm>
            <a:off x="566928" y="2892552"/>
            <a:ext cx="2240280" cy="679704"/>
          </a:xfrm>
          <a:prstGeom prst="rect">
            <a:avLst/>
          </a:prstGeom>
          <a:solidFill>
            <a:srgbClr val="FFFFFF"/>
          </a:solidFill>
          <a:ln w="6985">
            <a:solidFill>
              <a:srgbClr val="D6DAE0"/>
            </a:solidFill>
            <a:prstDash val="solid"/>
          </a:ln>
        </p:spPr>
        <p:txBody>
          <a:bodyPr/>
          <a:p/>
        </p:txBody>
      </p:sp>
      <p:sp>
        <p:nvSpPr>
          <p:cNvPr id="21" name="Text 19"/>
          <p:cNvSpPr/>
          <p:nvPr/>
        </p:nvSpPr>
        <p:spPr>
          <a:xfrm>
            <a:off x="621792" y="2942844"/>
            <a:ext cx="21305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#28/#29 Sikh Gurbani resources</a:t>
            </a:r>
            <a:endParaRPr lang="en-US" sz="980" dirty="0"/>
          </a:p>
        </p:txBody>
      </p:sp>
      <p:sp>
        <p:nvSpPr>
          <p:cNvPr id="22" name="Shape 20"/>
          <p:cNvSpPr/>
          <p:nvPr/>
        </p:nvSpPr>
        <p:spPr>
          <a:xfrm>
            <a:off x="2807208" y="2892552"/>
            <a:ext cx="4023360" cy="679704"/>
          </a:xfrm>
          <a:prstGeom prst="rect">
            <a:avLst/>
          </a:prstGeom>
          <a:solidFill>
            <a:srgbClr val="FFFFFF"/>
          </a:solidFill>
          <a:ln w="6985">
            <a:solidFill>
              <a:srgbClr val="D6DAE0"/>
            </a:solidFill>
            <a:prstDash val="solid"/>
          </a:ln>
        </p:spPr>
        <p:txBody>
          <a:bodyPr/>
          <a:p/>
        </p:txBody>
      </p:sp>
      <p:sp>
        <p:nvSpPr>
          <p:cNvPr id="23" name="Text 21"/>
          <p:cNvSpPr/>
          <p:nvPr/>
        </p:nvSpPr>
        <p:spPr>
          <a:xfrm>
            <a:off x="2862072" y="2942844"/>
            <a:ext cx="3913632" cy="606552"/>
          </a:xfrm>
          <a:prstGeom prst="rect">
            <a:avLst/>
          </a:prstGeom>
          <a:noFill/>
        </p:spPr>
        <p:txBody>
          <a:bodyPr wrap="square" lIns="0" tIns="0" rIns="0" bIns="0" rtlCol="0" anchor="ctr">
            <a:normAutofit/>
          </a:bodyPr>
          <a:lstStyle/>
          <a:p>
            <a:pPr marL="0" indent="0">
              <a:buNone/>
            </a:pPr>
            <a:r>
              <a:rPr lang="en-US" sz="980" dirty="0">
                <a:solidFill>
                  <a:srgbClr val="1C1C1C"/>
                </a:solidFill>
              </a:rPr>
              <a:t>Sikh </a:t>
            </a:r>
            <a:r>
              <a:rPr lang="en-US" sz="980" b="1" dirty="0">
                <a:solidFill>
                  <a:srgbClr val="1C1C1C"/>
                </a:solidFill>
              </a:rPr>
              <a:t>scripture</a:t>
            </a:r>
            <a:r>
              <a:rPr lang="en-US" sz="980" dirty="0">
                <a:solidFill>
                  <a:srgbClr val="1C1C1C"/>
                </a:solidFill>
              </a:rPr>
              <a:t> databases.</a:t>
            </a:r>
            <a:endParaRPr lang="en-US" sz="980" dirty="0"/>
          </a:p>
        </p:txBody>
      </p:sp>
      <p:sp>
        <p:nvSpPr>
          <p:cNvPr id="24" name="Shape 22"/>
          <p:cNvSpPr/>
          <p:nvPr/>
        </p:nvSpPr>
        <p:spPr>
          <a:xfrm>
            <a:off x="6830568" y="2892552"/>
            <a:ext cx="4818888" cy="679704"/>
          </a:xfrm>
          <a:prstGeom prst="rect">
            <a:avLst/>
          </a:prstGeom>
          <a:solidFill>
            <a:srgbClr val="FFFFFF"/>
          </a:solidFill>
          <a:ln w="6985">
            <a:solidFill>
              <a:srgbClr val="D6DAE0"/>
            </a:solidFill>
            <a:prstDash val="solid"/>
          </a:ln>
        </p:spPr>
        <p:txBody>
          <a:bodyPr/>
          <a:p/>
        </p:txBody>
      </p:sp>
      <p:sp>
        <p:nvSpPr>
          <p:cNvPr id="25" name="Text 23"/>
          <p:cNvSpPr/>
          <p:nvPr/>
        </p:nvSpPr>
        <p:spPr>
          <a:xfrm>
            <a:off x="6885432" y="2942844"/>
            <a:ext cx="4709160" cy="606552"/>
          </a:xfrm>
          <a:prstGeom prst="rect">
            <a:avLst/>
          </a:prstGeom>
          <a:noFill/>
        </p:spPr>
        <p:txBody>
          <a:bodyPr wrap="square" lIns="0" tIns="0" rIns="0" bIns="0" rtlCol="0" anchor="ctr">
            <a:normAutofit/>
          </a:bodyPr>
          <a:lstStyle/>
          <a:p>
            <a:pPr marL="0" indent="0">
              <a:buNone/>
            </a:pPr>
            <a:r>
              <a:rPr lang="en-US" sz="980" dirty="0">
                <a:solidFill>
                  <a:srgbClr val="1C1C1C"/>
                </a:solidFill>
              </a:rPr>
              <a:t>Strong coverage asset; build </a:t>
            </a:r>
            <a:r>
              <a:rPr lang="en-US" sz="980" b="1" dirty="0">
                <a:solidFill>
                  <a:srgbClr val="1C1C1C"/>
                </a:solidFill>
              </a:rPr>
              <a:t>QA</a:t>
            </a:r>
            <a:r>
              <a:rPr lang="en-US" sz="980" dirty="0">
                <a:solidFill>
                  <a:srgbClr val="1C1C1C"/>
                </a:solidFill>
              </a:rPr>
              <a:t>/retrieval benchmark.</a:t>
            </a:r>
            <a:endParaRPr lang="en-US" sz="980" dirty="0"/>
          </a:p>
        </p:txBody>
      </p:sp>
      <p:sp>
        <p:nvSpPr>
          <p:cNvPr id="26" name="Shape 24"/>
          <p:cNvSpPr/>
          <p:nvPr/>
        </p:nvSpPr>
        <p:spPr>
          <a:xfrm>
            <a:off x="566928" y="3572256"/>
            <a:ext cx="2240280" cy="679704"/>
          </a:xfrm>
          <a:prstGeom prst="rect">
            <a:avLst/>
          </a:prstGeom>
          <a:solidFill>
            <a:srgbClr val="F5F6F8"/>
          </a:solidFill>
          <a:ln w="6985">
            <a:solidFill>
              <a:srgbClr val="D6DAE0"/>
            </a:solidFill>
            <a:prstDash val="solid"/>
          </a:ln>
        </p:spPr>
        <p:txBody>
          <a:bodyPr/>
          <a:p/>
        </p:txBody>
      </p:sp>
      <p:sp>
        <p:nvSpPr>
          <p:cNvPr id="27" name="Text 25"/>
          <p:cNvSpPr/>
          <p:nvPr/>
        </p:nvSpPr>
        <p:spPr>
          <a:xfrm>
            <a:off x="621792" y="3622548"/>
            <a:ext cx="21305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#31 DharmicData</a:t>
            </a:r>
            <a:endParaRPr lang="en-US" sz="980" dirty="0"/>
          </a:p>
        </p:txBody>
      </p:sp>
      <p:sp>
        <p:nvSpPr>
          <p:cNvPr id="28" name="Shape 26"/>
          <p:cNvSpPr/>
          <p:nvPr/>
        </p:nvSpPr>
        <p:spPr>
          <a:xfrm>
            <a:off x="2807208" y="3572256"/>
            <a:ext cx="4023360" cy="679704"/>
          </a:xfrm>
          <a:prstGeom prst="rect">
            <a:avLst/>
          </a:prstGeom>
          <a:solidFill>
            <a:srgbClr val="F5F6F8"/>
          </a:solidFill>
          <a:ln w="6985">
            <a:solidFill>
              <a:srgbClr val="D6DAE0"/>
            </a:solidFill>
            <a:prstDash val="solid"/>
          </a:ln>
        </p:spPr>
        <p:txBody>
          <a:bodyPr/>
          <a:p/>
        </p:txBody>
      </p:sp>
      <p:sp>
        <p:nvSpPr>
          <p:cNvPr id="29" name="Text 27"/>
          <p:cNvSpPr/>
          <p:nvPr/>
        </p:nvSpPr>
        <p:spPr>
          <a:xfrm>
            <a:off x="2862072" y="3622548"/>
            <a:ext cx="3913632" cy="606552"/>
          </a:xfrm>
          <a:prstGeom prst="rect">
            <a:avLst/>
          </a:prstGeom>
          <a:noFill/>
        </p:spPr>
        <p:txBody>
          <a:bodyPr wrap="square" lIns="0" tIns="0" rIns="0" bIns="0" rtlCol="0" anchor="ctr">
            <a:normAutofit/>
          </a:bodyPr>
          <a:lstStyle/>
          <a:p>
            <a:pPr marL="0" indent="0">
              <a:buNone/>
            </a:pPr>
            <a:r>
              <a:rPr lang="en-US" sz="980" dirty="0">
                <a:solidFill>
                  <a:srgbClr val="1C1C1C"/>
                </a:solidFill>
              </a:rPr>
              <a:t>Hindu sacred text corpus.</a:t>
            </a:r>
            <a:endParaRPr lang="en-US" sz="980" dirty="0"/>
          </a:p>
        </p:txBody>
      </p:sp>
      <p:sp>
        <p:nvSpPr>
          <p:cNvPr id="30" name="Shape 28"/>
          <p:cNvSpPr/>
          <p:nvPr/>
        </p:nvSpPr>
        <p:spPr>
          <a:xfrm>
            <a:off x="6830568" y="3572256"/>
            <a:ext cx="4818888" cy="679704"/>
          </a:xfrm>
          <a:prstGeom prst="rect">
            <a:avLst/>
          </a:prstGeom>
          <a:solidFill>
            <a:srgbClr val="F5F6F8"/>
          </a:solidFill>
          <a:ln w="6985">
            <a:solidFill>
              <a:srgbClr val="D6DAE0"/>
            </a:solidFill>
            <a:prstDash val="solid"/>
          </a:ln>
        </p:spPr>
        <p:txBody>
          <a:bodyPr/>
          <a:p/>
        </p:txBody>
      </p:sp>
      <p:sp>
        <p:nvSpPr>
          <p:cNvPr id="31" name="Text 29"/>
          <p:cNvSpPr/>
          <p:nvPr/>
        </p:nvSpPr>
        <p:spPr>
          <a:xfrm>
            <a:off x="6885432" y="3622548"/>
            <a:ext cx="4709160" cy="606552"/>
          </a:xfrm>
          <a:prstGeom prst="rect">
            <a:avLst/>
          </a:prstGeom>
          <a:noFill/>
        </p:spPr>
        <p:txBody>
          <a:bodyPr wrap="square" lIns="0" tIns="0" rIns="0" bIns="0" rtlCol="0" anchor="ctr">
            <a:normAutofit/>
          </a:bodyPr>
          <a:lstStyle/>
          <a:p>
            <a:pPr marL="0" indent="0">
              <a:buNone/>
            </a:pPr>
            <a:r>
              <a:rPr lang="en-US" sz="980" dirty="0">
                <a:solidFill>
                  <a:srgbClr val="1C1C1C"/>
                </a:solidFill>
              </a:rPr>
              <a:t>Useful for Hindu </a:t>
            </a:r>
            <a:r>
              <a:rPr lang="en-US" sz="980" b="1" dirty="0">
                <a:solidFill>
                  <a:srgbClr val="1C1C1C"/>
                </a:solidFill>
              </a:rPr>
              <a:t>scripture</a:t>
            </a:r>
            <a:r>
              <a:rPr lang="en-US" sz="980" dirty="0">
                <a:solidFill>
                  <a:srgbClr val="1C1C1C"/>
                </a:solidFill>
              </a:rPr>
              <a:t> </a:t>
            </a:r>
            <a:r>
              <a:rPr lang="en-US" sz="980" b="1" dirty="0">
                <a:solidFill>
                  <a:srgbClr val="1C1C1C"/>
                </a:solidFill>
              </a:rPr>
              <a:t>QA</a:t>
            </a:r>
            <a:r>
              <a:rPr lang="en-US" sz="980" dirty="0">
                <a:solidFill>
                  <a:srgbClr val="1C1C1C"/>
                </a:solidFill>
              </a:rPr>
              <a:t> construction.</a:t>
            </a:r>
            <a:endParaRPr lang="en-US" sz="980" dirty="0"/>
          </a:p>
        </p:txBody>
      </p:sp>
      <p:sp>
        <p:nvSpPr>
          <p:cNvPr id="32" name="Shape 30"/>
          <p:cNvSpPr/>
          <p:nvPr/>
        </p:nvSpPr>
        <p:spPr>
          <a:xfrm>
            <a:off x="566928" y="4251960"/>
            <a:ext cx="2240280" cy="679704"/>
          </a:xfrm>
          <a:prstGeom prst="rect">
            <a:avLst/>
          </a:prstGeom>
          <a:solidFill>
            <a:srgbClr val="FFFFFF"/>
          </a:solidFill>
          <a:ln w="6985">
            <a:solidFill>
              <a:srgbClr val="D6DAE0"/>
            </a:solidFill>
            <a:prstDash val="solid"/>
          </a:ln>
        </p:spPr>
        <p:txBody>
          <a:bodyPr/>
          <a:p/>
        </p:txBody>
      </p:sp>
      <p:sp>
        <p:nvSpPr>
          <p:cNvPr id="33" name="Text 31"/>
          <p:cNvSpPr/>
          <p:nvPr/>
        </p:nvSpPr>
        <p:spPr>
          <a:xfrm>
            <a:off x="621792" y="4302252"/>
            <a:ext cx="21305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#27 Fabricated Hadith</a:t>
            </a:r>
            <a:endParaRPr lang="en-US" sz="980" dirty="0"/>
          </a:p>
        </p:txBody>
      </p:sp>
      <p:sp>
        <p:nvSpPr>
          <p:cNvPr id="34" name="Shape 32"/>
          <p:cNvSpPr/>
          <p:nvPr/>
        </p:nvSpPr>
        <p:spPr>
          <a:xfrm>
            <a:off x="2807208" y="4251960"/>
            <a:ext cx="4023360" cy="679704"/>
          </a:xfrm>
          <a:prstGeom prst="rect">
            <a:avLst/>
          </a:prstGeom>
          <a:solidFill>
            <a:srgbClr val="FFFFFF"/>
          </a:solidFill>
          <a:ln w="6985">
            <a:solidFill>
              <a:srgbClr val="D6DAE0"/>
            </a:solidFill>
            <a:prstDash val="solid"/>
          </a:ln>
        </p:spPr>
        <p:txBody>
          <a:bodyPr/>
          <a:p/>
        </p:txBody>
      </p:sp>
      <p:sp>
        <p:nvSpPr>
          <p:cNvPr id="35" name="Text 33"/>
          <p:cNvSpPr/>
          <p:nvPr/>
        </p:nvSpPr>
        <p:spPr>
          <a:xfrm>
            <a:off x="2862072" y="4302252"/>
            <a:ext cx="3913632" cy="606552"/>
          </a:xfrm>
          <a:prstGeom prst="rect">
            <a:avLst/>
          </a:prstGeom>
          <a:noFill/>
        </p:spPr>
        <p:txBody>
          <a:bodyPr wrap="square" lIns="0" tIns="0" rIns="0" bIns="0" rtlCol="0" anchor="ctr">
            <a:normAutofit/>
          </a:bodyPr>
          <a:lstStyle/>
          <a:p>
            <a:pPr marL="0" indent="0">
              <a:buNone/>
            </a:pPr>
            <a:r>
              <a:rPr lang="en-US" sz="980" dirty="0">
                <a:solidFill>
                  <a:srgbClr val="1C1C1C"/>
                </a:solidFill>
              </a:rPr>
              <a:t>Hadith authenticity classification.</a:t>
            </a:r>
            <a:endParaRPr lang="en-US" sz="980" dirty="0"/>
          </a:p>
        </p:txBody>
      </p:sp>
      <p:sp>
        <p:nvSpPr>
          <p:cNvPr id="36" name="Shape 34"/>
          <p:cNvSpPr/>
          <p:nvPr/>
        </p:nvSpPr>
        <p:spPr>
          <a:xfrm>
            <a:off x="6830568" y="4251960"/>
            <a:ext cx="4818888" cy="679704"/>
          </a:xfrm>
          <a:prstGeom prst="rect">
            <a:avLst/>
          </a:prstGeom>
          <a:solidFill>
            <a:srgbClr val="FFFFFF"/>
          </a:solidFill>
          <a:ln w="6985">
            <a:solidFill>
              <a:srgbClr val="D6DAE0"/>
            </a:solidFill>
            <a:prstDash val="solid"/>
          </a:ln>
        </p:spPr>
        <p:txBody>
          <a:bodyPr/>
          <a:p/>
        </p:txBody>
      </p:sp>
      <p:sp>
        <p:nvSpPr>
          <p:cNvPr id="37" name="Text 35"/>
          <p:cNvSpPr/>
          <p:nvPr/>
        </p:nvSpPr>
        <p:spPr>
          <a:xfrm>
            <a:off x="6885432" y="4302252"/>
            <a:ext cx="4709160" cy="606552"/>
          </a:xfrm>
          <a:prstGeom prst="rect">
            <a:avLst/>
          </a:prstGeom>
          <a:noFill/>
        </p:spPr>
        <p:txBody>
          <a:bodyPr wrap="square" lIns="0" tIns="0" rIns="0" bIns="0" rtlCol="0" anchor="ctr">
            <a:normAutofit/>
          </a:bodyPr>
          <a:lstStyle/>
          <a:p>
            <a:pPr marL="0" indent="0">
              <a:buNone/>
            </a:pPr>
            <a:r>
              <a:rPr lang="en-US" sz="980" dirty="0">
                <a:solidFill>
                  <a:srgbClr val="1C1C1C"/>
                </a:solidFill>
              </a:rPr>
              <a:t>Islamic knowledge/authenticity, not </a:t>
            </a:r>
            <a:r>
              <a:rPr lang="en-US" sz="980" b="1" dirty="0">
                <a:solidFill>
                  <a:srgbClr val="1C1C1C"/>
                </a:solidFill>
              </a:rPr>
              <a:t>values alignment</a:t>
            </a:r>
            <a:r>
              <a:rPr lang="en-US" sz="980" dirty="0">
                <a:solidFill>
                  <a:srgbClr val="1C1C1C"/>
                </a:solidFill>
              </a:rPr>
              <a:t>.</a:t>
            </a:r>
            <a:endParaRPr lang="en-US" sz="980" dirty="0"/>
          </a:p>
        </p:txBody>
      </p:sp>
      <p:sp>
        <p:nvSpPr>
          <p:cNvPr id="38" name="Shape 36"/>
          <p:cNvSpPr/>
          <p:nvPr/>
        </p:nvSpPr>
        <p:spPr>
          <a:xfrm>
            <a:off x="566928" y="4931664"/>
            <a:ext cx="2240280" cy="679704"/>
          </a:xfrm>
          <a:prstGeom prst="rect">
            <a:avLst/>
          </a:prstGeom>
          <a:solidFill>
            <a:srgbClr val="F5F6F8"/>
          </a:solidFill>
          <a:ln w="6985">
            <a:solidFill>
              <a:srgbClr val="D6DAE0"/>
            </a:solidFill>
            <a:prstDash val="solid"/>
          </a:ln>
        </p:spPr>
        <p:txBody>
          <a:bodyPr/>
          <a:p/>
        </p:txBody>
      </p:sp>
      <p:sp>
        <p:nvSpPr>
          <p:cNvPr id="39" name="Text 37"/>
          <p:cNvSpPr/>
          <p:nvPr/>
        </p:nvSpPr>
        <p:spPr>
          <a:xfrm>
            <a:off x="621792" y="4981956"/>
            <a:ext cx="21305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#39 Multi-IsnadSet</a:t>
            </a:r>
            <a:endParaRPr lang="en-US" sz="980" dirty="0"/>
          </a:p>
        </p:txBody>
      </p:sp>
      <p:sp>
        <p:nvSpPr>
          <p:cNvPr id="40" name="Shape 38"/>
          <p:cNvSpPr/>
          <p:nvPr/>
        </p:nvSpPr>
        <p:spPr>
          <a:xfrm>
            <a:off x="2807208" y="4931664"/>
            <a:ext cx="4023360" cy="679704"/>
          </a:xfrm>
          <a:prstGeom prst="rect">
            <a:avLst/>
          </a:prstGeom>
          <a:solidFill>
            <a:srgbClr val="F5F6F8"/>
          </a:solidFill>
          <a:ln w="6985">
            <a:solidFill>
              <a:srgbClr val="D6DAE0"/>
            </a:solidFill>
            <a:prstDash val="solid"/>
          </a:ln>
        </p:spPr>
        <p:txBody>
          <a:bodyPr/>
          <a:p/>
        </p:txBody>
      </p:sp>
      <p:sp>
        <p:nvSpPr>
          <p:cNvPr id="41" name="Text 39"/>
          <p:cNvSpPr/>
          <p:nvPr/>
        </p:nvSpPr>
        <p:spPr>
          <a:xfrm>
            <a:off x="2862072" y="4981956"/>
            <a:ext cx="3913632" cy="606552"/>
          </a:xfrm>
          <a:prstGeom prst="rect">
            <a:avLst/>
          </a:prstGeom>
          <a:noFill/>
        </p:spPr>
        <p:txBody>
          <a:bodyPr wrap="square" lIns="0" tIns="0" rIns="0" bIns="0" rtlCol="0" anchor="ctr">
            <a:normAutofit/>
          </a:bodyPr>
          <a:lstStyle/>
          <a:p>
            <a:pPr marL="0" indent="0">
              <a:buNone/>
            </a:pPr>
            <a:r>
              <a:rPr lang="en-US" sz="980" dirty="0">
                <a:solidFill>
                  <a:srgbClr val="1C1C1C"/>
                </a:solidFill>
              </a:rPr>
              <a:t>Hadith narrator-chain graph.</a:t>
            </a:r>
            <a:endParaRPr lang="en-US" sz="980" dirty="0"/>
          </a:p>
        </p:txBody>
      </p:sp>
      <p:sp>
        <p:nvSpPr>
          <p:cNvPr id="42" name="Shape 40"/>
          <p:cNvSpPr/>
          <p:nvPr/>
        </p:nvSpPr>
        <p:spPr>
          <a:xfrm>
            <a:off x="6830568" y="4931664"/>
            <a:ext cx="4818888" cy="679704"/>
          </a:xfrm>
          <a:prstGeom prst="rect">
            <a:avLst/>
          </a:prstGeom>
          <a:solidFill>
            <a:srgbClr val="F5F6F8"/>
          </a:solidFill>
          <a:ln w="6985">
            <a:solidFill>
              <a:srgbClr val="D6DAE0"/>
            </a:solidFill>
            <a:prstDash val="solid"/>
          </a:ln>
        </p:spPr>
        <p:txBody>
          <a:bodyPr/>
          <a:p/>
        </p:txBody>
      </p:sp>
      <p:sp>
        <p:nvSpPr>
          <p:cNvPr id="43" name="Text 41"/>
          <p:cNvSpPr/>
          <p:nvPr/>
        </p:nvSpPr>
        <p:spPr>
          <a:xfrm>
            <a:off x="6885432" y="4981956"/>
            <a:ext cx="4709160" cy="606552"/>
          </a:xfrm>
          <a:prstGeom prst="rect">
            <a:avLst/>
          </a:prstGeom>
          <a:noFill/>
        </p:spPr>
        <p:txBody>
          <a:bodyPr wrap="square" lIns="0" tIns="0" rIns="0" bIns="0" rtlCol="0" anchor="ctr">
            <a:normAutofit/>
          </a:bodyPr>
          <a:lstStyle/>
          <a:p>
            <a:pPr marL="0" indent="0">
              <a:buNone/>
            </a:pPr>
            <a:r>
              <a:rPr lang="en-US" sz="980" dirty="0">
                <a:solidFill>
                  <a:srgbClr val="1C1C1C"/>
                </a:solidFill>
              </a:rPr>
              <a:t>Authenticity/chain knowledge if adapted.</a:t>
            </a:r>
            <a:endParaRPr lang="en-US" sz="980" dirty="0"/>
          </a:p>
        </p:txBody>
      </p:sp>
      <p:sp>
        <p:nvSpPr>
          <p:cNvPr id="44" name="Shape 42"/>
          <p:cNvSpPr/>
          <p:nvPr/>
        </p:nvSpPr>
        <p:spPr>
          <a:xfrm>
            <a:off x="566928" y="5611368"/>
            <a:ext cx="2240280" cy="679704"/>
          </a:xfrm>
          <a:prstGeom prst="rect">
            <a:avLst/>
          </a:prstGeom>
          <a:solidFill>
            <a:srgbClr val="FFFFFF"/>
          </a:solidFill>
          <a:ln w="6985">
            <a:solidFill>
              <a:srgbClr val="D6DAE0"/>
            </a:solidFill>
            <a:prstDash val="solid"/>
          </a:ln>
        </p:spPr>
        <p:txBody>
          <a:bodyPr/>
          <a:p/>
        </p:txBody>
      </p:sp>
      <p:sp>
        <p:nvSpPr>
          <p:cNvPr id="45" name="Text 43"/>
          <p:cNvSpPr/>
          <p:nvPr/>
        </p:nvSpPr>
        <p:spPr>
          <a:xfrm>
            <a:off x="621792" y="5661660"/>
            <a:ext cx="2130552" cy="606552"/>
          </a:xfrm>
          <a:prstGeom prst="rect">
            <a:avLst/>
          </a:prstGeom>
          <a:noFill/>
        </p:spPr>
        <p:txBody>
          <a:bodyPr wrap="square" lIns="0" tIns="0" rIns="0" bIns="0" rtlCol="0" anchor="ctr">
            <a:normAutofit/>
          </a:bodyPr>
          <a:lstStyle/>
          <a:p>
            <a:pPr marL="0" indent="0">
              <a:buNone/>
            </a:pPr>
            <a:r>
              <a:rPr lang="en-US" sz="980" b="1" dirty="0">
                <a:solidFill>
                  <a:srgbClr val="1C1C1C"/>
                </a:solidFill>
              </a:rPr>
              <a:t>#46 Sanadset 650K</a:t>
            </a:r>
            <a:endParaRPr lang="en-US" sz="980" dirty="0"/>
          </a:p>
        </p:txBody>
      </p:sp>
      <p:sp>
        <p:nvSpPr>
          <p:cNvPr id="46" name="Shape 44"/>
          <p:cNvSpPr/>
          <p:nvPr/>
        </p:nvSpPr>
        <p:spPr>
          <a:xfrm>
            <a:off x="2807208" y="5611368"/>
            <a:ext cx="4023360" cy="679704"/>
          </a:xfrm>
          <a:prstGeom prst="rect">
            <a:avLst/>
          </a:prstGeom>
          <a:solidFill>
            <a:srgbClr val="FFFFFF"/>
          </a:solidFill>
          <a:ln w="6985">
            <a:solidFill>
              <a:srgbClr val="D6DAE0"/>
            </a:solidFill>
            <a:prstDash val="solid"/>
          </a:ln>
        </p:spPr>
        <p:txBody>
          <a:bodyPr/>
          <a:p/>
        </p:txBody>
      </p:sp>
      <p:sp>
        <p:nvSpPr>
          <p:cNvPr id="47" name="Text 45"/>
          <p:cNvSpPr/>
          <p:nvPr/>
        </p:nvSpPr>
        <p:spPr>
          <a:xfrm>
            <a:off x="2862072" y="5661660"/>
            <a:ext cx="3913632" cy="606552"/>
          </a:xfrm>
          <a:prstGeom prst="rect">
            <a:avLst/>
          </a:prstGeom>
          <a:noFill/>
        </p:spPr>
        <p:txBody>
          <a:bodyPr wrap="square" lIns="0" tIns="0" rIns="0" bIns="0" rtlCol="0" anchor="ctr">
            <a:normAutofit/>
          </a:bodyPr>
          <a:lstStyle/>
          <a:p>
            <a:pPr marL="0" indent="0">
              <a:buNone/>
            </a:pPr>
            <a:r>
              <a:rPr lang="en-US" sz="980" dirty="0">
                <a:solidFill>
                  <a:srgbClr val="1C1C1C"/>
                </a:solidFill>
              </a:rPr>
              <a:t>Large Hadith narrator-chain dataset.</a:t>
            </a:r>
            <a:endParaRPr lang="en-US" sz="980" dirty="0"/>
          </a:p>
        </p:txBody>
      </p:sp>
      <p:sp>
        <p:nvSpPr>
          <p:cNvPr id="48" name="Shape 46"/>
          <p:cNvSpPr/>
          <p:nvPr/>
        </p:nvSpPr>
        <p:spPr>
          <a:xfrm>
            <a:off x="6830568" y="5611368"/>
            <a:ext cx="4818888" cy="679704"/>
          </a:xfrm>
          <a:prstGeom prst="rect">
            <a:avLst/>
          </a:prstGeom>
          <a:solidFill>
            <a:srgbClr val="FFFFFF"/>
          </a:solidFill>
          <a:ln w="6985">
            <a:solidFill>
              <a:srgbClr val="D6DAE0"/>
            </a:solidFill>
            <a:prstDash val="solid"/>
          </a:ln>
        </p:spPr>
        <p:txBody>
          <a:bodyPr/>
          <a:p/>
        </p:txBody>
      </p:sp>
      <p:sp>
        <p:nvSpPr>
          <p:cNvPr id="49" name="Text 47"/>
          <p:cNvSpPr/>
          <p:nvPr/>
        </p:nvSpPr>
        <p:spPr>
          <a:xfrm>
            <a:off x="6885432" y="5661660"/>
            <a:ext cx="4709160" cy="606552"/>
          </a:xfrm>
          <a:prstGeom prst="rect">
            <a:avLst/>
          </a:prstGeom>
          <a:noFill/>
        </p:spPr>
        <p:txBody>
          <a:bodyPr wrap="square" lIns="0" tIns="0" rIns="0" bIns="0" rtlCol="0" anchor="ctr">
            <a:normAutofit/>
          </a:bodyPr>
          <a:lstStyle/>
          <a:p>
            <a:pPr marL="0" indent="0">
              <a:buNone/>
            </a:pPr>
            <a:r>
              <a:rPr lang="en-US" sz="980" dirty="0">
                <a:solidFill>
                  <a:srgbClr val="1C1C1C"/>
                </a:solidFill>
              </a:rPr>
              <a:t>Religious knowledge infrastructure, not alignment.</a:t>
            </a:r>
            <a:endParaRPr lang="en-US" sz="980" dirty="0"/>
          </a:p>
        </p:txBody>
      </p:sp>
      <p:sp>
        <p:nvSpPr>
          <p:cNvPr id="50" name="Text Box 49"/>
          <p:cNvSpPr txBox="1"/>
          <p:nvPr/>
        </p:nvSpPr>
        <p:spPr>
          <a:xfrm>
            <a:off x="6830695" y="210312"/>
            <a:ext cx="5261610" cy="553085"/>
          </a:xfrm>
          <a:prstGeom prst="rect">
            <a:avLst/>
          </a:prstGeom>
          <a:ln>
            <a:solidFill>
              <a:schemeClr val="tx1"/>
            </a:solidFill>
          </a:ln>
        </p:spPr>
        <p:txBody>
          <a:bodyPr wrap="square">
            <a:spAutoFit/>
          </a:bodyPr>
          <a:p>
            <a:pPr algn="ctr"/>
            <a:r>
              <a:rPr sz="1000" b="1"/>
              <a:t>Andrew runner-up note:</a:t>
            </a:r>
            <a:endParaRPr lang="en-US" altLang="en-US" sz="1600">
              <a:solidFill>
                <a:srgbClr val="C00000"/>
              </a:solidFill>
            </a:endParaRPr>
          </a:p>
          <a:p>
            <a:r>
              <a:rPr sz="1000" b="1">
                <a:solidFill>
                  <a:srgbClr val="8B0000"/>
                </a:solidFill>
              </a:rPr>
              <a:t>AceGPT (Andrew): Arabic culture QA; Islam overlap, not Islam-specific.</a:t>
            </a:r>
            <a:endParaRPr sz="1000" b="1">
              <a:solidFill>
                <a:srgbClr val="8B0000"/>
              </a:solidFill>
            </a:endParaRPr>
          </a:p>
          <a:p>
            <a:r>
              <a:rPr sz="1000" b="1">
                <a:solidFill>
                  <a:srgbClr val="8B0000"/>
                </a:solidFill>
              </a:rPr>
              <a:t>Quran passage retrieval (Andrew): adapt/verify as Track B resource.</a:t>
            </a:r>
            <a:endParaRPr sz="1000" b="1">
              <a:solidFill>
                <a:srgbClr val="8B0000"/>
              </a:solidFill>
            </a:endParaRPr>
          </a:p>
        </p:txBody>
      </p:sp>
      <p:sp>
        <p:nvSpPr>
          <p:cNvPr id="51" name="Text Box 50"/>
          <p:cNvSpPr txBox="1"/>
          <p:nvPr/>
        </p:nvSpPr>
        <p:spPr>
          <a:xfrm>
            <a:off x="6830695" y="799465"/>
            <a:ext cx="5261610" cy="1014730"/>
          </a:xfrm>
          <a:prstGeom prst="rect">
            <a:avLst/>
          </a:prstGeom>
          <a:ln>
            <a:solidFill>
              <a:schemeClr val="tx1"/>
            </a:solidFill>
          </a:ln>
        </p:spPr>
        <p:txBody>
          <a:bodyPr wrap="square">
            <a:spAutoFit/>
          </a:bodyPr>
          <a:p>
            <a:pPr algn="ctr"/>
            <a:r>
              <a:rPr lang="en-US" altLang="zh-CN" sz="1000" b="1">
                <a:solidFill>
                  <a:srgbClr val="C00000"/>
                </a:solidFill>
                <a:sym typeface="+mn-ea"/>
              </a:rPr>
              <a:t>Difference bt </a:t>
            </a:r>
            <a:r>
              <a:rPr lang="en-US" altLang="zh-CN" sz="1000" b="1" u="sng">
                <a:solidFill>
                  <a:srgbClr val="C00000"/>
                </a:solidFill>
                <a:sym typeface="+mn-ea"/>
              </a:rPr>
              <a:t>Track B</a:t>
            </a:r>
            <a:r>
              <a:rPr lang="en-US" altLang="zh-CN" sz="1000" b="1">
                <a:solidFill>
                  <a:srgbClr val="C00000"/>
                </a:solidFill>
                <a:sym typeface="+mn-ea"/>
              </a:rPr>
              <a:t> vs. </a:t>
            </a:r>
            <a:r>
              <a:rPr lang="en-US" altLang="zh-CN" sz="1000" b="1" u="sng">
                <a:solidFill>
                  <a:srgbClr val="C00000"/>
                </a:solidFill>
                <a:sym typeface="+mn-ea"/>
              </a:rPr>
              <a:t>Resource layer</a:t>
            </a:r>
            <a:r>
              <a:rPr lang="en-US" altLang="zh-CN" sz="1000">
                <a:solidFill>
                  <a:srgbClr val="C00000"/>
                </a:solidFill>
                <a:sym typeface="+mn-ea"/>
              </a:rPr>
              <a:t> (Track B </a:t>
            </a:r>
            <a:r>
              <a:rPr lang="en-US" altLang="en-US" sz="1000">
                <a:solidFill>
                  <a:srgbClr val="C00000"/>
                </a:solidFill>
              </a:rPr>
              <a:t>runners-up):</a:t>
            </a:r>
            <a:endParaRPr lang="en-US" altLang="en-US" sz="1000">
              <a:solidFill>
                <a:srgbClr val="C00000"/>
              </a:solidFill>
            </a:endParaRPr>
          </a:p>
          <a:p>
            <a:pPr algn="ctr"/>
            <a:endParaRPr lang="en-US" altLang="zh-CN" sz="1000" b="1">
              <a:solidFill>
                <a:srgbClr val="C00000"/>
              </a:solidFill>
            </a:endParaRPr>
          </a:p>
          <a:p>
            <a:pPr algn="ctr"/>
            <a:r>
              <a:rPr lang="en-US" altLang="zh-CN" sz="1000" b="1">
                <a:solidFill>
                  <a:srgbClr val="C00000"/>
                </a:solidFill>
              </a:rPr>
              <a:t>Track B</a:t>
            </a:r>
            <a:r>
              <a:rPr lang="en-US" altLang="zh-CN" sz="1000" b="1"/>
              <a:t> = benchmark already exists</a:t>
            </a:r>
            <a:endParaRPr lang="en-US" altLang="zh-CN" sz="1000" b="1"/>
          </a:p>
          <a:p>
            <a:pPr algn="ctr"/>
            <a:r>
              <a:rPr lang="en-US" altLang="zh-CN" sz="1000"/>
              <a:t> There is a </a:t>
            </a:r>
            <a:r>
              <a:rPr lang="en-US" altLang="zh-CN" sz="1000" b="1"/>
              <a:t>question</a:t>
            </a:r>
            <a:r>
              <a:rPr lang="en-US" altLang="zh-CN" sz="1000"/>
              <a:t>, a </a:t>
            </a:r>
            <a:r>
              <a:rPr lang="en-US" altLang="zh-CN" sz="1000" b="1"/>
              <a:t>correct answer/label</a:t>
            </a:r>
            <a:r>
              <a:rPr lang="en-US" altLang="zh-CN" sz="1000"/>
              <a:t>, and a </a:t>
            </a:r>
            <a:r>
              <a:rPr lang="en-US" altLang="zh-CN" sz="1000" b="1"/>
              <a:t>metric</a:t>
            </a:r>
            <a:r>
              <a:rPr lang="en-US" altLang="zh-CN" sz="1000"/>
              <a:t>.</a:t>
            </a:r>
            <a:endParaRPr lang="en-US" altLang="zh-CN" sz="1000"/>
          </a:p>
          <a:p>
            <a:pPr algn="ctr"/>
            <a:r>
              <a:rPr lang="en-US" altLang="zh-CN" sz="1000" b="1">
                <a:solidFill>
                  <a:srgbClr val="C00000"/>
                </a:solidFill>
              </a:rPr>
              <a:t>Resource layer</a:t>
            </a:r>
            <a:r>
              <a:rPr lang="en-US" altLang="zh-CN" sz="1000" b="1"/>
              <a:t> = source material only</a:t>
            </a:r>
            <a:endParaRPr lang="en-US" altLang="zh-CN" sz="1000" b="1"/>
          </a:p>
          <a:p>
            <a:pPr algn="ctr"/>
            <a:r>
              <a:rPr lang="en-US" altLang="zh-CN" sz="1000"/>
              <a:t>There is religious </a:t>
            </a:r>
            <a:r>
              <a:rPr lang="en-US" altLang="zh-CN" sz="1000" b="1"/>
              <a:t>text/data</a:t>
            </a:r>
            <a:r>
              <a:rPr lang="en-US" altLang="zh-CN" sz="1000"/>
              <a:t>, but </a:t>
            </a:r>
            <a:r>
              <a:rPr lang="en-US" altLang="zh-CN" sz="1000" b="1" i="1"/>
              <a:t>no benchmark question yet</a:t>
            </a:r>
            <a:r>
              <a:rPr lang="en-US" altLang="zh-CN" sz="1000"/>
              <a:t>.</a:t>
            </a:r>
            <a:endParaRPr lang="en-US" altLang="zh-CN"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6B7280"/>
          </a:solidFill>
          <a:ln w="12700">
            <a:solidFill>
              <a:srgbClr val="6B7280"/>
            </a:solidFill>
            <a:prstDash val="solid"/>
          </a:ln>
        </p:spPr>
        <p:txBody>
          <a:bodyPr/>
          <a:p/>
        </p:txBody>
      </p:sp>
      <p:sp>
        <p:nvSpPr>
          <p:cNvPr id="3" name="Text 1"/>
          <p:cNvSpPr/>
          <p:nvPr/>
        </p:nvSpPr>
        <p:spPr>
          <a:xfrm>
            <a:off x="777240" y="2331720"/>
            <a:ext cx="9692640" cy="658368"/>
          </a:xfrm>
          <a:prstGeom prst="rect">
            <a:avLst/>
          </a:prstGeom>
          <a:noFill/>
        </p:spPr>
        <p:txBody>
          <a:bodyPr wrap="square" lIns="0" tIns="0" rIns="0" bIns="0" rtlCol="0" anchor="ctr">
            <a:normAutofit/>
          </a:bodyPr>
          <a:lstStyle/>
          <a:p>
            <a:pPr marL="0" indent="0">
              <a:buNone/>
            </a:pPr>
            <a:r>
              <a:rPr lang="en-US" sz="3800" b="1" dirty="0">
                <a:solidFill>
                  <a:srgbClr val="1C1C1C"/>
                </a:solidFill>
              </a:rPr>
              <a:t>negative finding</a:t>
            </a:r>
            <a:endParaRPr lang="en-US" sz="3800" dirty="0"/>
          </a:p>
        </p:txBody>
      </p:sp>
      <p:sp>
        <p:nvSpPr>
          <p:cNvPr id="5" name="Shape 3"/>
          <p:cNvSpPr/>
          <p:nvPr/>
        </p:nvSpPr>
        <p:spPr>
          <a:xfrm>
            <a:off x="777240" y="3886200"/>
            <a:ext cx="9875520" cy="0"/>
          </a:xfrm>
          <a:prstGeom prst="line">
            <a:avLst/>
          </a:prstGeom>
          <a:noFill/>
          <a:ln w="25400">
            <a:solidFill>
              <a:srgbClr val="6B7280"/>
            </a:solidFill>
            <a:prstDash val="solid"/>
          </a:ln>
        </p:spPr>
        <p:txBody>
          <a:bodyPr/>
          <a:p/>
        </p:txBody>
      </p:sp>
      <p:sp>
        <p:nvSpPr>
          <p:cNvPr id="6" name="Text 4"/>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18262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283337"/>
            <a:ext cx="2057400" cy="109728"/>
          </a:xfrm>
          <a:prstGeom prst="rect">
            <a:avLst/>
          </a:prstGeom>
          <a:noFill/>
        </p:spPr>
        <p:txBody>
          <a:bodyPr wrap="square" lIns="0" tIns="0" rIns="0" bIns="0" rtlCol="0" anchor="ctr">
            <a:normAutofit/>
          </a:bodyPr>
          <a:lstStyle/>
          <a:p>
            <a:pPr marL="0" indent="0">
              <a:buNone/>
            </a:pPr>
            <a:r>
              <a:rPr lang="en-US" sz="1050" b="1" dirty="0">
                <a:solidFill>
                  <a:srgbClr val="FFFFFF"/>
                </a:solidFill>
              </a:rPr>
              <a:t>NEGATIVE FINDING</a:t>
            </a:r>
            <a:endParaRPr lang="en-US" sz="1050" dirty="0"/>
          </a:p>
        </p:txBody>
      </p:sp>
      <p:sp>
        <p:nvSpPr>
          <p:cNvPr id="4" name="Text 2"/>
          <p:cNvSpPr/>
          <p:nvPr/>
        </p:nvSpPr>
        <p:spPr>
          <a:xfrm>
            <a:off x="502920" y="749935"/>
            <a:ext cx="10972800" cy="794385"/>
          </a:xfrm>
          <a:prstGeom prst="rect">
            <a:avLst/>
          </a:prstGeom>
          <a:noFill/>
        </p:spPr>
        <p:txBody>
          <a:bodyPr wrap="square" lIns="0" tIns="0" rIns="0" bIns="0" rtlCol="0" anchor="ctr">
            <a:normAutofit fontScale="90000"/>
          </a:bodyPr>
          <a:lstStyle/>
          <a:p>
            <a:pPr marL="0" indent="0">
              <a:buNone/>
            </a:pPr>
            <a:r>
              <a:rPr lang="en-US" sz="2800" b="1" dirty="0">
                <a:solidFill>
                  <a:srgbClr val="1C1C1C"/>
                </a:solidFill>
                <a:latin typeface="Aptos Display" pitchFamily="34" charset="0"/>
                <a:ea typeface="Aptos Display" pitchFamily="34" charset="-122"/>
                <a:cs typeface="Aptos Display" pitchFamily="34" charset="-120"/>
              </a:rPr>
              <a:t>Negative finding</a:t>
            </a:r>
            <a:r>
              <a:rPr lang="en-US" sz="2800" b="1" dirty="0">
                <a:solidFill>
                  <a:srgbClr val="1C1C1C"/>
                </a:solidFill>
                <a:latin typeface="Aptos Display" pitchFamily="34" charset="0"/>
                <a:ea typeface="Aptos Display" pitchFamily="34" charset="-122"/>
                <a:cs typeface="Aptos Display" pitchFamily="34" charset="-120"/>
              </a:rPr>
              <a:t>: </a:t>
            </a:r>
            <a:endParaRPr lang="en-US" sz="2800" b="1" dirty="0">
              <a:solidFill>
                <a:srgbClr val="1C1C1C"/>
              </a:solidFill>
              <a:latin typeface="Aptos Display" pitchFamily="34" charset="0"/>
              <a:ea typeface="Aptos Display" pitchFamily="34" charset="-122"/>
              <a:cs typeface="Aptos Display" pitchFamily="34" charset="-120"/>
            </a:endParaRPr>
          </a:p>
          <a:p>
            <a:pPr marL="0" indent="0">
              <a:buNone/>
            </a:pPr>
            <a:r>
              <a:rPr lang="en-US" sz="2800" b="1" dirty="0">
                <a:solidFill>
                  <a:srgbClr val="1C1C1C"/>
                </a:solidFill>
                <a:latin typeface="Aptos Display" pitchFamily="34" charset="0"/>
                <a:ea typeface="Aptos Display" pitchFamily="34" charset="-122"/>
                <a:cs typeface="Aptos Display" pitchFamily="34" charset="-120"/>
              </a:rPr>
              <a:t>several </a:t>
            </a:r>
            <a:r>
              <a:rPr lang="en-US" sz="2800" b="1" dirty="0">
                <a:solidFill>
                  <a:srgbClr val="1C1C1C"/>
                </a:solidFill>
                <a:latin typeface="Aptos Display" pitchFamily="34" charset="0"/>
                <a:ea typeface="Aptos Display" pitchFamily="34" charset="-122"/>
                <a:cs typeface="Aptos Display" pitchFamily="34" charset="-120"/>
              </a:rPr>
              <a:t>Gate-Passer</a:t>
            </a:r>
            <a:r>
              <a:rPr lang="en-US" sz="2800" b="1" dirty="0">
                <a:solidFill>
                  <a:srgbClr val="1C1C1C"/>
                </a:solidFill>
                <a:latin typeface="Aptos Display" pitchFamily="34" charset="0"/>
                <a:ea typeface="Aptos Display" pitchFamily="34" charset="-122"/>
                <a:cs typeface="Aptos Display" pitchFamily="34" charset="-120"/>
              </a:rPr>
              <a:t>s do not serve either track</a:t>
            </a:r>
            <a:endParaRPr lang="en-US" sz="2800"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19</a:t>
            </a:r>
            <a:endParaRPr lang="en-US" sz="1050" dirty="0"/>
          </a:p>
        </p:txBody>
      </p:sp>
      <p:sp>
        <p:nvSpPr>
          <p:cNvPr id="8" name="Shape 6"/>
          <p:cNvSpPr/>
          <p:nvPr/>
        </p:nvSpPr>
        <p:spPr>
          <a:xfrm>
            <a:off x="420624" y="1810512"/>
            <a:ext cx="1938528" cy="384048"/>
          </a:xfrm>
          <a:prstGeom prst="rect">
            <a:avLst/>
          </a:prstGeom>
          <a:solidFill>
            <a:srgbClr val="B42318"/>
          </a:solidFill>
          <a:ln w="6985">
            <a:solidFill>
              <a:srgbClr val="D6DAE0"/>
            </a:solidFill>
            <a:prstDash val="solid"/>
          </a:ln>
        </p:spPr>
        <p:txBody>
          <a:bodyPr/>
          <a:p/>
        </p:txBody>
      </p:sp>
      <p:sp>
        <p:nvSpPr>
          <p:cNvPr id="9" name="Text 7"/>
          <p:cNvSpPr/>
          <p:nvPr/>
        </p:nvSpPr>
        <p:spPr>
          <a:xfrm>
            <a:off x="475488" y="1860804"/>
            <a:ext cx="1828800" cy="310896"/>
          </a:xfrm>
          <a:prstGeom prst="rect">
            <a:avLst/>
          </a:prstGeom>
          <a:noFill/>
        </p:spPr>
        <p:txBody>
          <a:bodyPr wrap="square" lIns="0" tIns="0" rIns="0" bIns="0" rtlCol="0" anchor="ctr">
            <a:normAutofit/>
          </a:bodyPr>
          <a:lstStyle/>
          <a:p>
            <a:pPr marL="0" indent="0">
              <a:buNone/>
            </a:pPr>
            <a:r>
              <a:rPr lang="en-US" sz="980" b="1" dirty="0">
                <a:solidFill>
                  <a:srgbClr val="FFFFFF"/>
                </a:solidFill>
              </a:rPr>
              <a:t>Paper</a:t>
            </a:r>
            <a:endParaRPr lang="en-US" sz="980" dirty="0"/>
          </a:p>
        </p:txBody>
      </p:sp>
      <p:sp>
        <p:nvSpPr>
          <p:cNvPr id="10" name="Shape 8"/>
          <p:cNvSpPr/>
          <p:nvPr/>
        </p:nvSpPr>
        <p:spPr>
          <a:xfrm>
            <a:off x="2359152" y="1810512"/>
            <a:ext cx="3154680" cy="384048"/>
          </a:xfrm>
          <a:prstGeom prst="rect">
            <a:avLst/>
          </a:prstGeom>
          <a:solidFill>
            <a:srgbClr val="B42318"/>
          </a:solidFill>
          <a:ln w="6985">
            <a:solidFill>
              <a:srgbClr val="D6DAE0"/>
            </a:solidFill>
            <a:prstDash val="solid"/>
          </a:ln>
        </p:spPr>
        <p:txBody>
          <a:bodyPr/>
          <a:p/>
        </p:txBody>
      </p:sp>
      <p:sp>
        <p:nvSpPr>
          <p:cNvPr id="11" name="Text 9"/>
          <p:cNvSpPr/>
          <p:nvPr/>
        </p:nvSpPr>
        <p:spPr>
          <a:xfrm>
            <a:off x="2414016" y="1860804"/>
            <a:ext cx="3044952" cy="310896"/>
          </a:xfrm>
          <a:prstGeom prst="rect">
            <a:avLst/>
          </a:prstGeom>
          <a:noFill/>
        </p:spPr>
        <p:txBody>
          <a:bodyPr wrap="square" lIns="0" tIns="0" rIns="0" bIns="0" rtlCol="0" anchor="ctr">
            <a:normAutofit/>
          </a:bodyPr>
          <a:lstStyle/>
          <a:p>
            <a:pPr marL="0" indent="0">
              <a:buNone/>
            </a:pPr>
            <a:r>
              <a:rPr lang="en-US" sz="980" b="1" dirty="0">
                <a:solidFill>
                  <a:srgbClr val="FFFFFF"/>
                </a:solidFill>
              </a:rPr>
              <a:t>Why it fails </a:t>
            </a:r>
            <a:r>
              <a:rPr lang="en-US" sz="980" b="1" dirty="0">
                <a:solidFill>
                  <a:srgbClr val="FFFFFF"/>
                </a:solidFill>
              </a:rPr>
              <a:t>Track A</a:t>
            </a:r>
            <a:endParaRPr lang="en-US" sz="980" dirty="0"/>
          </a:p>
        </p:txBody>
      </p:sp>
      <p:sp>
        <p:nvSpPr>
          <p:cNvPr id="12" name="Shape 10"/>
          <p:cNvSpPr/>
          <p:nvPr/>
        </p:nvSpPr>
        <p:spPr>
          <a:xfrm>
            <a:off x="5513832" y="1810512"/>
            <a:ext cx="3337560" cy="384048"/>
          </a:xfrm>
          <a:prstGeom prst="rect">
            <a:avLst/>
          </a:prstGeom>
          <a:solidFill>
            <a:srgbClr val="B42318"/>
          </a:solidFill>
          <a:ln w="6985">
            <a:solidFill>
              <a:srgbClr val="D6DAE0"/>
            </a:solidFill>
            <a:prstDash val="solid"/>
          </a:ln>
        </p:spPr>
        <p:txBody>
          <a:bodyPr/>
          <a:p/>
        </p:txBody>
      </p:sp>
      <p:sp>
        <p:nvSpPr>
          <p:cNvPr id="13" name="Text 11"/>
          <p:cNvSpPr/>
          <p:nvPr/>
        </p:nvSpPr>
        <p:spPr>
          <a:xfrm>
            <a:off x="5568696" y="1860804"/>
            <a:ext cx="3227832" cy="310896"/>
          </a:xfrm>
          <a:prstGeom prst="rect">
            <a:avLst/>
          </a:prstGeom>
          <a:noFill/>
        </p:spPr>
        <p:txBody>
          <a:bodyPr wrap="square" lIns="0" tIns="0" rIns="0" bIns="0" rtlCol="0" anchor="ctr">
            <a:normAutofit/>
          </a:bodyPr>
          <a:lstStyle/>
          <a:p>
            <a:pPr marL="0" indent="0">
              <a:buNone/>
            </a:pPr>
            <a:r>
              <a:rPr lang="en-US" sz="980" b="1" dirty="0">
                <a:solidFill>
                  <a:srgbClr val="FFFFFF"/>
                </a:solidFill>
              </a:rPr>
              <a:t>Why it fails </a:t>
            </a:r>
            <a:r>
              <a:rPr lang="en-US" sz="980" b="1" dirty="0">
                <a:solidFill>
                  <a:srgbClr val="FFFFFF"/>
                </a:solidFill>
              </a:rPr>
              <a:t>Track B</a:t>
            </a:r>
            <a:endParaRPr lang="en-US" sz="980" dirty="0"/>
          </a:p>
        </p:txBody>
      </p:sp>
      <p:sp>
        <p:nvSpPr>
          <p:cNvPr id="14" name="Shape 12"/>
          <p:cNvSpPr/>
          <p:nvPr/>
        </p:nvSpPr>
        <p:spPr>
          <a:xfrm>
            <a:off x="8851392" y="1810512"/>
            <a:ext cx="2980944" cy="384048"/>
          </a:xfrm>
          <a:prstGeom prst="rect">
            <a:avLst/>
          </a:prstGeom>
          <a:solidFill>
            <a:srgbClr val="B42318"/>
          </a:solidFill>
          <a:ln w="6985">
            <a:solidFill>
              <a:srgbClr val="D6DAE0"/>
            </a:solidFill>
            <a:prstDash val="solid"/>
          </a:ln>
        </p:spPr>
        <p:txBody>
          <a:bodyPr/>
          <a:p/>
        </p:txBody>
      </p:sp>
      <p:sp>
        <p:nvSpPr>
          <p:cNvPr id="15" name="Text 13"/>
          <p:cNvSpPr/>
          <p:nvPr/>
        </p:nvSpPr>
        <p:spPr>
          <a:xfrm>
            <a:off x="8906256" y="1860804"/>
            <a:ext cx="2871216" cy="310896"/>
          </a:xfrm>
          <a:prstGeom prst="rect">
            <a:avLst/>
          </a:prstGeom>
          <a:noFill/>
        </p:spPr>
        <p:txBody>
          <a:bodyPr wrap="square" lIns="0" tIns="0" rIns="0" bIns="0" rtlCol="0" anchor="ctr">
            <a:normAutofit/>
          </a:bodyPr>
          <a:lstStyle/>
          <a:p>
            <a:pPr marL="0" indent="0">
              <a:buNone/>
            </a:pPr>
            <a:r>
              <a:rPr lang="en-US" sz="980" b="1" dirty="0">
                <a:solidFill>
                  <a:srgbClr val="FFFFFF"/>
                </a:solidFill>
              </a:rPr>
              <a:t>Bottom line</a:t>
            </a:r>
            <a:endParaRPr lang="en-US" sz="980" dirty="0"/>
          </a:p>
        </p:txBody>
      </p:sp>
      <p:sp>
        <p:nvSpPr>
          <p:cNvPr id="16" name="Shape 14"/>
          <p:cNvSpPr/>
          <p:nvPr/>
        </p:nvSpPr>
        <p:spPr>
          <a:xfrm>
            <a:off x="420624" y="2194560"/>
            <a:ext cx="1938528" cy="694944"/>
          </a:xfrm>
          <a:prstGeom prst="rect">
            <a:avLst/>
          </a:prstGeom>
          <a:solidFill>
            <a:srgbClr val="F5F6F8"/>
          </a:solidFill>
          <a:ln w="6985">
            <a:solidFill>
              <a:srgbClr val="D6DAE0"/>
            </a:solidFill>
            <a:prstDash val="solid"/>
          </a:ln>
        </p:spPr>
        <p:txBody>
          <a:bodyPr/>
          <a:p/>
        </p:txBody>
      </p:sp>
      <p:sp>
        <p:nvSpPr>
          <p:cNvPr id="17" name="Text 15"/>
          <p:cNvSpPr/>
          <p:nvPr/>
        </p:nvSpPr>
        <p:spPr>
          <a:xfrm>
            <a:off x="475488" y="2244852"/>
            <a:ext cx="1828800" cy="621792"/>
          </a:xfrm>
          <a:prstGeom prst="rect">
            <a:avLst/>
          </a:prstGeom>
          <a:noFill/>
        </p:spPr>
        <p:txBody>
          <a:bodyPr wrap="square" lIns="0" tIns="0" rIns="0" bIns="0" rtlCol="0" anchor="ctr">
            <a:normAutofit/>
          </a:bodyPr>
          <a:lstStyle/>
          <a:p>
            <a:pPr marL="0" indent="0">
              <a:buNone/>
            </a:pPr>
            <a:r>
              <a:rPr lang="en-US" sz="980" b="1" dirty="0">
                <a:solidFill>
                  <a:srgbClr val="1C1C1C"/>
                </a:solidFill>
              </a:rPr>
              <a:t>#30 REDDITBIAS</a:t>
            </a:r>
            <a:endParaRPr lang="en-US" sz="980" dirty="0"/>
          </a:p>
        </p:txBody>
      </p:sp>
      <p:sp>
        <p:nvSpPr>
          <p:cNvPr id="18" name="Shape 16"/>
          <p:cNvSpPr/>
          <p:nvPr/>
        </p:nvSpPr>
        <p:spPr>
          <a:xfrm>
            <a:off x="2359152" y="2194560"/>
            <a:ext cx="3154680" cy="694944"/>
          </a:xfrm>
          <a:prstGeom prst="rect">
            <a:avLst/>
          </a:prstGeom>
          <a:solidFill>
            <a:srgbClr val="F5F6F8"/>
          </a:solidFill>
          <a:ln w="6985">
            <a:solidFill>
              <a:srgbClr val="D6DAE0"/>
            </a:solidFill>
            <a:prstDash val="solid"/>
          </a:ln>
        </p:spPr>
        <p:txBody>
          <a:bodyPr/>
          <a:p/>
        </p:txBody>
      </p:sp>
      <p:sp>
        <p:nvSpPr>
          <p:cNvPr id="19" name="Text 17"/>
          <p:cNvSpPr/>
          <p:nvPr/>
        </p:nvSpPr>
        <p:spPr>
          <a:xfrm>
            <a:off x="2414016" y="2244852"/>
            <a:ext cx="3044952" cy="621792"/>
          </a:xfrm>
          <a:prstGeom prst="rect">
            <a:avLst/>
          </a:prstGeom>
          <a:noFill/>
        </p:spPr>
        <p:txBody>
          <a:bodyPr wrap="square" lIns="0" tIns="0" rIns="0" bIns="0" rtlCol="0" anchor="ctr">
            <a:normAutofit/>
          </a:bodyPr>
          <a:lstStyle/>
          <a:p>
            <a:pPr marL="0" indent="0">
              <a:buNone/>
            </a:pPr>
            <a:r>
              <a:rPr lang="en-US" sz="980" dirty="0">
                <a:solidFill>
                  <a:srgbClr val="1C1C1C"/>
                </a:solidFill>
              </a:rPr>
              <a:t>Bias, not reasoning from a tradition.</a:t>
            </a:r>
            <a:endParaRPr lang="en-US" sz="980" dirty="0"/>
          </a:p>
        </p:txBody>
      </p:sp>
      <p:sp>
        <p:nvSpPr>
          <p:cNvPr id="20" name="Shape 18"/>
          <p:cNvSpPr/>
          <p:nvPr/>
        </p:nvSpPr>
        <p:spPr>
          <a:xfrm>
            <a:off x="5513832" y="2194560"/>
            <a:ext cx="3337560" cy="694944"/>
          </a:xfrm>
          <a:prstGeom prst="rect">
            <a:avLst/>
          </a:prstGeom>
          <a:solidFill>
            <a:srgbClr val="F5F6F8"/>
          </a:solidFill>
          <a:ln w="6985">
            <a:solidFill>
              <a:srgbClr val="D6DAE0"/>
            </a:solidFill>
            <a:prstDash val="solid"/>
          </a:ln>
        </p:spPr>
        <p:txBody>
          <a:bodyPr/>
          <a:p/>
        </p:txBody>
      </p:sp>
      <p:sp>
        <p:nvSpPr>
          <p:cNvPr id="21" name="Text 19"/>
          <p:cNvSpPr/>
          <p:nvPr/>
        </p:nvSpPr>
        <p:spPr>
          <a:xfrm>
            <a:off x="5568696" y="2244852"/>
            <a:ext cx="3227832" cy="621792"/>
          </a:xfrm>
          <a:prstGeom prst="rect">
            <a:avLst/>
          </a:prstGeom>
          <a:noFill/>
        </p:spPr>
        <p:txBody>
          <a:bodyPr wrap="square" lIns="0" tIns="0" rIns="0" bIns="0" rtlCol="0" anchor="ctr">
            <a:normAutofit/>
          </a:bodyPr>
          <a:lstStyle/>
          <a:p>
            <a:pPr marL="0" indent="0">
              <a:buNone/>
            </a:pPr>
            <a:r>
              <a:rPr lang="en-US" sz="980" b="1" dirty="0">
                <a:solidFill>
                  <a:srgbClr val="1C1C1C"/>
                </a:solidFill>
              </a:rPr>
              <a:t>No</a:t>
            </a:r>
            <a:r>
              <a:rPr lang="en-US" sz="980" dirty="0">
                <a:solidFill>
                  <a:srgbClr val="1C1C1C"/>
                </a:solidFill>
              </a:rPr>
              <a:t> </a:t>
            </a:r>
            <a:r>
              <a:rPr lang="en-US" sz="980" b="1" dirty="0">
                <a:solidFill>
                  <a:srgbClr val="1C1C1C"/>
                </a:solidFill>
              </a:rPr>
              <a:t>doctrine</a:t>
            </a:r>
            <a:r>
              <a:rPr lang="en-US" sz="980" dirty="0">
                <a:solidFill>
                  <a:srgbClr val="1C1C1C"/>
                </a:solidFill>
              </a:rPr>
              <a:t>/</a:t>
            </a:r>
            <a:r>
              <a:rPr lang="en-US" sz="980" b="1" dirty="0">
                <a:solidFill>
                  <a:srgbClr val="1C1C1C"/>
                </a:solidFill>
              </a:rPr>
              <a:t>scripture</a:t>
            </a:r>
            <a:r>
              <a:rPr lang="en-US" sz="980" dirty="0">
                <a:solidFill>
                  <a:srgbClr val="1C1C1C"/>
                </a:solidFill>
              </a:rPr>
              <a:t> knowledge.</a:t>
            </a:r>
            <a:endParaRPr lang="en-US" sz="980" dirty="0"/>
          </a:p>
        </p:txBody>
      </p:sp>
      <p:sp>
        <p:nvSpPr>
          <p:cNvPr id="22" name="Shape 20"/>
          <p:cNvSpPr/>
          <p:nvPr/>
        </p:nvSpPr>
        <p:spPr>
          <a:xfrm>
            <a:off x="8851392" y="2194560"/>
            <a:ext cx="2980944" cy="694944"/>
          </a:xfrm>
          <a:prstGeom prst="rect">
            <a:avLst/>
          </a:prstGeom>
          <a:solidFill>
            <a:srgbClr val="F5F6F8"/>
          </a:solidFill>
          <a:ln w="6985">
            <a:solidFill>
              <a:srgbClr val="D6DAE0"/>
            </a:solidFill>
            <a:prstDash val="solid"/>
          </a:ln>
        </p:spPr>
        <p:txBody>
          <a:bodyPr/>
          <a:p/>
        </p:txBody>
      </p:sp>
      <p:sp>
        <p:nvSpPr>
          <p:cNvPr id="23" name="Text 21"/>
          <p:cNvSpPr/>
          <p:nvPr/>
        </p:nvSpPr>
        <p:spPr>
          <a:xfrm>
            <a:off x="8906256" y="2244852"/>
            <a:ext cx="2871216" cy="621792"/>
          </a:xfrm>
          <a:prstGeom prst="rect">
            <a:avLst/>
          </a:prstGeom>
          <a:noFill/>
        </p:spPr>
        <p:txBody>
          <a:bodyPr wrap="square" lIns="0" tIns="0" rIns="0" bIns="0" rtlCol="0" anchor="ctr">
            <a:normAutofit/>
          </a:bodyPr>
          <a:lstStyle/>
          <a:p>
            <a:pPr marL="0" indent="0">
              <a:buNone/>
            </a:pPr>
            <a:r>
              <a:rPr lang="en-US" sz="980" dirty="0">
                <a:solidFill>
                  <a:srgbClr val="1C1C1C"/>
                </a:solidFill>
              </a:rPr>
              <a:t>Bias/safety only.</a:t>
            </a:r>
            <a:endParaRPr lang="en-US" sz="980" dirty="0"/>
          </a:p>
        </p:txBody>
      </p:sp>
      <p:sp>
        <p:nvSpPr>
          <p:cNvPr id="24" name="Shape 22"/>
          <p:cNvSpPr/>
          <p:nvPr/>
        </p:nvSpPr>
        <p:spPr>
          <a:xfrm>
            <a:off x="420624" y="2889504"/>
            <a:ext cx="1938528" cy="694944"/>
          </a:xfrm>
          <a:prstGeom prst="rect">
            <a:avLst/>
          </a:prstGeom>
          <a:solidFill>
            <a:srgbClr val="FFFFFF"/>
          </a:solidFill>
          <a:ln w="6985">
            <a:solidFill>
              <a:srgbClr val="D6DAE0"/>
            </a:solidFill>
            <a:prstDash val="solid"/>
          </a:ln>
        </p:spPr>
        <p:txBody>
          <a:bodyPr/>
          <a:p/>
        </p:txBody>
      </p:sp>
      <p:sp>
        <p:nvSpPr>
          <p:cNvPr id="25" name="Text 23"/>
          <p:cNvSpPr/>
          <p:nvPr/>
        </p:nvSpPr>
        <p:spPr>
          <a:xfrm>
            <a:off x="475488" y="2939796"/>
            <a:ext cx="1828800" cy="621792"/>
          </a:xfrm>
          <a:prstGeom prst="rect">
            <a:avLst/>
          </a:prstGeom>
          <a:noFill/>
        </p:spPr>
        <p:txBody>
          <a:bodyPr wrap="square" lIns="0" tIns="0" rIns="0" bIns="0" rtlCol="0" anchor="ctr">
            <a:normAutofit/>
          </a:bodyPr>
          <a:lstStyle/>
          <a:p>
            <a:pPr marL="0" indent="0">
              <a:buNone/>
            </a:pPr>
            <a:r>
              <a:rPr lang="en-US" sz="980" b="1" dirty="0">
                <a:solidFill>
                  <a:srgbClr val="1C1C1C"/>
                </a:solidFill>
              </a:rPr>
              <a:t>#33 Vedic Compound</a:t>
            </a:r>
            <a:endParaRPr lang="en-US" sz="980" dirty="0"/>
          </a:p>
        </p:txBody>
      </p:sp>
      <p:sp>
        <p:nvSpPr>
          <p:cNvPr id="26" name="Shape 24"/>
          <p:cNvSpPr/>
          <p:nvPr/>
        </p:nvSpPr>
        <p:spPr>
          <a:xfrm>
            <a:off x="2359152" y="2889504"/>
            <a:ext cx="3154680" cy="694944"/>
          </a:xfrm>
          <a:prstGeom prst="rect">
            <a:avLst/>
          </a:prstGeom>
          <a:solidFill>
            <a:srgbClr val="FFFFFF"/>
          </a:solidFill>
          <a:ln w="6985">
            <a:solidFill>
              <a:srgbClr val="D6DAE0"/>
            </a:solidFill>
            <a:prstDash val="solid"/>
          </a:ln>
        </p:spPr>
        <p:txBody>
          <a:bodyPr/>
          <a:p/>
        </p:txBody>
      </p:sp>
      <p:sp>
        <p:nvSpPr>
          <p:cNvPr id="27" name="Text 25"/>
          <p:cNvSpPr/>
          <p:nvPr/>
        </p:nvSpPr>
        <p:spPr>
          <a:xfrm>
            <a:off x="2414016" y="2939796"/>
            <a:ext cx="3044952" cy="621792"/>
          </a:xfrm>
          <a:prstGeom prst="rect">
            <a:avLst/>
          </a:prstGeom>
          <a:noFill/>
        </p:spPr>
        <p:txBody>
          <a:bodyPr wrap="square" lIns="0" tIns="0" rIns="0" bIns="0" rtlCol="0" anchor="ctr">
            <a:normAutofit/>
          </a:bodyPr>
          <a:lstStyle/>
          <a:p>
            <a:pPr marL="0" indent="0">
              <a:buNone/>
            </a:pPr>
            <a:r>
              <a:rPr lang="en-US" sz="980" b="1" dirty="0">
                <a:solidFill>
                  <a:srgbClr val="1C1C1C"/>
                </a:solidFill>
              </a:rPr>
              <a:t>No</a:t>
            </a:r>
            <a:r>
              <a:rPr lang="en-US" sz="980" dirty="0">
                <a:solidFill>
                  <a:srgbClr val="1C1C1C"/>
                </a:solidFill>
              </a:rPr>
              <a:t> values/worldview reasoning.</a:t>
            </a:r>
            <a:endParaRPr lang="en-US" sz="980" dirty="0"/>
          </a:p>
        </p:txBody>
      </p:sp>
      <p:sp>
        <p:nvSpPr>
          <p:cNvPr id="28" name="Shape 26"/>
          <p:cNvSpPr/>
          <p:nvPr/>
        </p:nvSpPr>
        <p:spPr>
          <a:xfrm>
            <a:off x="5513832" y="2889504"/>
            <a:ext cx="3337560" cy="694944"/>
          </a:xfrm>
          <a:prstGeom prst="rect">
            <a:avLst/>
          </a:prstGeom>
          <a:solidFill>
            <a:srgbClr val="FFFFFF"/>
          </a:solidFill>
          <a:ln w="6985">
            <a:solidFill>
              <a:srgbClr val="D6DAE0"/>
            </a:solidFill>
            <a:prstDash val="solid"/>
          </a:ln>
        </p:spPr>
        <p:txBody>
          <a:bodyPr/>
          <a:p/>
        </p:txBody>
      </p:sp>
      <p:sp>
        <p:nvSpPr>
          <p:cNvPr id="29" name="Text 27"/>
          <p:cNvSpPr/>
          <p:nvPr/>
        </p:nvSpPr>
        <p:spPr>
          <a:xfrm>
            <a:off x="5568696" y="2939796"/>
            <a:ext cx="3227832" cy="621792"/>
          </a:xfrm>
          <a:prstGeom prst="rect">
            <a:avLst/>
          </a:prstGeom>
          <a:noFill/>
        </p:spPr>
        <p:txBody>
          <a:bodyPr wrap="square" lIns="0" tIns="0" rIns="0" bIns="0" rtlCol="0" anchor="ctr">
            <a:normAutofit/>
          </a:bodyPr>
          <a:lstStyle/>
          <a:p>
            <a:pPr marL="0" indent="0">
              <a:buNone/>
            </a:pPr>
            <a:r>
              <a:rPr lang="en-US" sz="980" dirty="0">
                <a:solidFill>
                  <a:srgbClr val="1C1C1C"/>
                </a:solidFill>
              </a:rPr>
              <a:t>Sanskrit morphology, not Hindu </a:t>
            </a:r>
            <a:r>
              <a:rPr lang="en-US" sz="980" b="1" dirty="0">
                <a:solidFill>
                  <a:srgbClr val="1C1C1C"/>
                </a:solidFill>
              </a:rPr>
              <a:t>QA</a:t>
            </a:r>
            <a:r>
              <a:rPr lang="en-US" sz="980" dirty="0">
                <a:solidFill>
                  <a:srgbClr val="1C1C1C"/>
                </a:solidFill>
              </a:rPr>
              <a:t>.</a:t>
            </a:r>
            <a:endParaRPr lang="en-US" sz="980" dirty="0"/>
          </a:p>
        </p:txBody>
      </p:sp>
      <p:sp>
        <p:nvSpPr>
          <p:cNvPr id="30" name="Shape 28"/>
          <p:cNvSpPr/>
          <p:nvPr/>
        </p:nvSpPr>
        <p:spPr>
          <a:xfrm>
            <a:off x="8851392" y="2889504"/>
            <a:ext cx="2980944" cy="694944"/>
          </a:xfrm>
          <a:prstGeom prst="rect">
            <a:avLst/>
          </a:prstGeom>
          <a:solidFill>
            <a:srgbClr val="FFFFFF"/>
          </a:solidFill>
          <a:ln w="6985">
            <a:solidFill>
              <a:srgbClr val="D6DAE0"/>
            </a:solidFill>
            <a:prstDash val="solid"/>
          </a:ln>
        </p:spPr>
        <p:txBody>
          <a:bodyPr/>
          <a:p/>
        </p:txBody>
      </p:sp>
      <p:sp>
        <p:nvSpPr>
          <p:cNvPr id="31" name="Text 29"/>
          <p:cNvSpPr/>
          <p:nvPr/>
        </p:nvSpPr>
        <p:spPr>
          <a:xfrm>
            <a:off x="8906256" y="2939796"/>
            <a:ext cx="2871216" cy="621792"/>
          </a:xfrm>
          <a:prstGeom prst="rect">
            <a:avLst/>
          </a:prstGeom>
          <a:noFill/>
        </p:spPr>
        <p:txBody>
          <a:bodyPr wrap="square" lIns="0" tIns="0" rIns="0" bIns="0" rtlCol="0" anchor="ctr">
            <a:normAutofit/>
          </a:bodyPr>
          <a:lstStyle/>
          <a:p>
            <a:pPr marL="0" indent="0">
              <a:buNone/>
            </a:pPr>
            <a:r>
              <a:rPr lang="en-US" sz="980" dirty="0">
                <a:solidFill>
                  <a:srgbClr val="1C1C1C"/>
                </a:solidFill>
              </a:rPr>
              <a:t>Sacred-language NLP.</a:t>
            </a:r>
            <a:endParaRPr lang="en-US" sz="980" dirty="0"/>
          </a:p>
        </p:txBody>
      </p:sp>
      <p:sp>
        <p:nvSpPr>
          <p:cNvPr id="32" name="Shape 30"/>
          <p:cNvSpPr/>
          <p:nvPr/>
        </p:nvSpPr>
        <p:spPr>
          <a:xfrm>
            <a:off x="420624" y="3584448"/>
            <a:ext cx="1938528" cy="694944"/>
          </a:xfrm>
          <a:prstGeom prst="rect">
            <a:avLst/>
          </a:prstGeom>
          <a:solidFill>
            <a:srgbClr val="F5F6F8"/>
          </a:solidFill>
          <a:ln w="6985">
            <a:solidFill>
              <a:srgbClr val="D6DAE0"/>
            </a:solidFill>
            <a:prstDash val="solid"/>
          </a:ln>
        </p:spPr>
        <p:txBody>
          <a:bodyPr/>
          <a:p/>
        </p:txBody>
      </p:sp>
      <p:sp>
        <p:nvSpPr>
          <p:cNvPr id="33" name="Text 31"/>
          <p:cNvSpPr/>
          <p:nvPr/>
        </p:nvSpPr>
        <p:spPr>
          <a:xfrm>
            <a:off x="475488" y="3634740"/>
            <a:ext cx="1828800" cy="621792"/>
          </a:xfrm>
          <a:prstGeom prst="rect">
            <a:avLst/>
          </a:prstGeom>
          <a:noFill/>
        </p:spPr>
        <p:txBody>
          <a:bodyPr wrap="square" lIns="0" tIns="0" rIns="0" bIns="0" rtlCol="0" anchor="ctr">
            <a:normAutofit/>
          </a:bodyPr>
          <a:lstStyle/>
          <a:p>
            <a:pPr marL="0" indent="0">
              <a:buNone/>
            </a:pPr>
            <a:r>
              <a:rPr lang="en-US" sz="980" b="1" dirty="0">
                <a:solidFill>
                  <a:srgbClr val="1C1C1C"/>
                </a:solidFill>
              </a:rPr>
              <a:t>#36 ValueNet</a:t>
            </a:r>
            <a:endParaRPr lang="en-US" sz="980" dirty="0"/>
          </a:p>
        </p:txBody>
      </p:sp>
      <p:sp>
        <p:nvSpPr>
          <p:cNvPr id="34" name="Shape 32"/>
          <p:cNvSpPr/>
          <p:nvPr/>
        </p:nvSpPr>
        <p:spPr>
          <a:xfrm>
            <a:off x="2359152" y="3584448"/>
            <a:ext cx="3154680" cy="694944"/>
          </a:xfrm>
          <a:prstGeom prst="rect">
            <a:avLst/>
          </a:prstGeom>
          <a:solidFill>
            <a:srgbClr val="F5F6F8"/>
          </a:solidFill>
          <a:ln w="6985">
            <a:solidFill>
              <a:srgbClr val="D6DAE0"/>
            </a:solidFill>
            <a:prstDash val="solid"/>
          </a:ln>
        </p:spPr>
        <p:txBody>
          <a:bodyPr/>
          <a:p/>
        </p:txBody>
      </p:sp>
      <p:sp>
        <p:nvSpPr>
          <p:cNvPr id="35" name="Text 33"/>
          <p:cNvSpPr/>
          <p:nvPr/>
        </p:nvSpPr>
        <p:spPr>
          <a:xfrm>
            <a:off x="2414016" y="3634740"/>
            <a:ext cx="3044952" cy="621792"/>
          </a:xfrm>
          <a:prstGeom prst="rect">
            <a:avLst/>
          </a:prstGeom>
          <a:noFill/>
        </p:spPr>
        <p:txBody>
          <a:bodyPr wrap="square" lIns="0" tIns="0" rIns="0" bIns="0" rtlCol="0" anchor="ctr">
            <a:normAutofit/>
          </a:bodyPr>
          <a:lstStyle/>
          <a:p>
            <a:pPr marL="0" indent="0">
              <a:buNone/>
            </a:pPr>
            <a:r>
              <a:rPr lang="en-US" sz="980" dirty="0">
                <a:solidFill>
                  <a:srgbClr val="1C1C1C"/>
                </a:solidFill>
              </a:rPr>
              <a:t>General human values, not religious.</a:t>
            </a:r>
            <a:endParaRPr lang="en-US" sz="980" dirty="0"/>
          </a:p>
        </p:txBody>
      </p:sp>
      <p:sp>
        <p:nvSpPr>
          <p:cNvPr id="36" name="Shape 34"/>
          <p:cNvSpPr/>
          <p:nvPr/>
        </p:nvSpPr>
        <p:spPr>
          <a:xfrm>
            <a:off x="5513832" y="3584448"/>
            <a:ext cx="3337560" cy="694944"/>
          </a:xfrm>
          <a:prstGeom prst="rect">
            <a:avLst/>
          </a:prstGeom>
          <a:solidFill>
            <a:srgbClr val="F5F6F8"/>
          </a:solidFill>
          <a:ln w="6985">
            <a:solidFill>
              <a:srgbClr val="D6DAE0"/>
            </a:solidFill>
            <a:prstDash val="solid"/>
          </a:ln>
        </p:spPr>
        <p:txBody>
          <a:bodyPr/>
          <a:p/>
        </p:txBody>
      </p:sp>
      <p:sp>
        <p:nvSpPr>
          <p:cNvPr id="37" name="Text 35"/>
          <p:cNvSpPr/>
          <p:nvPr/>
        </p:nvSpPr>
        <p:spPr>
          <a:xfrm>
            <a:off x="5568696" y="3634740"/>
            <a:ext cx="3227832" cy="621792"/>
          </a:xfrm>
          <a:prstGeom prst="rect">
            <a:avLst/>
          </a:prstGeom>
          <a:noFill/>
        </p:spPr>
        <p:txBody>
          <a:bodyPr wrap="square" lIns="0" tIns="0" rIns="0" bIns="0" rtlCol="0" anchor="ctr">
            <a:normAutofit/>
          </a:bodyPr>
          <a:lstStyle/>
          <a:p>
            <a:pPr marL="0" indent="0">
              <a:buNone/>
            </a:pPr>
            <a:r>
              <a:rPr lang="en-US" sz="980" b="1" dirty="0">
                <a:solidFill>
                  <a:srgbClr val="1C1C1C"/>
                </a:solidFill>
              </a:rPr>
              <a:t>No</a:t>
            </a:r>
            <a:r>
              <a:rPr lang="en-US" sz="980" dirty="0">
                <a:solidFill>
                  <a:srgbClr val="1C1C1C"/>
                </a:solidFill>
              </a:rPr>
              <a:t> religious </a:t>
            </a:r>
            <a:r>
              <a:rPr lang="en-US" sz="980" b="1" dirty="0">
                <a:solidFill>
                  <a:srgbClr val="1C1C1C"/>
                </a:solidFill>
              </a:rPr>
              <a:t>doctrine</a:t>
            </a:r>
            <a:r>
              <a:rPr lang="en-US" sz="980" dirty="0">
                <a:solidFill>
                  <a:srgbClr val="1C1C1C"/>
                </a:solidFill>
              </a:rPr>
              <a:t>/</a:t>
            </a:r>
            <a:r>
              <a:rPr lang="en-US" sz="980" b="1" dirty="0">
                <a:solidFill>
                  <a:srgbClr val="1C1C1C"/>
                </a:solidFill>
              </a:rPr>
              <a:t>scripture</a:t>
            </a:r>
            <a:r>
              <a:rPr lang="en-US" sz="980" dirty="0">
                <a:solidFill>
                  <a:srgbClr val="1C1C1C"/>
                </a:solidFill>
              </a:rPr>
              <a:t>.</a:t>
            </a:r>
            <a:endParaRPr lang="en-US" sz="980" dirty="0"/>
          </a:p>
        </p:txBody>
      </p:sp>
      <p:sp>
        <p:nvSpPr>
          <p:cNvPr id="38" name="Shape 36"/>
          <p:cNvSpPr/>
          <p:nvPr/>
        </p:nvSpPr>
        <p:spPr>
          <a:xfrm>
            <a:off x="8851392" y="3584448"/>
            <a:ext cx="2980944" cy="694944"/>
          </a:xfrm>
          <a:prstGeom prst="rect">
            <a:avLst/>
          </a:prstGeom>
          <a:solidFill>
            <a:srgbClr val="F5F6F8"/>
          </a:solidFill>
          <a:ln w="6985">
            <a:solidFill>
              <a:srgbClr val="D6DAE0"/>
            </a:solidFill>
            <a:prstDash val="solid"/>
          </a:ln>
        </p:spPr>
        <p:txBody>
          <a:bodyPr/>
          <a:p/>
        </p:txBody>
      </p:sp>
      <p:sp>
        <p:nvSpPr>
          <p:cNvPr id="39" name="Text 37"/>
          <p:cNvSpPr/>
          <p:nvPr/>
        </p:nvSpPr>
        <p:spPr>
          <a:xfrm>
            <a:off x="8906256" y="3634740"/>
            <a:ext cx="2871216" cy="621792"/>
          </a:xfrm>
          <a:prstGeom prst="rect">
            <a:avLst/>
          </a:prstGeom>
          <a:noFill/>
        </p:spPr>
        <p:txBody>
          <a:bodyPr wrap="square" lIns="0" tIns="0" rIns="0" bIns="0" rtlCol="0" anchor="ctr">
            <a:normAutofit/>
          </a:bodyPr>
          <a:lstStyle/>
          <a:p>
            <a:pPr marL="0" indent="0">
              <a:buNone/>
            </a:pPr>
            <a:r>
              <a:rPr lang="en-US" sz="980" dirty="0">
                <a:solidFill>
                  <a:srgbClr val="1C1C1C"/>
                </a:solidFill>
              </a:rPr>
              <a:t>General values only.</a:t>
            </a:r>
            <a:endParaRPr lang="en-US" sz="980" dirty="0"/>
          </a:p>
        </p:txBody>
      </p:sp>
      <p:sp>
        <p:nvSpPr>
          <p:cNvPr id="40" name="Shape 38"/>
          <p:cNvSpPr/>
          <p:nvPr/>
        </p:nvSpPr>
        <p:spPr>
          <a:xfrm>
            <a:off x="420624" y="4279392"/>
            <a:ext cx="1938528" cy="694944"/>
          </a:xfrm>
          <a:prstGeom prst="rect">
            <a:avLst/>
          </a:prstGeom>
          <a:solidFill>
            <a:srgbClr val="FFFFFF"/>
          </a:solidFill>
          <a:ln w="6985">
            <a:solidFill>
              <a:srgbClr val="D6DAE0"/>
            </a:solidFill>
            <a:prstDash val="solid"/>
          </a:ln>
        </p:spPr>
        <p:txBody>
          <a:bodyPr/>
          <a:p/>
        </p:txBody>
      </p:sp>
      <p:sp>
        <p:nvSpPr>
          <p:cNvPr id="41" name="Text 39"/>
          <p:cNvSpPr/>
          <p:nvPr/>
        </p:nvSpPr>
        <p:spPr>
          <a:xfrm>
            <a:off x="475488" y="4329684"/>
            <a:ext cx="1828800" cy="621792"/>
          </a:xfrm>
          <a:prstGeom prst="rect">
            <a:avLst/>
          </a:prstGeom>
          <a:noFill/>
        </p:spPr>
        <p:txBody>
          <a:bodyPr wrap="square" lIns="0" tIns="0" rIns="0" bIns="0" rtlCol="0" anchor="ctr">
            <a:normAutofit/>
          </a:bodyPr>
          <a:lstStyle/>
          <a:p>
            <a:pPr marL="0" indent="0">
              <a:buNone/>
            </a:pPr>
            <a:r>
              <a:rPr lang="en-US" sz="980" b="1" dirty="0">
                <a:solidFill>
                  <a:srgbClr val="1C1C1C"/>
                </a:solidFill>
              </a:rPr>
              <a:t>#38 Vedic Intertextuality</a:t>
            </a:r>
            <a:endParaRPr lang="en-US" sz="980" dirty="0"/>
          </a:p>
        </p:txBody>
      </p:sp>
      <p:sp>
        <p:nvSpPr>
          <p:cNvPr id="42" name="Shape 40"/>
          <p:cNvSpPr/>
          <p:nvPr/>
        </p:nvSpPr>
        <p:spPr>
          <a:xfrm>
            <a:off x="2359152" y="4279392"/>
            <a:ext cx="3154680" cy="694944"/>
          </a:xfrm>
          <a:prstGeom prst="rect">
            <a:avLst/>
          </a:prstGeom>
          <a:solidFill>
            <a:srgbClr val="FFFFFF"/>
          </a:solidFill>
          <a:ln w="6985">
            <a:solidFill>
              <a:srgbClr val="D6DAE0"/>
            </a:solidFill>
            <a:prstDash val="solid"/>
          </a:ln>
        </p:spPr>
        <p:txBody>
          <a:bodyPr/>
          <a:p/>
        </p:txBody>
      </p:sp>
      <p:sp>
        <p:nvSpPr>
          <p:cNvPr id="43" name="Text 41"/>
          <p:cNvSpPr/>
          <p:nvPr/>
        </p:nvSpPr>
        <p:spPr>
          <a:xfrm>
            <a:off x="2414016" y="4329684"/>
            <a:ext cx="3044952" cy="621792"/>
          </a:xfrm>
          <a:prstGeom prst="rect">
            <a:avLst/>
          </a:prstGeom>
          <a:noFill/>
        </p:spPr>
        <p:txBody>
          <a:bodyPr wrap="square" lIns="0" tIns="0" rIns="0" bIns="0" rtlCol="0" anchor="ctr">
            <a:normAutofit/>
          </a:bodyPr>
          <a:lstStyle/>
          <a:p>
            <a:pPr marL="0" indent="0">
              <a:buNone/>
            </a:pPr>
            <a:r>
              <a:rPr lang="en-US" sz="980" b="1" dirty="0">
                <a:solidFill>
                  <a:srgbClr val="1C1C1C"/>
                </a:solidFill>
              </a:rPr>
              <a:t>No</a:t>
            </a:r>
            <a:r>
              <a:rPr lang="en-US" sz="980" dirty="0">
                <a:solidFill>
                  <a:srgbClr val="1C1C1C"/>
                </a:solidFill>
              </a:rPr>
              <a:t> ethical reasoning.</a:t>
            </a:r>
            <a:endParaRPr lang="en-US" sz="980" dirty="0"/>
          </a:p>
        </p:txBody>
      </p:sp>
      <p:sp>
        <p:nvSpPr>
          <p:cNvPr id="44" name="Shape 42"/>
          <p:cNvSpPr/>
          <p:nvPr/>
        </p:nvSpPr>
        <p:spPr>
          <a:xfrm>
            <a:off x="5513832" y="4279392"/>
            <a:ext cx="3337560" cy="694944"/>
          </a:xfrm>
          <a:prstGeom prst="rect">
            <a:avLst/>
          </a:prstGeom>
          <a:solidFill>
            <a:srgbClr val="FFFFFF"/>
          </a:solidFill>
          <a:ln w="6985">
            <a:solidFill>
              <a:srgbClr val="D6DAE0"/>
            </a:solidFill>
            <a:prstDash val="solid"/>
          </a:ln>
        </p:spPr>
        <p:txBody>
          <a:bodyPr/>
          <a:p/>
        </p:txBody>
      </p:sp>
      <p:sp>
        <p:nvSpPr>
          <p:cNvPr id="45" name="Text 43"/>
          <p:cNvSpPr/>
          <p:nvPr/>
        </p:nvSpPr>
        <p:spPr>
          <a:xfrm>
            <a:off x="5568696" y="4329684"/>
            <a:ext cx="3227832" cy="621792"/>
          </a:xfrm>
          <a:prstGeom prst="rect">
            <a:avLst/>
          </a:prstGeom>
          <a:noFill/>
        </p:spPr>
        <p:txBody>
          <a:bodyPr wrap="square" lIns="0" tIns="0" rIns="0" bIns="0" rtlCol="0" anchor="ctr">
            <a:normAutofit/>
          </a:bodyPr>
          <a:lstStyle/>
          <a:p>
            <a:pPr marL="0" indent="0">
              <a:buNone/>
            </a:pPr>
            <a:r>
              <a:rPr lang="en-US" sz="980" dirty="0">
                <a:solidFill>
                  <a:srgbClr val="1C1C1C"/>
                </a:solidFill>
              </a:rPr>
              <a:t>Text similarity, not </a:t>
            </a:r>
            <a:r>
              <a:rPr lang="en-US" sz="980" b="1" dirty="0">
                <a:solidFill>
                  <a:srgbClr val="1C1C1C"/>
                </a:solidFill>
              </a:rPr>
              <a:t>doctrine</a:t>
            </a:r>
            <a:r>
              <a:rPr lang="en-US" sz="980" dirty="0">
                <a:solidFill>
                  <a:srgbClr val="1C1C1C"/>
                </a:solidFill>
              </a:rPr>
              <a:t> </a:t>
            </a:r>
            <a:r>
              <a:rPr lang="en-US" sz="980" b="1" dirty="0">
                <a:solidFill>
                  <a:srgbClr val="1C1C1C"/>
                </a:solidFill>
              </a:rPr>
              <a:t>QA</a:t>
            </a:r>
            <a:r>
              <a:rPr lang="en-US" sz="980" dirty="0">
                <a:solidFill>
                  <a:srgbClr val="1C1C1C"/>
                </a:solidFill>
              </a:rPr>
              <a:t>.</a:t>
            </a:r>
            <a:endParaRPr lang="en-US" sz="980" dirty="0"/>
          </a:p>
        </p:txBody>
      </p:sp>
      <p:sp>
        <p:nvSpPr>
          <p:cNvPr id="46" name="Shape 44"/>
          <p:cNvSpPr/>
          <p:nvPr/>
        </p:nvSpPr>
        <p:spPr>
          <a:xfrm>
            <a:off x="8851392" y="4279392"/>
            <a:ext cx="2980944" cy="694944"/>
          </a:xfrm>
          <a:prstGeom prst="rect">
            <a:avLst/>
          </a:prstGeom>
          <a:solidFill>
            <a:srgbClr val="FFFFFF"/>
          </a:solidFill>
          <a:ln w="6985">
            <a:solidFill>
              <a:srgbClr val="D6DAE0"/>
            </a:solidFill>
            <a:prstDash val="solid"/>
          </a:ln>
        </p:spPr>
        <p:txBody>
          <a:bodyPr/>
          <a:p/>
        </p:txBody>
      </p:sp>
      <p:sp>
        <p:nvSpPr>
          <p:cNvPr id="47" name="Text 45"/>
          <p:cNvSpPr/>
          <p:nvPr/>
        </p:nvSpPr>
        <p:spPr>
          <a:xfrm>
            <a:off x="8906256" y="4329684"/>
            <a:ext cx="2871216" cy="621792"/>
          </a:xfrm>
          <a:prstGeom prst="rect">
            <a:avLst/>
          </a:prstGeom>
          <a:noFill/>
        </p:spPr>
        <p:txBody>
          <a:bodyPr wrap="square" lIns="0" tIns="0" rIns="0" bIns="0" rtlCol="0" anchor="ctr">
            <a:normAutofit/>
          </a:bodyPr>
          <a:lstStyle/>
          <a:p>
            <a:pPr marL="0" indent="0">
              <a:buNone/>
            </a:pPr>
            <a:r>
              <a:rPr lang="en-US" sz="980" dirty="0">
                <a:solidFill>
                  <a:srgbClr val="1C1C1C"/>
                </a:solidFill>
              </a:rPr>
              <a:t>Digital philology.</a:t>
            </a:r>
            <a:endParaRPr lang="en-US" sz="980" dirty="0"/>
          </a:p>
        </p:txBody>
      </p:sp>
      <p:sp>
        <p:nvSpPr>
          <p:cNvPr id="48" name="Shape 46"/>
          <p:cNvSpPr/>
          <p:nvPr/>
        </p:nvSpPr>
        <p:spPr>
          <a:xfrm>
            <a:off x="420624" y="4974336"/>
            <a:ext cx="1938528" cy="694944"/>
          </a:xfrm>
          <a:prstGeom prst="rect">
            <a:avLst/>
          </a:prstGeom>
          <a:solidFill>
            <a:srgbClr val="F5F6F8"/>
          </a:solidFill>
          <a:ln w="6985">
            <a:solidFill>
              <a:srgbClr val="D6DAE0"/>
            </a:solidFill>
            <a:prstDash val="solid"/>
          </a:ln>
        </p:spPr>
        <p:txBody>
          <a:bodyPr/>
          <a:p/>
        </p:txBody>
      </p:sp>
      <p:sp>
        <p:nvSpPr>
          <p:cNvPr id="49" name="Text 47"/>
          <p:cNvSpPr/>
          <p:nvPr/>
        </p:nvSpPr>
        <p:spPr>
          <a:xfrm>
            <a:off x="475488" y="5024628"/>
            <a:ext cx="1828800" cy="621792"/>
          </a:xfrm>
          <a:prstGeom prst="rect">
            <a:avLst/>
          </a:prstGeom>
          <a:noFill/>
        </p:spPr>
        <p:txBody>
          <a:bodyPr wrap="square" lIns="0" tIns="0" rIns="0" bIns="0" rtlCol="0" anchor="ctr">
            <a:normAutofit/>
          </a:bodyPr>
          <a:lstStyle/>
          <a:p>
            <a:pPr marL="0" indent="0">
              <a:buNone/>
            </a:pPr>
            <a:r>
              <a:rPr lang="en-US" sz="980" b="1" dirty="0">
                <a:solidFill>
                  <a:srgbClr val="1C1C1C"/>
                </a:solidFill>
              </a:rPr>
              <a:t>#40 MASAQ Quran</a:t>
            </a:r>
            <a:endParaRPr lang="en-US" sz="980" dirty="0"/>
          </a:p>
        </p:txBody>
      </p:sp>
      <p:sp>
        <p:nvSpPr>
          <p:cNvPr id="50" name="Shape 48"/>
          <p:cNvSpPr/>
          <p:nvPr/>
        </p:nvSpPr>
        <p:spPr>
          <a:xfrm>
            <a:off x="2359152" y="4974336"/>
            <a:ext cx="3154680" cy="694944"/>
          </a:xfrm>
          <a:prstGeom prst="rect">
            <a:avLst/>
          </a:prstGeom>
          <a:solidFill>
            <a:srgbClr val="F5F6F8"/>
          </a:solidFill>
          <a:ln w="6985">
            <a:solidFill>
              <a:srgbClr val="D6DAE0"/>
            </a:solidFill>
            <a:prstDash val="solid"/>
          </a:ln>
        </p:spPr>
        <p:txBody>
          <a:bodyPr/>
          <a:p/>
        </p:txBody>
      </p:sp>
      <p:sp>
        <p:nvSpPr>
          <p:cNvPr id="51" name="Text 49"/>
          <p:cNvSpPr/>
          <p:nvPr/>
        </p:nvSpPr>
        <p:spPr>
          <a:xfrm>
            <a:off x="2414016" y="5024628"/>
            <a:ext cx="3044952" cy="621792"/>
          </a:xfrm>
          <a:prstGeom prst="rect">
            <a:avLst/>
          </a:prstGeom>
          <a:noFill/>
        </p:spPr>
        <p:txBody>
          <a:bodyPr wrap="square" lIns="0" tIns="0" rIns="0" bIns="0" rtlCol="0" anchor="ctr">
            <a:normAutofit/>
          </a:bodyPr>
          <a:lstStyle/>
          <a:p>
            <a:pPr marL="0" indent="0">
              <a:buNone/>
            </a:pPr>
            <a:r>
              <a:rPr lang="en-US" sz="980" dirty="0">
                <a:solidFill>
                  <a:srgbClr val="1C1C1C"/>
                </a:solidFill>
              </a:rPr>
              <a:t>Quranic grammar ≠ Islamic values.</a:t>
            </a:r>
            <a:endParaRPr lang="en-US" sz="980" dirty="0"/>
          </a:p>
        </p:txBody>
      </p:sp>
      <p:sp>
        <p:nvSpPr>
          <p:cNvPr id="52" name="Shape 50"/>
          <p:cNvSpPr/>
          <p:nvPr/>
        </p:nvSpPr>
        <p:spPr>
          <a:xfrm>
            <a:off x="5513832" y="4974336"/>
            <a:ext cx="3337560" cy="694944"/>
          </a:xfrm>
          <a:prstGeom prst="rect">
            <a:avLst/>
          </a:prstGeom>
          <a:solidFill>
            <a:srgbClr val="F5F6F8"/>
          </a:solidFill>
          <a:ln w="6985">
            <a:solidFill>
              <a:srgbClr val="D6DAE0"/>
            </a:solidFill>
            <a:prstDash val="solid"/>
          </a:ln>
        </p:spPr>
        <p:txBody>
          <a:bodyPr/>
          <a:p/>
        </p:txBody>
      </p:sp>
      <p:sp>
        <p:nvSpPr>
          <p:cNvPr id="53" name="Text 51"/>
          <p:cNvSpPr/>
          <p:nvPr/>
        </p:nvSpPr>
        <p:spPr>
          <a:xfrm>
            <a:off x="5568696" y="5024628"/>
            <a:ext cx="3227832" cy="621792"/>
          </a:xfrm>
          <a:prstGeom prst="rect">
            <a:avLst/>
          </a:prstGeom>
          <a:noFill/>
        </p:spPr>
        <p:txBody>
          <a:bodyPr wrap="square" lIns="0" tIns="0" rIns="0" bIns="0" rtlCol="0" anchor="ctr">
            <a:normAutofit/>
          </a:bodyPr>
          <a:lstStyle/>
          <a:p>
            <a:pPr marL="0" indent="0">
              <a:buNone/>
            </a:pPr>
            <a:r>
              <a:rPr lang="en-US" sz="980" dirty="0">
                <a:solidFill>
                  <a:srgbClr val="1C1C1C"/>
                </a:solidFill>
              </a:rPr>
              <a:t>Morphology/syntax, not </a:t>
            </a:r>
            <a:r>
              <a:rPr lang="en-US" sz="980" b="1" dirty="0">
                <a:solidFill>
                  <a:srgbClr val="1C1C1C"/>
                </a:solidFill>
              </a:rPr>
              <a:t>doctrine</a:t>
            </a:r>
            <a:r>
              <a:rPr lang="en-US" sz="980" dirty="0">
                <a:solidFill>
                  <a:srgbClr val="1C1C1C"/>
                </a:solidFill>
              </a:rPr>
              <a:t> </a:t>
            </a:r>
            <a:r>
              <a:rPr lang="en-US" sz="980" b="1" dirty="0">
                <a:solidFill>
                  <a:srgbClr val="1C1C1C"/>
                </a:solidFill>
              </a:rPr>
              <a:t>QA</a:t>
            </a:r>
            <a:r>
              <a:rPr lang="en-US" sz="980" dirty="0">
                <a:solidFill>
                  <a:srgbClr val="1C1C1C"/>
                </a:solidFill>
              </a:rPr>
              <a:t>.</a:t>
            </a:r>
            <a:endParaRPr lang="en-US" sz="980" dirty="0"/>
          </a:p>
        </p:txBody>
      </p:sp>
      <p:sp>
        <p:nvSpPr>
          <p:cNvPr id="54" name="Shape 52"/>
          <p:cNvSpPr/>
          <p:nvPr/>
        </p:nvSpPr>
        <p:spPr>
          <a:xfrm>
            <a:off x="8851392" y="4974336"/>
            <a:ext cx="2980944" cy="694944"/>
          </a:xfrm>
          <a:prstGeom prst="rect">
            <a:avLst/>
          </a:prstGeom>
          <a:solidFill>
            <a:srgbClr val="F5F6F8"/>
          </a:solidFill>
          <a:ln w="6985">
            <a:solidFill>
              <a:srgbClr val="D6DAE0"/>
            </a:solidFill>
            <a:prstDash val="solid"/>
          </a:ln>
        </p:spPr>
        <p:txBody>
          <a:bodyPr/>
          <a:p/>
        </p:txBody>
      </p:sp>
      <p:sp>
        <p:nvSpPr>
          <p:cNvPr id="55" name="Text 53"/>
          <p:cNvSpPr/>
          <p:nvPr/>
        </p:nvSpPr>
        <p:spPr>
          <a:xfrm>
            <a:off x="8906256" y="5024628"/>
            <a:ext cx="2871216" cy="621792"/>
          </a:xfrm>
          <a:prstGeom prst="rect">
            <a:avLst/>
          </a:prstGeom>
          <a:noFill/>
        </p:spPr>
        <p:txBody>
          <a:bodyPr wrap="square" lIns="0" tIns="0" rIns="0" bIns="0" rtlCol="0" anchor="ctr">
            <a:normAutofit/>
          </a:bodyPr>
          <a:lstStyle/>
          <a:p>
            <a:pPr marL="0" indent="0">
              <a:buNone/>
            </a:pPr>
            <a:r>
              <a:rPr lang="en-US" sz="980" dirty="0">
                <a:solidFill>
                  <a:srgbClr val="1C1C1C"/>
                </a:solidFill>
              </a:rPr>
              <a:t>Quran NLP resource.</a:t>
            </a:r>
            <a:endParaRPr lang="en-US" sz="980" dirty="0"/>
          </a:p>
        </p:txBody>
      </p:sp>
      <p:sp>
        <p:nvSpPr>
          <p:cNvPr id="56" name="Shape 54"/>
          <p:cNvSpPr/>
          <p:nvPr/>
        </p:nvSpPr>
        <p:spPr>
          <a:xfrm>
            <a:off x="420624" y="5669280"/>
            <a:ext cx="1938528" cy="694944"/>
          </a:xfrm>
          <a:prstGeom prst="rect">
            <a:avLst/>
          </a:prstGeom>
          <a:solidFill>
            <a:srgbClr val="FFFFFF"/>
          </a:solidFill>
          <a:ln w="6985">
            <a:solidFill>
              <a:srgbClr val="D6DAE0"/>
            </a:solidFill>
            <a:prstDash val="solid"/>
          </a:ln>
        </p:spPr>
        <p:txBody>
          <a:bodyPr/>
          <a:p/>
        </p:txBody>
      </p:sp>
      <p:sp>
        <p:nvSpPr>
          <p:cNvPr id="57" name="Text 55"/>
          <p:cNvSpPr/>
          <p:nvPr/>
        </p:nvSpPr>
        <p:spPr>
          <a:xfrm>
            <a:off x="475488" y="5719572"/>
            <a:ext cx="1828800" cy="621792"/>
          </a:xfrm>
          <a:prstGeom prst="rect">
            <a:avLst/>
          </a:prstGeom>
          <a:noFill/>
        </p:spPr>
        <p:txBody>
          <a:bodyPr wrap="square" lIns="0" tIns="0" rIns="0" bIns="0" rtlCol="0" anchor="ctr">
            <a:normAutofit/>
          </a:bodyPr>
          <a:lstStyle/>
          <a:p>
            <a:pPr marL="0" indent="0">
              <a:buNone/>
            </a:pPr>
            <a:r>
              <a:rPr lang="en-US" sz="980" b="1" dirty="0">
                <a:solidFill>
                  <a:srgbClr val="1C1C1C"/>
                </a:solidFill>
              </a:rPr>
              <a:t>#41 CulturalVQA</a:t>
            </a:r>
            <a:endParaRPr lang="en-US" sz="980" dirty="0"/>
          </a:p>
        </p:txBody>
      </p:sp>
      <p:sp>
        <p:nvSpPr>
          <p:cNvPr id="58" name="Shape 56"/>
          <p:cNvSpPr/>
          <p:nvPr/>
        </p:nvSpPr>
        <p:spPr>
          <a:xfrm>
            <a:off x="2359152" y="5669280"/>
            <a:ext cx="3154680" cy="694944"/>
          </a:xfrm>
          <a:prstGeom prst="rect">
            <a:avLst/>
          </a:prstGeom>
          <a:solidFill>
            <a:srgbClr val="FFFFFF"/>
          </a:solidFill>
          <a:ln w="6985">
            <a:solidFill>
              <a:srgbClr val="D6DAE0"/>
            </a:solidFill>
            <a:prstDash val="solid"/>
          </a:ln>
        </p:spPr>
        <p:txBody>
          <a:bodyPr/>
          <a:p/>
        </p:txBody>
      </p:sp>
      <p:sp>
        <p:nvSpPr>
          <p:cNvPr id="59" name="Text 57"/>
          <p:cNvSpPr/>
          <p:nvPr/>
        </p:nvSpPr>
        <p:spPr>
          <a:xfrm>
            <a:off x="2414016" y="5719572"/>
            <a:ext cx="3044952" cy="621792"/>
          </a:xfrm>
          <a:prstGeom prst="rect">
            <a:avLst/>
          </a:prstGeom>
          <a:noFill/>
        </p:spPr>
        <p:txBody>
          <a:bodyPr wrap="square" lIns="0" tIns="0" rIns="0" bIns="0" rtlCol="0" anchor="ctr">
            <a:normAutofit/>
          </a:bodyPr>
          <a:lstStyle/>
          <a:p>
            <a:pPr marL="0" indent="0">
              <a:buNone/>
            </a:pPr>
            <a:r>
              <a:rPr lang="en-US" sz="980" dirty="0">
                <a:solidFill>
                  <a:srgbClr val="1C1C1C"/>
                </a:solidFill>
              </a:rPr>
              <a:t>Cultural recognition, not values reasoning.</a:t>
            </a:r>
            <a:endParaRPr lang="en-US" sz="980" dirty="0"/>
          </a:p>
        </p:txBody>
      </p:sp>
      <p:sp>
        <p:nvSpPr>
          <p:cNvPr id="60" name="Shape 58"/>
          <p:cNvSpPr/>
          <p:nvPr/>
        </p:nvSpPr>
        <p:spPr>
          <a:xfrm>
            <a:off x="5513832" y="5669280"/>
            <a:ext cx="3337560" cy="694944"/>
          </a:xfrm>
          <a:prstGeom prst="rect">
            <a:avLst/>
          </a:prstGeom>
          <a:solidFill>
            <a:srgbClr val="FFFFFF"/>
          </a:solidFill>
          <a:ln w="6985">
            <a:solidFill>
              <a:srgbClr val="D6DAE0"/>
            </a:solidFill>
            <a:prstDash val="solid"/>
          </a:ln>
        </p:spPr>
        <p:txBody>
          <a:bodyPr/>
          <a:p/>
        </p:txBody>
      </p:sp>
      <p:sp>
        <p:nvSpPr>
          <p:cNvPr id="61" name="Text 59"/>
          <p:cNvSpPr/>
          <p:nvPr/>
        </p:nvSpPr>
        <p:spPr>
          <a:xfrm>
            <a:off x="5568696" y="5719572"/>
            <a:ext cx="3227832" cy="621792"/>
          </a:xfrm>
          <a:prstGeom prst="rect">
            <a:avLst/>
          </a:prstGeom>
          <a:noFill/>
        </p:spPr>
        <p:txBody>
          <a:bodyPr wrap="square" lIns="0" tIns="0" rIns="0" bIns="0" rtlCol="0" anchor="ctr">
            <a:normAutofit/>
          </a:bodyPr>
          <a:lstStyle/>
          <a:p>
            <a:pPr marL="0" indent="0">
              <a:buNone/>
            </a:pPr>
            <a:r>
              <a:rPr lang="en-US" sz="980" b="1" dirty="0">
                <a:solidFill>
                  <a:srgbClr val="1C1C1C"/>
                </a:solidFill>
              </a:rPr>
              <a:t>No</a:t>
            </a:r>
            <a:r>
              <a:rPr lang="en-US" sz="980" dirty="0">
                <a:solidFill>
                  <a:srgbClr val="1C1C1C"/>
                </a:solidFill>
              </a:rPr>
              <a:t> direct theology/</a:t>
            </a:r>
            <a:r>
              <a:rPr lang="en-US" sz="980" b="1" dirty="0">
                <a:solidFill>
                  <a:srgbClr val="1C1C1C"/>
                </a:solidFill>
              </a:rPr>
              <a:t>doctrine</a:t>
            </a:r>
            <a:r>
              <a:rPr lang="en-US" sz="980" dirty="0">
                <a:solidFill>
                  <a:srgbClr val="1C1C1C"/>
                </a:solidFill>
              </a:rPr>
              <a:t> </a:t>
            </a:r>
            <a:r>
              <a:rPr lang="en-US" sz="980" b="1" dirty="0">
                <a:solidFill>
                  <a:srgbClr val="1C1C1C"/>
                </a:solidFill>
              </a:rPr>
              <a:t>QA</a:t>
            </a:r>
            <a:r>
              <a:rPr lang="en-US" sz="980" dirty="0">
                <a:solidFill>
                  <a:srgbClr val="1C1C1C"/>
                </a:solidFill>
              </a:rPr>
              <a:t>.</a:t>
            </a:r>
            <a:endParaRPr lang="en-US" sz="980" dirty="0"/>
          </a:p>
        </p:txBody>
      </p:sp>
      <p:sp>
        <p:nvSpPr>
          <p:cNvPr id="62" name="Shape 60"/>
          <p:cNvSpPr/>
          <p:nvPr/>
        </p:nvSpPr>
        <p:spPr>
          <a:xfrm>
            <a:off x="8851392" y="5669280"/>
            <a:ext cx="2980944" cy="694944"/>
          </a:xfrm>
          <a:prstGeom prst="rect">
            <a:avLst/>
          </a:prstGeom>
          <a:solidFill>
            <a:srgbClr val="FFFFFF"/>
          </a:solidFill>
          <a:ln w="6985">
            <a:solidFill>
              <a:srgbClr val="D6DAE0"/>
            </a:solidFill>
            <a:prstDash val="solid"/>
          </a:ln>
        </p:spPr>
        <p:txBody>
          <a:bodyPr/>
          <a:p/>
        </p:txBody>
      </p:sp>
      <p:sp>
        <p:nvSpPr>
          <p:cNvPr id="63" name="Text 61"/>
          <p:cNvSpPr/>
          <p:nvPr/>
        </p:nvSpPr>
        <p:spPr>
          <a:xfrm>
            <a:off x="8906256" y="5719572"/>
            <a:ext cx="2871216" cy="621792"/>
          </a:xfrm>
          <a:prstGeom prst="rect">
            <a:avLst/>
          </a:prstGeom>
          <a:noFill/>
        </p:spPr>
        <p:txBody>
          <a:bodyPr wrap="square" lIns="0" tIns="0" rIns="0" bIns="0" rtlCol="0" anchor="ctr">
            <a:normAutofit/>
          </a:bodyPr>
          <a:lstStyle/>
          <a:p>
            <a:pPr marL="0" indent="0">
              <a:buNone/>
            </a:pPr>
            <a:r>
              <a:rPr lang="en-US" sz="980" dirty="0">
                <a:solidFill>
                  <a:srgbClr val="1C1C1C"/>
                </a:solidFill>
              </a:rPr>
              <a:t>Cultural V</a:t>
            </a:r>
            <a:r>
              <a:rPr lang="en-US" sz="980" b="1" dirty="0">
                <a:solidFill>
                  <a:srgbClr val="1C1C1C"/>
                </a:solidFill>
              </a:rPr>
              <a:t>QA</a:t>
            </a:r>
            <a:r>
              <a:rPr lang="en-US" sz="980" dirty="0">
                <a:solidFill>
                  <a:srgbClr val="1C1C1C"/>
                </a:solidFill>
              </a:rPr>
              <a:t> only.</a:t>
            </a:r>
            <a:endParaRPr lang="en-US" sz="9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192"/>
            <a:ext cx="2057400" cy="109728"/>
          </a:xfrm>
          <a:prstGeom prst="rect">
            <a:avLst/>
          </a:prstGeom>
          <a:noFill/>
        </p:spPr>
        <p:txBody>
          <a:bodyPr wrap="square" lIns="0" tIns="0" rIns="0" bIns="0" rtlCol="0" anchor="ctr">
            <a:normAutofit/>
          </a:bodyPr>
          <a:lstStyle/>
          <a:p>
            <a:pPr marL="0" indent="0">
              <a:buNone/>
            </a:pPr>
            <a:r>
              <a:rPr lang="en-US" sz="1050" b="1" dirty="0">
                <a:solidFill>
                  <a:srgbClr val="FFFFFF"/>
                </a:solidFill>
              </a:rPr>
              <a:t>NEGATIVE FINDING</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lang="en-US" sz="2800" b="1" dirty="0">
                <a:solidFill>
                  <a:srgbClr val="1C1C1C"/>
                </a:solidFill>
                <a:latin typeface="Aptos Display" pitchFamily="34" charset="0"/>
                <a:ea typeface="Aptos Display" pitchFamily="34" charset="-122"/>
                <a:cs typeface="Aptos Display" pitchFamily="34" charset="-120"/>
              </a:rPr>
              <a:t>General failure modes in the landscape</a:t>
            </a:r>
            <a:endParaRPr lang="en-US" sz="2800" dirty="0"/>
          </a:p>
        </p:txBody>
      </p:sp>
      <p:sp>
        <p:nvSpPr>
          <p:cNvPr id="5" name="Text 3"/>
          <p:cNvSpPr/>
          <p:nvPr/>
        </p:nvSpPr>
        <p:spPr>
          <a:xfrm>
            <a:off x="530352" y="1298448"/>
            <a:ext cx="10789920" cy="256032"/>
          </a:xfrm>
          <a:prstGeom prst="rect">
            <a:avLst/>
          </a:prstGeom>
          <a:noFill/>
        </p:spPr>
        <p:txBody>
          <a:bodyPr wrap="square" lIns="0" tIns="0" rIns="0" bIns="0" rtlCol="0" anchor="ctr">
            <a:normAutofit/>
          </a:bodyPr>
          <a:lstStyle/>
          <a:p>
            <a:pPr marL="0" indent="0">
              <a:buNone/>
            </a:pPr>
            <a:r>
              <a:rPr lang="en-US" sz="1220" i="1" dirty="0">
                <a:solidFill>
                  <a:srgbClr val="6C737F"/>
                </a:solidFill>
              </a:rPr>
              <a:t>The larger corpus shows the same pattern: religious surface content is often mistaken for </a:t>
            </a:r>
            <a:r>
              <a:rPr lang="en-US" sz="1220" b="1" i="1" dirty="0">
                <a:solidFill>
                  <a:srgbClr val="6C737F"/>
                </a:solidFill>
              </a:rPr>
              <a:t>religious benchmark</a:t>
            </a:r>
            <a:r>
              <a:rPr lang="en-US" sz="1220" i="1" dirty="0">
                <a:solidFill>
                  <a:srgbClr val="6C737F"/>
                </a:solidFill>
              </a:rPr>
              <a:t>ing.</a:t>
            </a:r>
            <a:endParaRPr lang="en-US" sz="1220"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20</a:t>
            </a:r>
            <a:endParaRPr lang="en-US" sz="1050" dirty="0"/>
          </a:p>
        </p:txBody>
      </p:sp>
      <p:sp>
        <p:nvSpPr>
          <p:cNvPr id="8" name="Shape 6"/>
          <p:cNvSpPr/>
          <p:nvPr/>
        </p:nvSpPr>
        <p:spPr>
          <a:xfrm>
            <a:off x="658368" y="1828800"/>
            <a:ext cx="2057400" cy="384048"/>
          </a:xfrm>
          <a:prstGeom prst="rect">
            <a:avLst/>
          </a:prstGeom>
          <a:solidFill>
            <a:srgbClr val="B42318"/>
          </a:solidFill>
          <a:ln w="6985">
            <a:solidFill>
              <a:srgbClr val="D6DAE0"/>
            </a:solidFill>
            <a:prstDash val="solid"/>
          </a:ln>
        </p:spPr>
        <p:txBody>
          <a:bodyPr/>
          <a:p/>
        </p:txBody>
      </p:sp>
      <p:sp>
        <p:nvSpPr>
          <p:cNvPr id="9" name="Text 7"/>
          <p:cNvSpPr/>
          <p:nvPr/>
        </p:nvSpPr>
        <p:spPr>
          <a:xfrm>
            <a:off x="713232" y="1879092"/>
            <a:ext cx="1947672" cy="310896"/>
          </a:xfrm>
          <a:prstGeom prst="rect">
            <a:avLst/>
          </a:prstGeom>
          <a:noFill/>
        </p:spPr>
        <p:txBody>
          <a:bodyPr wrap="square" lIns="0" tIns="0" rIns="0" bIns="0" rtlCol="0" anchor="ctr">
            <a:normAutofit/>
          </a:bodyPr>
          <a:lstStyle/>
          <a:p>
            <a:pPr marL="0" indent="0">
              <a:buNone/>
            </a:pPr>
            <a:r>
              <a:rPr lang="en-US" sz="1050" b="1" dirty="0">
                <a:solidFill>
                  <a:srgbClr val="FFFFFF"/>
                </a:solidFill>
              </a:rPr>
              <a:t>Failure mode</a:t>
            </a:r>
            <a:endParaRPr lang="en-US" sz="1050" dirty="0"/>
          </a:p>
        </p:txBody>
      </p:sp>
      <p:sp>
        <p:nvSpPr>
          <p:cNvPr id="10" name="Shape 8"/>
          <p:cNvSpPr/>
          <p:nvPr/>
        </p:nvSpPr>
        <p:spPr>
          <a:xfrm>
            <a:off x="2715768" y="1828800"/>
            <a:ext cx="4709160" cy="384048"/>
          </a:xfrm>
          <a:prstGeom prst="rect">
            <a:avLst/>
          </a:prstGeom>
          <a:solidFill>
            <a:srgbClr val="B42318"/>
          </a:solidFill>
          <a:ln w="6985">
            <a:solidFill>
              <a:srgbClr val="D6DAE0"/>
            </a:solidFill>
            <a:prstDash val="solid"/>
          </a:ln>
        </p:spPr>
        <p:txBody>
          <a:bodyPr/>
          <a:p/>
        </p:txBody>
      </p:sp>
      <p:sp>
        <p:nvSpPr>
          <p:cNvPr id="11" name="Text 9"/>
          <p:cNvSpPr/>
          <p:nvPr/>
        </p:nvSpPr>
        <p:spPr>
          <a:xfrm>
            <a:off x="2770632" y="1879092"/>
            <a:ext cx="4599432" cy="310896"/>
          </a:xfrm>
          <a:prstGeom prst="rect">
            <a:avLst/>
          </a:prstGeom>
          <a:noFill/>
        </p:spPr>
        <p:txBody>
          <a:bodyPr wrap="square" lIns="0" tIns="0" rIns="0" bIns="0" rtlCol="0" anchor="ctr">
            <a:normAutofit/>
          </a:bodyPr>
          <a:lstStyle/>
          <a:p>
            <a:pPr marL="0" indent="0">
              <a:buNone/>
            </a:pPr>
            <a:r>
              <a:rPr lang="en-US" sz="1050" b="1" dirty="0">
                <a:solidFill>
                  <a:srgbClr val="FFFFFF"/>
                </a:solidFill>
              </a:rPr>
              <a:t>What goes wrong</a:t>
            </a:r>
            <a:endParaRPr lang="en-US" sz="1050" dirty="0"/>
          </a:p>
        </p:txBody>
      </p:sp>
      <p:sp>
        <p:nvSpPr>
          <p:cNvPr id="12" name="Shape 10"/>
          <p:cNvSpPr/>
          <p:nvPr/>
        </p:nvSpPr>
        <p:spPr>
          <a:xfrm>
            <a:off x="7424928" y="1828800"/>
            <a:ext cx="4069080" cy="384048"/>
          </a:xfrm>
          <a:prstGeom prst="rect">
            <a:avLst/>
          </a:prstGeom>
          <a:solidFill>
            <a:srgbClr val="B42318"/>
          </a:solidFill>
          <a:ln w="6985">
            <a:solidFill>
              <a:srgbClr val="D6DAE0"/>
            </a:solidFill>
            <a:prstDash val="solid"/>
          </a:ln>
        </p:spPr>
        <p:txBody>
          <a:bodyPr/>
          <a:p/>
        </p:txBody>
      </p:sp>
      <p:sp>
        <p:nvSpPr>
          <p:cNvPr id="13" name="Text 11"/>
          <p:cNvSpPr/>
          <p:nvPr/>
        </p:nvSpPr>
        <p:spPr>
          <a:xfrm>
            <a:off x="7479792" y="1879092"/>
            <a:ext cx="3959352" cy="310896"/>
          </a:xfrm>
          <a:prstGeom prst="rect">
            <a:avLst/>
          </a:prstGeom>
          <a:noFill/>
        </p:spPr>
        <p:txBody>
          <a:bodyPr wrap="square" lIns="0" tIns="0" rIns="0" bIns="0" rtlCol="0" anchor="ctr">
            <a:normAutofit/>
          </a:bodyPr>
          <a:lstStyle/>
          <a:p>
            <a:pPr marL="0" indent="0">
              <a:buNone/>
            </a:pPr>
            <a:r>
              <a:rPr lang="en-US" sz="1050" b="1" dirty="0">
                <a:solidFill>
                  <a:srgbClr val="FFFFFF"/>
                </a:solidFill>
              </a:rPr>
              <a:t>Why it matters</a:t>
            </a:r>
            <a:endParaRPr lang="en-US" sz="1050" dirty="0"/>
          </a:p>
        </p:txBody>
      </p:sp>
      <p:sp>
        <p:nvSpPr>
          <p:cNvPr id="14" name="Shape 12"/>
          <p:cNvSpPr/>
          <p:nvPr/>
        </p:nvSpPr>
        <p:spPr>
          <a:xfrm>
            <a:off x="658368" y="2212848"/>
            <a:ext cx="2057400" cy="746150"/>
          </a:xfrm>
          <a:prstGeom prst="rect">
            <a:avLst/>
          </a:prstGeom>
          <a:solidFill>
            <a:srgbClr val="F5F6F8"/>
          </a:solidFill>
          <a:ln w="6985">
            <a:solidFill>
              <a:srgbClr val="D6DAE0"/>
            </a:solidFill>
            <a:prstDash val="solid"/>
          </a:ln>
        </p:spPr>
        <p:txBody>
          <a:bodyPr/>
          <a:p/>
        </p:txBody>
      </p:sp>
      <p:sp>
        <p:nvSpPr>
          <p:cNvPr id="15" name="Text 13"/>
          <p:cNvSpPr/>
          <p:nvPr/>
        </p:nvSpPr>
        <p:spPr>
          <a:xfrm>
            <a:off x="713232" y="2263140"/>
            <a:ext cx="1947672" cy="672998"/>
          </a:xfrm>
          <a:prstGeom prst="rect">
            <a:avLst/>
          </a:prstGeom>
          <a:noFill/>
        </p:spPr>
        <p:txBody>
          <a:bodyPr wrap="square" lIns="0" tIns="0" rIns="0" bIns="0" rtlCol="0" anchor="ctr">
            <a:normAutofit/>
          </a:bodyPr>
          <a:lstStyle/>
          <a:p>
            <a:pPr marL="0" indent="0">
              <a:buNone/>
            </a:pPr>
            <a:r>
              <a:rPr lang="en-US" sz="1050" dirty="0">
                <a:solidFill>
                  <a:srgbClr val="1C1C1C"/>
                </a:solidFill>
              </a:rPr>
              <a:t>Too trivial</a:t>
            </a:r>
            <a:endParaRPr lang="en-US" sz="1050" dirty="0"/>
          </a:p>
        </p:txBody>
      </p:sp>
      <p:sp>
        <p:nvSpPr>
          <p:cNvPr id="16" name="Shape 14"/>
          <p:cNvSpPr/>
          <p:nvPr/>
        </p:nvSpPr>
        <p:spPr>
          <a:xfrm>
            <a:off x="2715768" y="2212848"/>
            <a:ext cx="4709160" cy="746150"/>
          </a:xfrm>
          <a:prstGeom prst="rect">
            <a:avLst/>
          </a:prstGeom>
          <a:solidFill>
            <a:srgbClr val="F5F6F8"/>
          </a:solidFill>
          <a:ln w="6985">
            <a:solidFill>
              <a:srgbClr val="D6DAE0"/>
            </a:solidFill>
            <a:prstDash val="solid"/>
          </a:ln>
        </p:spPr>
        <p:txBody>
          <a:bodyPr/>
          <a:p/>
        </p:txBody>
      </p:sp>
      <p:sp>
        <p:nvSpPr>
          <p:cNvPr id="17" name="Text 15"/>
          <p:cNvSpPr/>
          <p:nvPr/>
        </p:nvSpPr>
        <p:spPr>
          <a:xfrm>
            <a:off x="2770632" y="2263140"/>
            <a:ext cx="4599432" cy="672998"/>
          </a:xfrm>
          <a:prstGeom prst="rect">
            <a:avLst/>
          </a:prstGeom>
          <a:noFill/>
        </p:spPr>
        <p:txBody>
          <a:bodyPr wrap="square" lIns="0" tIns="0" rIns="0" bIns="0" rtlCol="0" anchor="ctr">
            <a:normAutofit/>
          </a:bodyPr>
          <a:lstStyle/>
          <a:p>
            <a:pPr marL="0" indent="0">
              <a:buNone/>
            </a:pPr>
            <a:r>
              <a:rPr lang="en-US" sz="1050" dirty="0">
                <a:solidFill>
                  <a:srgbClr val="1C1C1C"/>
                </a:solidFill>
              </a:rPr>
              <a:t>Simple factual or yes/no questions may be saturated by frontier models.</a:t>
            </a:r>
            <a:endParaRPr lang="en-US" sz="1050" dirty="0"/>
          </a:p>
        </p:txBody>
      </p:sp>
      <p:sp>
        <p:nvSpPr>
          <p:cNvPr id="18" name="Shape 16"/>
          <p:cNvSpPr/>
          <p:nvPr/>
        </p:nvSpPr>
        <p:spPr>
          <a:xfrm>
            <a:off x="7424928" y="2212848"/>
            <a:ext cx="4069080" cy="746150"/>
          </a:xfrm>
          <a:prstGeom prst="rect">
            <a:avLst/>
          </a:prstGeom>
          <a:solidFill>
            <a:srgbClr val="F5F6F8"/>
          </a:solidFill>
          <a:ln w="6985">
            <a:solidFill>
              <a:srgbClr val="D6DAE0"/>
            </a:solidFill>
            <a:prstDash val="solid"/>
          </a:ln>
        </p:spPr>
        <p:txBody>
          <a:bodyPr/>
          <a:p/>
        </p:txBody>
      </p:sp>
      <p:sp>
        <p:nvSpPr>
          <p:cNvPr id="19" name="Text 17"/>
          <p:cNvSpPr/>
          <p:nvPr/>
        </p:nvSpPr>
        <p:spPr>
          <a:xfrm>
            <a:off x="7479792" y="2263140"/>
            <a:ext cx="3959352" cy="672998"/>
          </a:xfrm>
          <a:prstGeom prst="rect">
            <a:avLst/>
          </a:prstGeom>
          <a:noFill/>
        </p:spPr>
        <p:txBody>
          <a:bodyPr wrap="square" lIns="0" tIns="0" rIns="0" bIns="0" rtlCol="0" anchor="ctr">
            <a:normAutofit/>
          </a:bodyPr>
          <a:lstStyle/>
          <a:p>
            <a:pPr marL="0" indent="0">
              <a:buNone/>
            </a:pPr>
            <a:r>
              <a:rPr lang="en-US" sz="1050" dirty="0">
                <a:solidFill>
                  <a:srgbClr val="1C1C1C"/>
                </a:solidFill>
              </a:rPr>
              <a:t>Low discrimination value.</a:t>
            </a:r>
            <a:endParaRPr lang="en-US" sz="1050" dirty="0"/>
          </a:p>
        </p:txBody>
      </p:sp>
      <p:sp>
        <p:nvSpPr>
          <p:cNvPr id="20" name="Shape 18"/>
          <p:cNvSpPr/>
          <p:nvPr/>
        </p:nvSpPr>
        <p:spPr>
          <a:xfrm>
            <a:off x="658368" y="2958998"/>
            <a:ext cx="2057400" cy="746150"/>
          </a:xfrm>
          <a:prstGeom prst="rect">
            <a:avLst/>
          </a:prstGeom>
          <a:solidFill>
            <a:srgbClr val="FFFFFF"/>
          </a:solidFill>
          <a:ln w="6985">
            <a:solidFill>
              <a:srgbClr val="D6DAE0"/>
            </a:solidFill>
            <a:prstDash val="solid"/>
          </a:ln>
        </p:spPr>
        <p:txBody>
          <a:bodyPr/>
          <a:p/>
        </p:txBody>
      </p:sp>
      <p:sp>
        <p:nvSpPr>
          <p:cNvPr id="21" name="Text 19"/>
          <p:cNvSpPr/>
          <p:nvPr/>
        </p:nvSpPr>
        <p:spPr>
          <a:xfrm>
            <a:off x="713232" y="3009290"/>
            <a:ext cx="1947672" cy="672998"/>
          </a:xfrm>
          <a:prstGeom prst="rect">
            <a:avLst/>
          </a:prstGeom>
          <a:noFill/>
        </p:spPr>
        <p:txBody>
          <a:bodyPr wrap="square" lIns="0" tIns="0" rIns="0" bIns="0" rtlCol="0" anchor="ctr">
            <a:normAutofit/>
          </a:bodyPr>
          <a:lstStyle/>
          <a:p>
            <a:pPr marL="0" indent="0">
              <a:buNone/>
            </a:pPr>
            <a:r>
              <a:rPr lang="en-US" sz="1050" dirty="0">
                <a:solidFill>
                  <a:srgbClr val="1C1C1C"/>
                </a:solidFill>
              </a:rPr>
              <a:t>Wrong construct</a:t>
            </a:r>
            <a:endParaRPr lang="en-US" sz="1050" dirty="0"/>
          </a:p>
        </p:txBody>
      </p:sp>
      <p:sp>
        <p:nvSpPr>
          <p:cNvPr id="22" name="Shape 20"/>
          <p:cNvSpPr/>
          <p:nvPr/>
        </p:nvSpPr>
        <p:spPr>
          <a:xfrm>
            <a:off x="2715768" y="2958998"/>
            <a:ext cx="4709160" cy="746150"/>
          </a:xfrm>
          <a:prstGeom prst="rect">
            <a:avLst/>
          </a:prstGeom>
          <a:solidFill>
            <a:srgbClr val="FFFFFF"/>
          </a:solidFill>
          <a:ln w="6985">
            <a:solidFill>
              <a:srgbClr val="D6DAE0"/>
            </a:solidFill>
            <a:prstDash val="solid"/>
          </a:ln>
        </p:spPr>
        <p:txBody>
          <a:bodyPr/>
          <a:p/>
        </p:txBody>
      </p:sp>
      <p:sp>
        <p:nvSpPr>
          <p:cNvPr id="23" name="Text 21"/>
          <p:cNvSpPr/>
          <p:nvPr/>
        </p:nvSpPr>
        <p:spPr>
          <a:xfrm>
            <a:off x="2770632" y="3009290"/>
            <a:ext cx="4599432" cy="672998"/>
          </a:xfrm>
          <a:prstGeom prst="rect">
            <a:avLst/>
          </a:prstGeom>
          <a:noFill/>
        </p:spPr>
        <p:txBody>
          <a:bodyPr wrap="square" lIns="0" tIns="0" rIns="0" bIns="0" rtlCol="0" anchor="ctr">
            <a:normAutofit/>
          </a:bodyPr>
          <a:lstStyle/>
          <a:p>
            <a:pPr marL="0" indent="0">
              <a:buNone/>
            </a:pPr>
            <a:r>
              <a:rPr lang="en-US" sz="1050" dirty="0">
                <a:solidFill>
                  <a:srgbClr val="1C1C1C"/>
                </a:solidFill>
              </a:rPr>
              <a:t>Task is translation, parsing, syntax, morphology, or retrieval engineering.</a:t>
            </a:r>
            <a:endParaRPr lang="en-US" sz="1050" dirty="0"/>
          </a:p>
        </p:txBody>
      </p:sp>
      <p:sp>
        <p:nvSpPr>
          <p:cNvPr id="24" name="Shape 22"/>
          <p:cNvSpPr/>
          <p:nvPr/>
        </p:nvSpPr>
        <p:spPr>
          <a:xfrm>
            <a:off x="7424928" y="2958998"/>
            <a:ext cx="4069080" cy="746150"/>
          </a:xfrm>
          <a:prstGeom prst="rect">
            <a:avLst/>
          </a:prstGeom>
          <a:solidFill>
            <a:srgbClr val="FFFFFF"/>
          </a:solidFill>
          <a:ln w="6985">
            <a:solidFill>
              <a:srgbClr val="D6DAE0"/>
            </a:solidFill>
            <a:prstDash val="solid"/>
          </a:ln>
        </p:spPr>
        <p:txBody>
          <a:bodyPr/>
          <a:p/>
        </p:txBody>
      </p:sp>
      <p:sp>
        <p:nvSpPr>
          <p:cNvPr id="25" name="Text 23"/>
          <p:cNvSpPr/>
          <p:nvPr/>
        </p:nvSpPr>
        <p:spPr>
          <a:xfrm>
            <a:off x="7479792" y="3009290"/>
            <a:ext cx="3959352" cy="672998"/>
          </a:xfrm>
          <a:prstGeom prst="rect">
            <a:avLst/>
          </a:prstGeom>
          <a:noFill/>
        </p:spPr>
        <p:txBody>
          <a:bodyPr wrap="square" lIns="0" tIns="0" rIns="0" bIns="0" rtlCol="0" anchor="ctr">
            <a:normAutofit/>
          </a:bodyPr>
          <a:lstStyle/>
          <a:p>
            <a:pPr marL="0" indent="0">
              <a:buNone/>
            </a:pPr>
            <a:r>
              <a:rPr lang="en-US" sz="1050" dirty="0">
                <a:solidFill>
                  <a:srgbClr val="1C1C1C"/>
                </a:solidFill>
              </a:rPr>
              <a:t>Religion is present, but not being evaluated as religion.</a:t>
            </a:r>
            <a:endParaRPr lang="en-US" sz="1050" dirty="0"/>
          </a:p>
        </p:txBody>
      </p:sp>
      <p:sp>
        <p:nvSpPr>
          <p:cNvPr id="26" name="Shape 24"/>
          <p:cNvSpPr/>
          <p:nvPr/>
        </p:nvSpPr>
        <p:spPr>
          <a:xfrm>
            <a:off x="658368" y="3705149"/>
            <a:ext cx="2057400" cy="746150"/>
          </a:xfrm>
          <a:prstGeom prst="rect">
            <a:avLst/>
          </a:prstGeom>
          <a:solidFill>
            <a:srgbClr val="F5F6F8"/>
          </a:solidFill>
          <a:ln w="6985">
            <a:solidFill>
              <a:srgbClr val="D6DAE0"/>
            </a:solidFill>
            <a:prstDash val="solid"/>
          </a:ln>
        </p:spPr>
        <p:txBody>
          <a:bodyPr/>
          <a:p/>
        </p:txBody>
      </p:sp>
      <p:sp>
        <p:nvSpPr>
          <p:cNvPr id="27" name="Text 25"/>
          <p:cNvSpPr/>
          <p:nvPr/>
        </p:nvSpPr>
        <p:spPr>
          <a:xfrm>
            <a:off x="713232" y="3755441"/>
            <a:ext cx="1947672" cy="672998"/>
          </a:xfrm>
          <a:prstGeom prst="rect">
            <a:avLst/>
          </a:prstGeom>
          <a:noFill/>
        </p:spPr>
        <p:txBody>
          <a:bodyPr wrap="square" lIns="0" tIns="0" rIns="0" bIns="0" rtlCol="0" anchor="ctr">
            <a:normAutofit/>
          </a:bodyPr>
          <a:lstStyle/>
          <a:p>
            <a:pPr marL="0" indent="0">
              <a:buNone/>
            </a:pPr>
            <a:r>
              <a:rPr lang="en-US" sz="1050" dirty="0">
                <a:solidFill>
                  <a:srgbClr val="1C1C1C"/>
                </a:solidFill>
              </a:rPr>
              <a:t>Too generic</a:t>
            </a:r>
            <a:endParaRPr lang="en-US" sz="1050" dirty="0"/>
          </a:p>
        </p:txBody>
      </p:sp>
      <p:sp>
        <p:nvSpPr>
          <p:cNvPr id="28" name="Shape 26"/>
          <p:cNvSpPr/>
          <p:nvPr/>
        </p:nvSpPr>
        <p:spPr>
          <a:xfrm>
            <a:off x="2715768" y="3705149"/>
            <a:ext cx="4709160" cy="746150"/>
          </a:xfrm>
          <a:prstGeom prst="rect">
            <a:avLst/>
          </a:prstGeom>
          <a:solidFill>
            <a:srgbClr val="F5F6F8"/>
          </a:solidFill>
          <a:ln w="6985">
            <a:solidFill>
              <a:srgbClr val="D6DAE0"/>
            </a:solidFill>
            <a:prstDash val="solid"/>
          </a:ln>
        </p:spPr>
        <p:txBody>
          <a:bodyPr/>
          <a:p/>
        </p:txBody>
      </p:sp>
      <p:sp>
        <p:nvSpPr>
          <p:cNvPr id="29" name="Text 27"/>
          <p:cNvSpPr/>
          <p:nvPr/>
        </p:nvSpPr>
        <p:spPr>
          <a:xfrm>
            <a:off x="2770632" y="3755441"/>
            <a:ext cx="4599432" cy="672998"/>
          </a:xfrm>
          <a:prstGeom prst="rect">
            <a:avLst/>
          </a:prstGeom>
          <a:noFill/>
        </p:spPr>
        <p:txBody>
          <a:bodyPr wrap="square" lIns="0" tIns="0" rIns="0" bIns="0" rtlCol="0" anchor="ctr">
            <a:normAutofit/>
          </a:bodyPr>
          <a:lstStyle/>
          <a:p>
            <a:pPr marL="0" indent="0">
              <a:buNone/>
            </a:pPr>
            <a:r>
              <a:rPr lang="en-US" sz="1050" dirty="0">
                <a:solidFill>
                  <a:srgbClr val="1C1C1C"/>
                </a:solidFill>
              </a:rPr>
              <a:t>Benchmark tests broad culture, bias, or human values.</a:t>
            </a:r>
            <a:endParaRPr lang="en-US" sz="1050" dirty="0"/>
          </a:p>
        </p:txBody>
      </p:sp>
      <p:sp>
        <p:nvSpPr>
          <p:cNvPr id="30" name="Shape 28"/>
          <p:cNvSpPr/>
          <p:nvPr/>
        </p:nvSpPr>
        <p:spPr>
          <a:xfrm>
            <a:off x="7424928" y="3705149"/>
            <a:ext cx="4069080" cy="746150"/>
          </a:xfrm>
          <a:prstGeom prst="rect">
            <a:avLst/>
          </a:prstGeom>
          <a:solidFill>
            <a:srgbClr val="F5F6F8"/>
          </a:solidFill>
          <a:ln w="6985">
            <a:solidFill>
              <a:srgbClr val="D6DAE0"/>
            </a:solidFill>
            <a:prstDash val="solid"/>
          </a:ln>
        </p:spPr>
        <p:txBody>
          <a:bodyPr/>
          <a:p/>
        </p:txBody>
      </p:sp>
      <p:sp>
        <p:nvSpPr>
          <p:cNvPr id="31" name="Text 29"/>
          <p:cNvSpPr/>
          <p:nvPr/>
        </p:nvSpPr>
        <p:spPr>
          <a:xfrm>
            <a:off x="7479792" y="3755441"/>
            <a:ext cx="3959352" cy="672998"/>
          </a:xfrm>
          <a:prstGeom prst="rect">
            <a:avLst/>
          </a:prstGeom>
          <a:noFill/>
        </p:spPr>
        <p:txBody>
          <a:bodyPr wrap="square" lIns="0" tIns="0" rIns="0" bIns="0" rtlCol="0" anchor="ctr">
            <a:normAutofit/>
          </a:bodyPr>
          <a:lstStyle/>
          <a:p>
            <a:pPr marL="0" indent="0">
              <a:buNone/>
            </a:pPr>
            <a:r>
              <a:rPr lang="en-US" sz="1050" b="1" dirty="0">
                <a:solidFill>
                  <a:srgbClr val="1C1C1C"/>
                </a:solidFill>
              </a:rPr>
              <a:t>No</a:t>
            </a:r>
            <a:r>
              <a:rPr lang="en-US" sz="1050" dirty="0">
                <a:solidFill>
                  <a:srgbClr val="1C1C1C"/>
                </a:solidFill>
              </a:rPr>
              <a:t>t grounded in any religious tradition.</a:t>
            </a:r>
            <a:endParaRPr lang="en-US" sz="1050" dirty="0"/>
          </a:p>
        </p:txBody>
      </p:sp>
      <p:sp>
        <p:nvSpPr>
          <p:cNvPr id="32" name="Shape 30"/>
          <p:cNvSpPr/>
          <p:nvPr/>
        </p:nvSpPr>
        <p:spPr>
          <a:xfrm>
            <a:off x="658368" y="4451299"/>
            <a:ext cx="2057400" cy="746150"/>
          </a:xfrm>
          <a:prstGeom prst="rect">
            <a:avLst/>
          </a:prstGeom>
          <a:solidFill>
            <a:srgbClr val="FFFFFF"/>
          </a:solidFill>
          <a:ln w="6985">
            <a:solidFill>
              <a:srgbClr val="D6DAE0"/>
            </a:solidFill>
            <a:prstDash val="solid"/>
          </a:ln>
        </p:spPr>
        <p:txBody>
          <a:bodyPr/>
          <a:p/>
        </p:txBody>
      </p:sp>
      <p:sp>
        <p:nvSpPr>
          <p:cNvPr id="33" name="Text 31"/>
          <p:cNvSpPr/>
          <p:nvPr/>
        </p:nvSpPr>
        <p:spPr>
          <a:xfrm>
            <a:off x="713232" y="4501591"/>
            <a:ext cx="1947672" cy="672998"/>
          </a:xfrm>
          <a:prstGeom prst="rect">
            <a:avLst/>
          </a:prstGeom>
          <a:noFill/>
        </p:spPr>
        <p:txBody>
          <a:bodyPr wrap="square" lIns="0" tIns="0" rIns="0" bIns="0" rtlCol="0" anchor="ctr">
            <a:normAutofit/>
          </a:bodyPr>
          <a:lstStyle/>
          <a:p>
            <a:pPr marL="0" indent="0">
              <a:buNone/>
            </a:pPr>
            <a:r>
              <a:rPr lang="en-US" sz="1050" b="1" dirty="0">
                <a:solidFill>
                  <a:srgbClr val="1C1C1C"/>
                </a:solidFill>
              </a:rPr>
              <a:t>No</a:t>
            </a:r>
            <a:r>
              <a:rPr lang="en-US" sz="1050" dirty="0">
                <a:solidFill>
                  <a:srgbClr val="1C1C1C"/>
                </a:solidFill>
              </a:rPr>
              <a:t> evaluable judgment</a:t>
            </a:r>
            <a:endParaRPr lang="en-US" sz="1050" dirty="0"/>
          </a:p>
        </p:txBody>
      </p:sp>
      <p:sp>
        <p:nvSpPr>
          <p:cNvPr id="34" name="Shape 32"/>
          <p:cNvSpPr/>
          <p:nvPr/>
        </p:nvSpPr>
        <p:spPr>
          <a:xfrm>
            <a:off x="2715768" y="4451299"/>
            <a:ext cx="4709160" cy="746150"/>
          </a:xfrm>
          <a:prstGeom prst="rect">
            <a:avLst/>
          </a:prstGeom>
          <a:solidFill>
            <a:srgbClr val="FFFFFF"/>
          </a:solidFill>
          <a:ln w="6985">
            <a:solidFill>
              <a:srgbClr val="D6DAE0"/>
            </a:solidFill>
            <a:prstDash val="solid"/>
          </a:ln>
        </p:spPr>
        <p:txBody>
          <a:bodyPr/>
          <a:p/>
        </p:txBody>
      </p:sp>
      <p:sp>
        <p:nvSpPr>
          <p:cNvPr id="35" name="Text 33"/>
          <p:cNvSpPr/>
          <p:nvPr/>
        </p:nvSpPr>
        <p:spPr>
          <a:xfrm>
            <a:off x="2770632" y="4501591"/>
            <a:ext cx="4599432" cy="672998"/>
          </a:xfrm>
          <a:prstGeom prst="rect">
            <a:avLst/>
          </a:prstGeom>
          <a:noFill/>
        </p:spPr>
        <p:txBody>
          <a:bodyPr wrap="square" lIns="0" tIns="0" rIns="0" bIns="0" rtlCol="0" anchor="ctr">
            <a:normAutofit/>
          </a:bodyPr>
          <a:lstStyle/>
          <a:p>
            <a:pPr marL="0" indent="0">
              <a:buNone/>
            </a:pPr>
            <a:r>
              <a:rPr lang="en-US" sz="1050" dirty="0">
                <a:solidFill>
                  <a:srgbClr val="1C1C1C"/>
                </a:solidFill>
              </a:rPr>
              <a:t>Raw texts/databases have no questions, labels, </a:t>
            </a:r>
            <a:r>
              <a:rPr lang="en-US" sz="1050" b="1" dirty="0">
                <a:solidFill>
                  <a:srgbClr val="1C1C1C"/>
                </a:solidFill>
              </a:rPr>
              <a:t>rubric</a:t>
            </a:r>
            <a:r>
              <a:rPr lang="en-US" sz="1050" dirty="0">
                <a:solidFill>
                  <a:srgbClr val="1C1C1C"/>
                </a:solidFill>
              </a:rPr>
              <a:t>s, or </a:t>
            </a:r>
            <a:r>
              <a:rPr lang="en-US" sz="1050" b="1" dirty="0">
                <a:solidFill>
                  <a:srgbClr val="1C1C1C"/>
                </a:solidFill>
              </a:rPr>
              <a:t>metrics</a:t>
            </a:r>
            <a:r>
              <a:rPr lang="en-US" sz="1050" dirty="0">
                <a:solidFill>
                  <a:srgbClr val="1C1C1C"/>
                </a:solidFill>
              </a:rPr>
              <a:t>.</a:t>
            </a:r>
            <a:endParaRPr lang="en-US" sz="1050" dirty="0"/>
          </a:p>
        </p:txBody>
      </p:sp>
      <p:sp>
        <p:nvSpPr>
          <p:cNvPr id="36" name="Shape 34"/>
          <p:cNvSpPr/>
          <p:nvPr/>
        </p:nvSpPr>
        <p:spPr>
          <a:xfrm>
            <a:off x="7424928" y="4451299"/>
            <a:ext cx="4069080" cy="746150"/>
          </a:xfrm>
          <a:prstGeom prst="rect">
            <a:avLst/>
          </a:prstGeom>
          <a:solidFill>
            <a:srgbClr val="FFFFFF"/>
          </a:solidFill>
          <a:ln w="6985">
            <a:solidFill>
              <a:srgbClr val="D6DAE0"/>
            </a:solidFill>
            <a:prstDash val="solid"/>
          </a:ln>
        </p:spPr>
        <p:txBody>
          <a:bodyPr/>
          <a:p/>
        </p:txBody>
      </p:sp>
      <p:sp>
        <p:nvSpPr>
          <p:cNvPr id="37" name="Text 35"/>
          <p:cNvSpPr/>
          <p:nvPr/>
        </p:nvSpPr>
        <p:spPr>
          <a:xfrm>
            <a:off x="7479792" y="4501591"/>
            <a:ext cx="3959352" cy="672998"/>
          </a:xfrm>
          <a:prstGeom prst="rect">
            <a:avLst/>
          </a:prstGeom>
          <a:noFill/>
        </p:spPr>
        <p:txBody>
          <a:bodyPr wrap="square" lIns="0" tIns="0" rIns="0" bIns="0" rtlCol="0" anchor="ctr">
            <a:normAutofit/>
          </a:bodyPr>
          <a:lstStyle/>
          <a:p>
            <a:pPr marL="0" indent="0">
              <a:buNone/>
            </a:pPr>
            <a:r>
              <a:rPr lang="en-US" sz="1050" dirty="0">
                <a:solidFill>
                  <a:srgbClr val="1C1C1C"/>
                </a:solidFill>
              </a:rPr>
              <a:t>Useful resources, not benchmarks yet.</a:t>
            </a:r>
            <a:endParaRPr lang="en-US" sz="1050" dirty="0"/>
          </a:p>
        </p:txBody>
      </p:sp>
      <p:sp>
        <p:nvSpPr>
          <p:cNvPr id="38" name="Shape 36"/>
          <p:cNvSpPr/>
          <p:nvPr/>
        </p:nvSpPr>
        <p:spPr>
          <a:xfrm>
            <a:off x="658368" y="5197450"/>
            <a:ext cx="2057400" cy="746150"/>
          </a:xfrm>
          <a:prstGeom prst="rect">
            <a:avLst/>
          </a:prstGeom>
          <a:solidFill>
            <a:srgbClr val="F5F6F8"/>
          </a:solidFill>
          <a:ln w="6985">
            <a:solidFill>
              <a:srgbClr val="D6DAE0"/>
            </a:solidFill>
            <a:prstDash val="solid"/>
          </a:ln>
        </p:spPr>
        <p:txBody>
          <a:bodyPr/>
          <a:p/>
        </p:txBody>
      </p:sp>
      <p:sp>
        <p:nvSpPr>
          <p:cNvPr id="39" name="Text 37"/>
          <p:cNvSpPr/>
          <p:nvPr/>
        </p:nvSpPr>
        <p:spPr>
          <a:xfrm>
            <a:off x="713232" y="5247742"/>
            <a:ext cx="1947672" cy="672998"/>
          </a:xfrm>
          <a:prstGeom prst="rect">
            <a:avLst/>
          </a:prstGeom>
          <a:noFill/>
        </p:spPr>
        <p:txBody>
          <a:bodyPr wrap="square" lIns="0" tIns="0" rIns="0" bIns="0" rtlCol="0" anchor="ctr">
            <a:normAutofit/>
          </a:bodyPr>
          <a:lstStyle/>
          <a:p>
            <a:pPr marL="0" indent="0">
              <a:buNone/>
            </a:pPr>
            <a:r>
              <a:rPr lang="en-US" sz="1050" b="1" dirty="0">
                <a:solidFill>
                  <a:srgbClr val="1C1C1C"/>
                </a:solidFill>
              </a:rPr>
              <a:t>No</a:t>
            </a:r>
            <a:r>
              <a:rPr lang="en-US" sz="1050" dirty="0">
                <a:solidFill>
                  <a:srgbClr val="1C1C1C"/>
                </a:solidFill>
              </a:rPr>
              <a:t> expert-valid </a:t>
            </a:r>
            <a:r>
              <a:rPr lang="en-US" sz="1050" b="1" dirty="0">
                <a:solidFill>
                  <a:srgbClr val="1C1C1C"/>
                </a:solidFill>
              </a:rPr>
              <a:t>rubric</a:t>
            </a:r>
            <a:endParaRPr lang="en-US" sz="1050" dirty="0"/>
          </a:p>
        </p:txBody>
      </p:sp>
      <p:sp>
        <p:nvSpPr>
          <p:cNvPr id="40" name="Shape 38"/>
          <p:cNvSpPr/>
          <p:nvPr/>
        </p:nvSpPr>
        <p:spPr>
          <a:xfrm>
            <a:off x="2715768" y="5197450"/>
            <a:ext cx="4709160" cy="746150"/>
          </a:xfrm>
          <a:prstGeom prst="rect">
            <a:avLst/>
          </a:prstGeom>
          <a:solidFill>
            <a:srgbClr val="F5F6F8"/>
          </a:solidFill>
          <a:ln w="6985">
            <a:solidFill>
              <a:srgbClr val="D6DAE0"/>
            </a:solidFill>
            <a:prstDash val="solid"/>
          </a:ln>
        </p:spPr>
        <p:txBody>
          <a:bodyPr/>
          <a:p/>
        </p:txBody>
      </p:sp>
      <p:sp>
        <p:nvSpPr>
          <p:cNvPr id="41" name="Text 39"/>
          <p:cNvSpPr/>
          <p:nvPr/>
        </p:nvSpPr>
        <p:spPr>
          <a:xfrm>
            <a:off x="2770632" y="5247742"/>
            <a:ext cx="4599432" cy="672998"/>
          </a:xfrm>
          <a:prstGeom prst="rect">
            <a:avLst/>
          </a:prstGeom>
          <a:noFill/>
        </p:spPr>
        <p:txBody>
          <a:bodyPr wrap="square" lIns="0" tIns="0" rIns="0" bIns="0" rtlCol="0" anchor="ctr">
            <a:normAutofit/>
          </a:bodyPr>
          <a:lstStyle/>
          <a:p>
            <a:pPr marL="0" indent="0">
              <a:buNone/>
            </a:pPr>
            <a:r>
              <a:rPr lang="en-US" sz="1050" dirty="0">
                <a:solidFill>
                  <a:srgbClr val="1C1C1C"/>
                </a:solidFill>
              </a:rPr>
              <a:t>Task requires religious judgment but lacks </a:t>
            </a:r>
            <a:r>
              <a:rPr lang="en-US" sz="1050" b="1" dirty="0">
                <a:solidFill>
                  <a:srgbClr val="1C1C1C"/>
                </a:solidFill>
              </a:rPr>
              <a:t>domain review</a:t>
            </a:r>
            <a:r>
              <a:rPr lang="en-US" sz="1050" dirty="0">
                <a:solidFill>
                  <a:srgbClr val="1C1C1C"/>
                </a:solidFill>
              </a:rPr>
              <a:t>.</a:t>
            </a:r>
            <a:endParaRPr lang="en-US" sz="1050" dirty="0"/>
          </a:p>
        </p:txBody>
      </p:sp>
      <p:sp>
        <p:nvSpPr>
          <p:cNvPr id="42" name="Shape 40"/>
          <p:cNvSpPr/>
          <p:nvPr/>
        </p:nvSpPr>
        <p:spPr>
          <a:xfrm>
            <a:off x="7424928" y="5197450"/>
            <a:ext cx="4069080" cy="746150"/>
          </a:xfrm>
          <a:prstGeom prst="rect">
            <a:avLst/>
          </a:prstGeom>
          <a:solidFill>
            <a:srgbClr val="F5F6F8"/>
          </a:solidFill>
          <a:ln w="6985">
            <a:solidFill>
              <a:srgbClr val="D6DAE0"/>
            </a:solidFill>
            <a:prstDash val="solid"/>
          </a:ln>
        </p:spPr>
        <p:txBody>
          <a:bodyPr/>
          <a:p/>
        </p:txBody>
      </p:sp>
      <p:sp>
        <p:nvSpPr>
          <p:cNvPr id="43" name="Text 41"/>
          <p:cNvSpPr/>
          <p:nvPr/>
        </p:nvSpPr>
        <p:spPr>
          <a:xfrm>
            <a:off x="7479792" y="5247742"/>
            <a:ext cx="3959352" cy="672998"/>
          </a:xfrm>
          <a:prstGeom prst="rect">
            <a:avLst/>
          </a:prstGeom>
          <a:noFill/>
        </p:spPr>
        <p:txBody>
          <a:bodyPr wrap="square" lIns="0" tIns="0" rIns="0" bIns="0" rtlCol="0" anchor="ctr">
            <a:normAutofit/>
          </a:bodyPr>
          <a:lstStyle/>
          <a:p>
            <a:pPr marL="0" indent="0">
              <a:buNone/>
            </a:pPr>
            <a:r>
              <a:rPr lang="en-US" sz="1050" dirty="0">
                <a:solidFill>
                  <a:srgbClr val="1C1C1C"/>
                </a:solidFill>
              </a:rPr>
              <a:t>Risk of </a:t>
            </a:r>
            <a:r>
              <a:rPr lang="en-US" sz="1050" b="1" dirty="0">
                <a:solidFill>
                  <a:srgbClr val="1C1C1C"/>
                </a:solidFill>
              </a:rPr>
              <a:t>false confidence</a:t>
            </a:r>
            <a:r>
              <a:rPr lang="en-US" sz="1050" dirty="0">
                <a:solidFill>
                  <a:srgbClr val="1C1C1C"/>
                </a:solidFill>
              </a:rPr>
              <a:t>.</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192"/>
            <a:ext cx="2057400" cy="109728"/>
          </a:xfrm>
          <a:prstGeom prst="rect">
            <a:avLst/>
          </a:prstGeom>
          <a:noFill/>
        </p:spPr>
        <p:txBody>
          <a:bodyPr wrap="square" lIns="0" tIns="0" rIns="0" bIns="0" rtlCol="0" anchor="ctr">
            <a:normAutofit/>
          </a:bodyPr>
          <a:lstStyle/>
          <a:p>
            <a:pPr marL="0" indent="0">
              <a:buNone/>
            </a:pPr>
            <a:r>
              <a:rPr lang="en-US" sz="1050" b="1" dirty="0">
                <a:solidFill>
                  <a:srgbClr val="FFFFFF"/>
                </a:solidFill>
              </a:rPr>
              <a:t>PROPOSAL</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lang="en-US" sz="2800" b="1" dirty="0">
                <a:solidFill>
                  <a:srgbClr val="1C1C1C"/>
                </a:solidFill>
                <a:latin typeface="Aptos Display" pitchFamily="34" charset="0"/>
                <a:ea typeface="Aptos Display" pitchFamily="34" charset="-122"/>
                <a:cs typeface="Aptos Display" pitchFamily="34" charset="-120"/>
              </a:rPr>
              <a:t>Proposal</a:t>
            </a:r>
            <a:r>
              <a:rPr lang="en-US" sz="2800" b="1" dirty="0">
                <a:solidFill>
                  <a:srgbClr val="1C1C1C"/>
                </a:solidFill>
                <a:latin typeface="Aptos Display" pitchFamily="34" charset="0"/>
                <a:ea typeface="Aptos Display" pitchFamily="34" charset="-122"/>
                <a:cs typeface="Aptos Display" pitchFamily="34" charset="-120"/>
              </a:rPr>
              <a:t>: run a small set now, build the missing pieces next</a:t>
            </a:r>
            <a:endParaRPr lang="en-US" sz="2800"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22</a:t>
            </a:r>
            <a:endParaRPr lang="en-US" sz="1050" dirty="0"/>
          </a:p>
        </p:txBody>
      </p:sp>
      <p:sp>
        <p:nvSpPr>
          <p:cNvPr id="8" name="Shape 6"/>
          <p:cNvSpPr/>
          <p:nvPr/>
        </p:nvSpPr>
        <p:spPr>
          <a:xfrm>
            <a:off x="749808" y="1874520"/>
            <a:ext cx="2926080" cy="384048"/>
          </a:xfrm>
          <a:prstGeom prst="rect">
            <a:avLst/>
          </a:prstGeom>
          <a:solidFill>
            <a:srgbClr val="111111"/>
          </a:solidFill>
          <a:ln w="6985">
            <a:solidFill>
              <a:srgbClr val="D6DAE0"/>
            </a:solidFill>
            <a:prstDash val="solid"/>
          </a:ln>
        </p:spPr>
        <p:txBody>
          <a:bodyPr/>
          <a:p/>
        </p:txBody>
      </p:sp>
      <p:sp>
        <p:nvSpPr>
          <p:cNvPr id="9" name="Text 7"/>
          <p:cNvSpPr/>
          <p:nvPr/>
        </p:nvSpPr>
        <p:spPr>
          <a:xfrm>
            <a:off x="804672" y="1924812"/>
            <a:ext cx="2816352" cy="310896"/>
          </a:xfrm>
          <a:prstGeom prst="rect">
            <a:avLst/>
          </a:prstGeom>
          <a:noFill/>
        </p:spPr>
        <p:txBody>
          <a:bodyPr wrap="square" lIns="0" tIns="0" rIns="0" bIns="0" rtlCol="0" anchor="ctr">
            <a:normAutofit/>
          </a:bodyPr>
          <a:lstStyle/>
          <a:p>
            <a:pPr marL="0" indent="0">
              <a:buNone/>
            </a:pPr>
            <a:r>
              <a:rPr lang="en-US" sz="1220" b="1" dirty="0">
                <a:solidFill>
                  <a:srgbClr val="FFFFFF"/>
                </a:solidFill>
              </a:rPr>
              <a:t>Immediate run set</a:t>
            </a:r>
            <a:endParaRPr lang="en-US" sz="1220" dirty="0"/>
          </a:p>
        </p:txBody>
      </p:sp>
      <p:sp>
        <p:nvSpPr>
          <p:cNvPr id="10" name="Shape 8"/>
          <p:cNvSpPr/>
          <p:nvPr/>
        </p:nvSpPr>
        <p:spPr>
          <a:xfrm>
            <a:off x="3675888" y="1874520"/>
            <a:ext cx="7680960" cy="384048"/>
          </a:xfrm>
          <a:prstGeom prst="rect">
            <a:avLst/>
          </a:prstGeom>
          <a:solidFill>
            <a:srgbClr val="111111"/>
          </a:solidFill>
          <a:ln w="6985">
            <a:solidFill>
              <a:srgbClr val="D6DAE0"/>
            </a:solidFill>
            <a:prstDash val="solid"/>
          </a:ln>
        </p:spPr>
        <p:txBody>
          <a:bodyPr/>
          <a:p/>
        </p:txBody>
      </p:sp>
      <p:sp>
        <p:nvSpPr>
          <p:cNvPr id="11" name="Text 9"/>
          <p:cNvSpPr/>
          <p:nvPr/>
        </p:nvSpPr>
        <p:spPr>
          <a:xfrm>
            <a:off x="3730752" y="1924812"/>
            <a:ext cx="7571232" cy="310896"/>
          </a:xfrm>
          <a:prstGeom prst="rect">
            <a:avLst/>
          </a:prstGeom>
          <a:noFill/>
        </p:spPr>
        <p:txBody>
          <a:bodyPr wrap="square" lIns="0" tIns="0" rIns="0" bIns="0" rtlCol="0" anchor="ctr">
            <a:normAutofit/>
          </a:bodyPr>
          <a:lstStyle/>
          <a:p>
            <a:pPr marL="0" indent="0">
              <a:buNone/>
            </a:pPr>
            <a:r>
              <a:rPr lang="en-US" sz="1220" b="1" dirty="0">
                <a:solidFill>
                  <a:srgbClr val="FFFFFF"/>
                </a:solidFill>
              </a:rPr>
              <a:t>Candidates</a:t>
            </a:r>
            <a:endParaRPr lang="en-US" sz="1220" dirty="0"/>
          </a:p>
        </p:txBody>
      </p:sp>
      <p:sp>
        <p:nvSpPr>
          <p:cNvPr id="12" name="Shape 10"/>
          <p:cNvSpPr/>
          <p:nvPr/>
        </p:nvSpPr>
        <p:spPr>
          <a:xfrm>
            <a:off x="749808" y="2258568"/>
            <a:ext cx="2926080" cy="630936"/>
          </a:xfrm>
          <a:prstGeom prst="rect">
            <a:avLst/>
          </a:prstGeom>
          <a:solidFill>
            <a:srgbClr val="F5F6F8"/>
          </a:solidFill>
          <a:ln w="6985">
            <a:solidFill>
              <a:srgbClr val="D6DAE0"/>
            </a:solidFill>
            <a:prstDash val="solid"/>
          </a:ln>
        </p:spPr>
        <p:txBody>
          <a:bodyPr/>
          <a:p/>
        </p:txBody>
      </p:sp>
      <p:sp>
        <p:nvSpPr>
          <p:cNvPr id="13" name="Text 11"/>
          <p:cNvSpPr/>
          <p:nvPr/>
        </p:nvSpPr>
        <p:spPr>
          <a:xfrm>
            <a:off x="804672" y="2308860"/>
            <a:ext cx="2816352" cy="557784"/>
          </a:xfrm>
          <a:prstGeom prst="rect">
            <a:avLst/>
          </a:prstGeom>
          <a:noFill/>
        </p:spPr>
        <p:txBody>
          <a:bodyPr wrap="square" lIns="0" tIns="0" rIns="0" bIns="0" rtlCol="0" anchor="ctr">
            <a:normAutofit/>
          </a:bodyPr>
          <a:lstStyle/>
          <a:p>
            <a:pPr marL="0" indent="0">
              <a:buNone/>
            </a:pPr>
            <a:r>
              <a:rPr lang="en-US" sz="1220" b="1" dirty="0">
                <a:solidFill>
                  <a:srgbClr val="1C1C1C"/>
                </a:solidFill>
              </a:rPr>
              <a:t>Track A: values / alignment</a:t>
            </a:r>
            <a:endParaRPr lang="en-US" sz="1220" dirty="0"/>
          </a:p>
        </p:txBody>
      </p:sp>
      <p:sp>
        <p:nvSpPr>
          <p:cNvPr id="14" name="Shape 12"/>
          <p:cNvSpPr/>
          <p:nvPr/>
        </p:nvSpPr>
        <p:spPr>
          <a:xfrm>
            <a:off x="3675888" y="2258568"/>
            <a:ext cx="7680960" cy="630936"/>
          </a:xfrm>
          <a:prstGeom prst="rect">
            <a:avLst/>
          </a:prstGeom>
          <a:solidFill>
            <a:srgbClr val="F5F6F8"/>
          </a:solidFill>
          <a:ln w="6985">
            <a:solidFill>
              <a:srgbClr val="D6DAE0"/>
            </a:solidFill>
            <a:prstDash val="solid"/>
          </a:ln>
        </p:spPr>
        <p:txBody>
          <a:bodyPr/>
          <a:p/>
        </p:txBody>
      </p:sp>
      <p:sp>
        <p:nvSpPr>
          <p:cNvPr id="15" name="Text 13"/>
          <p:cNvSpPr/>
          <p:nvPr/>
        </p:nvSpPr>
        <p:spPr>
          <a:xfrm>
            <a:off x="3730752" y="2308860"/>
            <a:ext cx="7571232" cy="557784"/>
          </a:xfrm>
          <a:prstGeom prst="rect">
            <a:avLst/>
          </a:prstGeom>
          <a:noFill/>
        </p:spPr>
        <p:txBody>
          <a:bodyPr wrap="square" lIns="0" tIns="0" rIns="0" bIns="0" rtlCol="0" anchor="ctr">
            <a:normAutofit/>
          </a:bodyPr>
          <a:lstStyle/>
          <a:p>
            <a:pPr marL="0" indent="0">
              <a:buNone/>
            </a:pPr>
            <a:r>
              <a:rPr lang="en-US" sz="1220" b="1" dirty="0">
                <a:solidFill>
                  <a:srgbClr val="1C1C1C"/>
                </a:solidFill>
              </a:rPr>
              <a:t>#35 IslamTrust</a:t>
            </a:r>
            <a:r>
              <a:rPr lang="en-US" sz="1220" dirty="0">
                <a:solidFill>
                  <a:srgbClr val="1C1C1C"/>
                </a:solidFill>
              </a:rPr>
              <a:t> · </a:t>
            </a:r>
            <a:r>
              <a:rPr lang="en-US" sz="1220" b="1" dirty="0">
                <a:solidFill>
                  <a:srgbClr val="1C1C1C"/>
                </a:solidFill>
              </a:rPr>
              <a:t>#47 CatholicBench</a:t>
            </a:r>
            <a:r>
              <a:rPr lang="en-US" sz="1220" dirty="0">
                <a:solidFill>
                  <a:srgbClr val="1C1C1C"/>
                </a:solidFill>
              </a:rPr>
              <a:t> · </a:t>
            </a:r>
            <a:r>
              <a:rPr lang="en-US" sz="1220" b="1" dirty="0">
                <a:solidFill>
                  <a:srgbClr val="1C1C1C"/>
                </a:solidFill>
              </a:rPr>
              <a:t>#26 BuddhismEval</a:t>
            </a:r>
            <a:endParaRPr lang="en-US" sz="1220" dirty="0"/>
          </a:p>
        </p:txBody>
      </p:sp>
      <p:sp>
        <p:nvSpPr>
          <p:cNvPr id="16" name="Shape 14"/>
          <p:cNvSpPr/>
          <p:nvPr/>
        </p:nvSpPr>
        <p:spPr>
          <a:xfrm>
            <a:off x="749808" y="2889504"/>
            <a:ext cx="2926080" cy="630936"/>
          </a:xfrm>
          <a:prstGeom prst="rect">
            <a:avLst/>
          </a:prstGeom>
          <a:solidFill>
            <a:srgbClr val="FFFFFF"/>
          </a:solidFill>
          <a:ln w="6985">
            <a:solidFill>
              <a:srgbClr val="D6DAE0"/>
            </a:solidFill>
            <a:prstDash val="solid"/>
          </a:ln>
        </p:spPr>
        <p:txBody>
          <a:bodyPr/>
          <a:p/>
        </p:txBody>
      </p:sp>
      <p:sp>
        <p:nvSpPr>
          <p:cNvPr id="17" name="Text 15"/>
          <p:cNvSpPr/>
          <p:nvPr/>
        </p:nvSpPr>
        <p:spPr>
          <a:xfrm>
            <a:off x="804672" y="2939796"/>
            <a:ext cx="2816352" cy="557784"/>
          </a:xfrm>
          <a:prstGeom prst="rect">
            <a:avLst/>
          </a:prstGeom>
          <a:noFill/>
        </p:spPr>
        <p:txBody>
          <a:bodyPr wrap="square" lIns="0" tIns="0" rIns="0" bIns="0" rtlCol="0" anchor="ctr">
            <a:normAutofit/>
          </a:bodyPr>
          <a:lstStyle/>
          <a:p>
            <a:pPr marL="0" indent="0">
              <a:buNone/>
            </a:pPr>
            <a:r>
              <a:rPr lang="en-US" sz="1220" b="1" dirty="0">
                <a:solidFill>
                  <a:srgbClr val="1C1C1C"/>
                </a:solidFill>
              </a:rPr>
              <a:t>Track B: knowledge / doctrine</a:t>
            </a:r>
            <a:endParaRPr lang="en-US" sz="1220" dirty="0"/>
          </a:p>
        </p:txBody>
      </p:sp>
      <p:sp>
        <p:nvSpPr>
          <p:cNvPr id="18" name="Shape 16"/>
          <p:cNvSpPr/>
          <p:nvPr/>
        </p:nvSpPr>
        <p:spPr>
          <a:xfrm>
            <a:off x="3675888" y="2889504"/>
            <a:ext cx="7680960" cy="630936"/>
          </a:xfrm>
          <a:prstGeom prst="rect">
            <a:avLst/>
          </a:prstGeom>
          <a:solidFill>
            <a:srgbClr val="FFFFFF"/>
          </a:solidFill>
          <a:ln w="6985">
            <a:solidFill>
              <a:srgbClr val="D6DAE0"/>
            </a:solidFill>
            <a:prstDash val="solid"/>
          </a:ln>
        </p:spPr>
        <p:txBody>
          <a:bodyPr/>
          <a:p/>
        </p:txBody>
      </p:sp>
      <p:sp>
        <p:nvSpPr>
          <p:cNvPr id="19" name="Text 17"/>
          <p:cNvSpPr/>
          <p:nvPr/>
        </p:nvSpPr>
        <p:spPr>
          <a:xfrm>
            <a:off x="3730752" y="2939796"/>
            <a:ext cx="7571232" cy="557784"/>
          </a:xfrm>
          <a:prstGeom prst="rect">
            <a:avLst/>
          </a:prstGeom>
          <a:noFill/>
        </p:spPr>
        <p:txBody>
          <a:bodyPr wrap="square" lIns="0" tIns="0" rIns="0" bIns="0" rtlCol="0" anchor="ctr">
            <a:normAutofit/>
          </a:bodyPr>
          <a:lstStyle/>
          <a:p>
            <a:pPr marL="0" indent="0">
              <a:buNone/>
            </a:pPr>
            <a:r>
              <a:rPr sz="1220" b="1"/>
              <a:t>#42 QASiNa · #37 BibleQA · #44/#45 FatwaSet</a:t>
            </a:r>
            <a:endParaRPr lang="en-US" sz="1220" dirty="0"/>
          </a:p>
          <a:p>
            <a:r>
              <a:rPr sz="1220" b="1">
                <a:solidFill>
                  <a:srgbClr val="8B0000"/>
                </a:solidFill>
              </a:rPr>
              <a:t>TGC</a:t>
            </a:r>
            <a:r>
              <a:rPr lang="en-US" sz="1220" b="1">
                <a:solidFill>
                  <a:srgbClr val="8B0000"/>
                </a:solidFill>
              </a:rPr>
              <a:t>/ </a:t>
            </a:r>
            <a:r>
              <a:rPr sz="1220" b="1">
                <a:solidFill>
                  <a:srgbClr val="8B0000"/>
                </a:solidFill>
              </a:rPr>
              <a:t>FaithBench (Andrew) · HAQA</a:t>
            </a:r>
            <a:r>
              <a:rPr lang="en-US" sz="1220" b="1">
                <a:solidFill>
                  <a:srgbClr val="8B0000"/>
                </a:solidFill>
              </a:rPr>
              <a:t>/ </a:t>
            </a:r>
            <a:r>
              <a:rPr sz="1220" b="1">
                <a:solidFill>
                  <a:srgbClr val="8B0000"/>
                </a:solidFill>
              </a:rPr>
              <a:t>QUQA (Andrew)</a:t>
            </a:r>
            <a:endParaRPr sz="1220" b="1">
              <a:solidFill>
                <a:srgbClr val="8B0000"/>
              </a:solidFill>
            </a:endParaRPr>
          </a:p>
        </p:txBody>
      </p:sp>
      <p:sp>
        <p:nvSpPr>
          <p:cNvPr id="20" name="Shape 18"/>
          <p:cNvSpPr/>
          <p:nvPr/>
        </p:nvSpPr>
        <p:spPr>
          <a:xfrm>
            <a:off x="749808" y="3977640"/>
            <a:ext cx="2926080" cy="347472"/>
          </a:xfrm>
          <a:prstGeom prst="rect">
            <a:avLst/>
          </a:prstGeom>
          <a:solidFill>
            <a:srgbClr val="B7791F"/>
          </a:solidFill>
          <a:ln w="6985">
            <a:solidFill>
              <a:srgbClr val="D6DAE0"/>
            </a:solidFill>
            <a:prstDash val="solid"/>
          </a:ln>
        </p:spPr>
        <p:txBody>
          <a:bodyPr/>
          <a:p/>
        </p:txBody>
      </p:sp>
      <p:sp>
        <p:nvSpPr>
          <p:cNvPr id="21" name="Text 19"/>
          <p:cNvSpPr/>
          <p:nvPr/>
        </p:nvSpPr>
        <p:spPr>
          <a:xfrm>
            <a:off x="804672" y="4027932"/>
            <a:ext cx="2816352" cy="274320"/>
          </a:xfrm>
          <a:prstGeom prst="rect">
            <a:avLst/>
          </a:prstGeom>
          <a:noFill/>
        </p:spPr>
        <p:txBody>
          <a:bodyPr wrap="square" lIns="0" tIns="0" rIns="0" bIns="0" rtlCol="0" anchor="ctr">
            <a:normAutofit/>
          </a:bodyPr>
          <a:lstStyle/>
          <a:p>
            <a:pPr marL="0" indent="0">
              <a:buNone/>
            </a:pPr>
            <a:r>
              <a:rPr lang="en-US" sz="1050" b="1" dirty="0">
                <a:solidFill>
                  <a:srgbClr val="FFFFFF"/>
                </a:solidFill>
              </a:rPr>
              <a:t>Build/adapt next</a:t>
            </a:r>
            <a:endParaRPr lang="en-US" sz="1050" dirty="0"/>
          </a:p>
        </p:txBody>
      </p:sp>
      <p:sp>
        <p:nvSpPr>
          <p:cNvPr id="22" name="Shape 20"/>
          <p:cNvSpPr/>
          <p:nvPr/>
        </p:nvSpPr>
        <p:spPr>
          <a:xfrm>
            <a:off x="3675888" y="3977640"/>
            <a:ext cx="7680960" cy="347472"/>
          </a:xfrm>
          <a:prstGeom prst="rect">
            <a:avLst/>
          </a:prstGeom>
          <a:solidFill>
            <a:srgbClr val="B7791F"/>
          </a:solidFill>
          <a:ln w="6985">
            <a:solidFill>
              <a:srgbClr val="D6DAE0"/>
            </a:solidFill>
            <a:prstDash val="solid"/>
          </a:ln>
        </p:spPr>
        <p:txBody>
          <a:bodyPr/>
          <a:p/>
        </p:txBody>
      </p:sp>
      <p:sp>
        <p:nvSpPr>
          <p:cNvPr id="23" name="Text 21"/>
          <p:cNvSpPr/>
          <p:nvPr/>
        </p:nvSpPr>
        <p:spPr>
          <a:xfrm>
            <a:off x="3730752" y="4027932"/>
            <a:ext cx="7571232" cy="274320"/>
          </a:xfrm>
          <a:prstGeom prst="rect">
            <a:avLst/>
          </a:prstGeom>
          <a:noFill/>
        </p:spPr>
        <p:txBody>
          <a:bodyPr wrap="square" lIns="0" tIns="0" rIns="0" bIns="0" rtlCol="0" anchor="ctr">
            <a:normAutofit/>
          </a:bodyPr>
          <a:lstStyle/>
          <a:p>
            <a:pPr marL="0" indent="0">
              <a:buNone/>
            </a:pPr>
            <a:r>
              <a:rPr lang="en-US" sz="1050" b="1" dirty="0">
                <a:solidFill>
                  <a:srgbClr val="FFFFFF"/>
                </a:solidFill>
              </a:rPr>
              <a:t>Candidates</a:t>
            </a:r>
            <a:endParaRPr lang="en-US" sz="1050" dirty="0"/>
          </a:p>
        </p:txBody>
      </p:sp>
      <p:sp>
        <p:nvSpPr>
          <p:cNvPr id="24" name="Shape 22"/>
          <p:cNvSpPr/>
          <p:nvPr/>
        </p:nvSpPr>
        <p:spPr>
          <a:xfrm>
            <a:off x="749808" y="4325112"/>
            <a:ext cx="2926080" cy="332842"/>
          </a:xfrm>
          <a:prstGeom prst="rect">
            <a:avLst/>
          </a:prstGeom>
          <a:solidFill>
            <a:srgbClr val="F5F6F8"/>
          </a:solidFill>
          <a:ln w="6985">
            <a:solidFill>
              <a:srgbClr val="D6DAE0"/>
            </a:solidFill>
            <a:prstDash val="solid"/>
          </a:ln>
        </p:spPr>
        <p:txBody>
          <a:bodyPr/>
          <a:p/>
        </p:txBody>
      </p:sp>
      <p:sp>
        <p:nvSpPr>
          <p:cNvPr id="25" name="Text 23"/>
          <p:cNvSpPr/>
          <p:nvPr/>
        </p:nvSpPr>
        <p:spPr>
          <a:xfrm>
            <a:off x="804672" y="4375404"/>
            <a:ext cx="2816352" cy="259690"/>
          </a:xfrm>
          <a:prstGeom prst="rect">
            <a:avLst/>
          </a:prstGeom>
          <a:noFill/>
        </p:spPr>
        <p:txBody>
          <a:bodyPr wrap="square" lIns="0" tIns="0" rIns="0" bIns="0" rtlCol="0" anchor="ctr">
            <a:normAutofit/>
          </a:bodyPr>
          <a:lstStyle/>
          <a:p>
            <a:pPr marL="0" indent="0">
              <a:buNone/>
            </a:pPr>
            <a:r>
              <a:rPr lang="en-US" sz="1050" dirty="0">
                <a:solidFill>
                  <a:srgbClr val="1C1C1C"/>
                </a:solidFill>
              </a:rPr>
              <a:t>Confucian values reasoning</a:t>
            </a:r>
            <a:endParaRPr lang="en-US" sz="1050" dirty="0"/>
          </a:p>
        </p:txBody>
      </p:sp>
      <p:sp>
        <p:nvSpPr>
          <p:cNvPr id="26" name="Shape 24"/>
          <p:cNvSpPr/>
          <p:nvPr/>
        </p:nvSpPr>
        <p:spPr>
          <a:xfrm>
            <a:off x="3675888" y="4325112"/>
            <a:ext cx="7680960" cy="332842"/>
          </a:xfrm>
          <a:prstGeom prst="rect">
            <a:avLst/>
          </a:prstGeom>
          <a:solidFill>
            <a:srgbClr val="F5F6F8"/>
          </a:solidFill>
          <a:ln w="6985">
            <a:solidFill>
              <a:srgbClr val="D6DAE0"/>
            </a:solidFill>
            <a:prstDash val="solid"/>
          </a:ln>
        </p:spPr>
        <p:txBody>
          <a:bodyPr/>
          <a:p/>
        </p:txBody>
      </p:sp>
      <p:sp>
        <p:nvSpPr>
          <p:cNvPr id="27" name="Text 25"/>
          <p:cNvSpPr/>
          <p:nvPr/>
        </p:nvSpPr>
        <p:spPr>
          <a:xfrm>
            <a:off x="3730752" y="4375404"/>
            <a:ext cx="7571232" cy="259690"/>
          </a:xfrm>
          <a:prstGeom prst="rect">
            <a:avLst/>
          </a:prstGeom>
          <a:noFill/>
        </p:spPr>
        <p:txBody>
          <a:bodyPr wrap="square" lIns="0" tIns="0" rIns="0" bIns="0" rtlCol="0" anchor="ctr">
            <a:normAutofit/>
          </a:bodyPr>
          <a:lstStyle/>
          <a:p>
            <a:pPr marL="0" indent="0">
              <a:buNone/>
            </a:pPr>
            <a:r>
              <a:rPr lang="en-US" sz="1050" b="1" dirty="0">
                <a:solidFill>
                  <a:srgbClr val="1C1C1C"/>
                </a:solidFill>
              </a:rPr>
              <a:t>#34 Confucian Analects</a:t>
            </a:r>
            <a:endParaRPr lang="en-US" sz="1050" dirty="0"/>
          </a:p>
        </p:txBody>
      </p:sp>
      <p:sp>
        <p:nvSpPr>
          <p:cNvPr id="28" name="Shape 26"/>
          <p:cNvSpPr/>
          <p:nvPr/>
        </p:nvSpPr>
        <p:spPr>
          <a:xfrm>
            <a:off x="749808" y="4657954"/>
            <a:ext cx="2926080" cy="332842"/>
          </a:xfrm>
          <a:prstGeom prst="rect">
            <a:avLst/>
          </a:prstGeom>
          <a:solidFill>
            <a:srgbClr val="FFFFFF"/>
          </a:solidFill>
          <a:ln w="6985">
            <a:solidFill>
              <a:srgbClr val="D6DAE0"/>
            </a:solidFill>
            <a:prstDash val="solid"/>
          </a:ln>
        </p:spPr>
        <p:txBody>
          <a:bodyPr/>
          <a:p/>
        </p:txBody>
      </p:sp>
      <p:sp>
        <p:nvSpPr>
          <p:cNvPr id="29" name="Text 27"/>
          <p:cNvSpPr/>
          <p:nvPr/>
        </p:nvSpPr>
        <p:spPr>
          <a:xfrm>
            <a:off x="804672" y="4708246"/>
            <a:ext cx="2816352" cy="259690"/>
          </a:xfrm>
          <a:prstGeom prst="rect">
            <a:avLst/>
          </a:prstGeom>
          <a:noFill/>
        </p:spPr>
        <p:txBody>
          <a:bodyPr wrap="square" lIns="0" tIns="0" rIns="0" bIns="0" rtlCol="0" anchor="ctr">
            <a:normAutofit/>
          </a:bodyPr>
          <a:lstStyle/>
          <a:p>
            <a:pPr marL="0" indent="0">
              <a:buNone/>
            </a:pPr>
            <a:r>
              <a:rPr lang="en-US" sz="1050" dirty="0">
                <a:solidFill>
                  <a:srgbClr val="1C1C1C"/>
                </a:solidFill>
              </a:rPr>
              <a:t>Cross-cultural religious morality</a:t>
            </a:r>
            <a:endParaRPr lang="en-US" sz="1050" dirty="0"/>
          </a:p>
        </p:txBody>
      </p:sp>
      <p:sp>
        <p:nvSpPr>
          <p:cNvPr id="30" name="Shape 28"/>
          <p:cNvSpPr/>
          <p:nvPr/>
        </p:nvSpPr>
        <p:spPr>
          <a:xfrm>
            <a:off x="3675888" y="4657954"/>
            <a:ext cx="7680960" cy="332842"/>
          </a:xfrm>
          <a:prstGeom prst="rect">
            <a:avLst/>
          </a:prstGeom>
          <a:solidFill>
            <a:srgbClr val="FFFFFF"/>
          </a:solidFill>
          <a:ln w="6985">
            <a:solidFill>
              <a:srgbClr val="D6DAE0"/>
            </a:solidFill>
            <a:prstDash val="solid"/>
          </a:ln>
        </p:spPr>
        <p:txBody>
          <a:bodyPr/>
          <a:p/>
        </p:txBody>
      </p:sp>
      <p:sp>
        <p:nvSpPr>
          <p:cNvPr id="31" name="Text 29"/>
          <p:cNvSpPr/>
          <p:nvPr/>
        </p:nvSpPr>
        <p:spPr>
          <a:xfrm>
            <a:off x="3730752" y="4708246"/>
            <a:ext cx="7571232" cy="259690"/>
          </a:xfrm>
          <a:prstGeom prst="rect">
            <a:avLst/>
          </a:prstGeom>
          <a:noFill/>
        </p:spPr>
        <p:txBody>
          <a:bodyPr wrap="square" lIns="0" tIns="0" rIns="0" bIns="0" rtlCol="0" anchor="ctr">
            <a:normAutofit/>
          </a:bodyPr>
          <a:lstStyle/>
          <a:p>
            <a:pPr marL="0" indent="0">
              <a:buNone/>
            </a:pPr>
            <a:r>
              <a:rPr lang="en-US" sz="1050" b="1" dirty="0">
                <a:solidFill>
                  <a:srgbClr val="1C1C1C"/>
                </a:solidFill>
              </a:rPr>
              <a:t>#43 Religion &amp; Morality</a:t>
            </a:r>
            <a:r>
              <a:rPr lang="en-US" sz="1050" dirty="0">
                <a:solidFill>
                  <a:srgbClr val="1C1C1C"/>
                </a:solidFill>
              </a:rPr>
              <a:t> dataset</a:t>
            </a:r>
            <a:endParaRPr lang="en-US" sz="1050" dirty="0"/>
          </a:p>
        </p:txBody>
      </p:sp>
      <p:sp>
        <p:nvSpPr>
          <p:cNvPr id="32" name="Shape 30"/>
          <p:cNvSpPr/>
          <p:nvPr/>
        </p:nvSpPr>
        <p:spPr>
          <a:xfrm>
            <a:off x="749808" y="4990795"/>
            <a:ext cx="2926080" cy="332842"/>
          </a:xfrm>
          <a:prstGeom prst="rect">
            <a:avLst/>
          </a:prstGeom>
          <a:solidFill>
            <a:srgbClr val="F5F6F8"/>
          </a:solidFill>
          <a:ln w="6985">
            <a:solidFill>
              <a:srgbClr val="D6DAE0"/>
            </a:solidFill>
            <a:prstDash val="solid"/>
          </a:ln>
        </p:spPr>
        <p:txBody>
          <a:bodyPr/>
          <a:p/>
        </p:txBody>
      </p:sp>
      <p:sp>
        <p:nvSpPr>
          <p:cNvPr id="33" name="Text 31"/>
          <p:cNvSpPr/>
          <p:nvPr/>
        </p:nvSpPr>
        <p:spPr>
          <a:xfrm>
            <a:off x="804672" y="5041087"/>
            <a:ext cx="2816352" cy="259690"/>
          </a:xfrm>
          <a:prstGeom prst="rect">
            <a:avLst/>
          </a:prstGeom>
          <a:noFill/>
        </p:spPr>
        <p:txBody>
          <a:bodyPr wrap="square" lIns="0" tIns="0" rIns="0" bIns="0" rtlCol="0" anchor="ctr">
            <a:normAutofit/>
          </a:bodyPr>
          <a:lstStyle/>
          <a:p>
            <a:pPr marL="0" indent="0">
              <a:buNone/>
            </a:pPr>
            <a:r>
              <a:rPr lang="en-US" sz="1050" dirty="0">
                <a:solidFill>
                  <a:srgbClr val="1C1C1C"/>
                </a:solidFill>
              </a:rPr>
              <a:t>Sikh </a:t>
            </a:r>
            <a:r>
              <a:rPr lang="en-US" sz="1050" b="1" dirty="0">
                <a:solidFill>
                  <a:srgbClr val="1C1C1C"/>
                </a:solidFill>
              </a:rPr>
              <a:t>scripture</a:t>
            </a:r>
            <a:r>
              <a:rPr lang="en-US" sz="1050" dirty="0">
                <a:solidFill>
                  <a:srgbClr val="1C1C1C"/>
                </a:solidFill>
              </a:rPr>
              <a:t> </a:t>
            </a:r>
            <a:r>
              <a:rPr lang="en-US" sz="1050" b="1" dirty="0">
                <a:solidFill>
                  <a:srgbClr val="1C1C1C"/>
                </a:solidFill>
              </a:rPr>
              <a:t>QA</a:t>
            </a:r>
            <a:endParaRPr lang="en-US" sz="1050" dirty="0"/>
          </a:p>
        </p:txBody>
      </p:sp>
      <p:sp>
        <p:nvSpPr>
          <p:cNvPr id="34" name="Shape 32"/>
          <p:cNvSpPr/>
          <p:nvPr/>
        </p:nvSpPr>
        <p:spPr>
          <a:xfrm>
            <a:off x="3675888" y="4990795"/>
            <a:ext cx="7680960" cy="332842"/>
          </a:xfrm>
          <a:prstGeom prst="rect">
            <a:avLst/>
          </a:prstGeom>
          <a:solidFill>
            <a:srgbClr val="F5F6F8"/>
          </a:solidFill>
          <a:ln w="6985">
            <a:solidFill>
              <a:srgbClr val="D6DAE0"/>
            </a:solidFill>
            <a:prstDash val="solid"/>
          </a:ln>
        </p:spPr>
        <p:txBody>
          <a:bodyPr/>
          <a:p/>
        </p:txBody>
      </p:sp>
      <p:sp>
        <p:nvSpPr>
          <p:cNvPr id="35" name="Text 33"/>
          <p:cNvSpPr/>
          <p:nvPr/>
        </p:nvSpPr>
        <p:spPr>
          <a:xfrm>
            <a:off x="3730752" y="5041087"/>
            <a:ext cx="7571232" cy="259690"/>
          </a:xfrm>
          <a:prstGeom prst="rect">
            <a:avLst/>
          </a:prstGeom>
          <a:noFill/>
        </p:spPr>
        <p:txBody>
          <a:bodyPr wrap="square" lIns="0" tIns="0" rIns="0" bIns="0" rtlCol="0" anchor="ctr">
            <a:normAutofit/>
          </a:bodyPr>
          <a:lstStyle/>
          <a:p>
            <a:pPr marL="0" indent="0">
              <a:buNone/>
            </a:pPr>
            <a:r>
              <a:rPr lang="en-US" sz="1050" b="1" dirty="0">
                <a:solidFill>
                  <a:srgbClr val="1C1C1C"/>
                </a:solidFill>
              </a:rPr>
              <a:t>#28/#29 Sikh Gurbani resources</a:t>
            </a:r>
            <a:endParaRPr lang="en-US" sz="1050" dirty="0"/>
          </a:p>
        </p:txBody>
      </p:sp>
      <p:sp>
        <p:nvSpPr>
          <p:cNvPr id="36" name="Shape 34"/>
          <p:cNvSpPr/>
          <p:nvPr/>
        </p:nvSpPr>
        <p:spPr>
          <a:xfrm>
            <a:off x="749808" y="5323637"/>
            <a:ext cx="2926080" cy="332842"/>
          </a:xfrm>
          <a:prstGeom prst="rect">
            <a:avLst/>
          </a:prstGeom>
          <a:solidFill>
            <a:srgbClr val="FFFFFF"/>
          </a:solidFill>
          <a:ln w="6985">
            <a:solidFill>
              <a:srgbClr val="D6DAE0"/>
            </a:solidFill>
            <a:prstDash val="solid"/>
          </a:ln>
        </p:spPr>
        <p:txBody>
          <a:bodyPr/>
          <a:p/>
        </p:txBody>
      </p:sp>
      <p:sp>
        <p:nvSpPr>
          <p:cNvPr id="37" name="Text 35"/>
          <p:cNvSpPr/>
          <p:nvPr/>
        </p:nvSpPr>
        <p:spPr>
          <a:xfrm>
            <a:off x="804672" y="5373929"/>
            <a:ext cx="2816352" cy="259690"/>
          </a:xfrm>
          <a:prstGeom prst="rect">
            <a:avLst/>
          </a:prstGeom>
          <a:noFill/>
        </p:spPr>
        <p:txBody>
          <a:bodyPr wrap="square" lIns="0" tIns="0" rIns="0" bIns="0" rtlCol="0" anchor="ctr">
            <a:normAutofit/>
          </a:bodyPr>
          <a:lstStyle/>
          <a:p>
            <a:pPr marL="0" indent="0">
              <a:buNone/>
            </a:pPr>
            <a:r>
              <a:rPr lang="en-US" sz="1050" dirty="0">
                <a:solidFill>
                  <a:srgbClr val="1C1C1C"/>
                </a:solidFill>
              </a:rPr>
              <a:t>Hindu </a:t>
            </a:r>
            <a:r>
              <a:rPr lang="en-US" sz="1050" b="1" dirty="0">
                <a:solidFill>
                  <a:srgbClr val="1C1C1C"/>
                </a:solidFill>
              </a:rPr>
              <a:t>scripture</a:t>
            </a:r>
            <a:r>
              <a:rPr lang="en-US" sz="1050" dirty="0">
                <a:solidFill>
                  <a:srgbClr val="1C1C1C"/>
                </a:solidFill>
              </a:rPr>
              <a:t> </a:t>
            </a:r>
            <a:r>
              <a:rPr lang="en-US" sz="1050" b="1" dirty="0">
                <a:solidFill>
                  <a:srgbClr val="1C1C1C"/>
                </a:solidFill>
              </a:rPr>
              <a:t>QA</a:t>
            </a:r>
            <a:endParaRPr lang="en-US" sz="1050" dirty="0"/>
          </a:p>
        </p:txBody>
      </p:sp>
      <p:sp>
        <p:nvSpPr>
          <p:cNvPr id="38" name="Shape 36"/>
          <p:cNvSpPr/>
          <p:nvPr/>
        </p:nvSpPr>
        <p:spPr>
          <a:xfrm>
            <a:off x="3675888" y="5323637"/>
            <a:ext cx="7680960" cy="332842"/>
          </a:xfrm>
          <a:prstGeom prst="rect">
            <a:avLst/>
          </a:prstGeom>
          <a:solidFill>
            <a:srgbClr val="FFFFFF"/>
          </a:solidFill>
          <a:ln w="6985">
            <a:solidFill>
              <a:srgbClr val="D6DAE0"/>
            </a:solidFill>
            <a:prstDash val="solid"/>
          </a:ln>
        </p:spPr>
        <p:txBody>
          <a:bodyPr/>
          <a:p/>
        </p:txBody>
      </p:sp>
      <p:sp>
        <p:nvSpPr>
          <p:cNvPr id="39" name="Text 37"/>
          <p:cNvSpPr/>
          <p:nvPr/>
        </p:nvSpPr>
        <p:spPr>
          <a:xfrm>
            <a:off x="3730752" y="5373929"/>
            <a:ext cx="7571232" cy="259690"/>
          </a:xfrm>
          <a:prstGeom prst="rect">
            <a:avLst/>
          </a:prstGeom>
          <a:noFill/>
        </p:spPr>
        <p:txBody>
          <a:bodyPr wrap="square" lIns="0" tIns="0" rIns="0" bIns="0" rtlCol="0" anchor="ctr">
            <a:normAutofit/>
          </a:bodyPr>
          <a:lstStyle/>
          <a:p>
            <a:pPr marL="0" indent="0">
              <a:buNone/>
            </a:pPr>
            <a:r>
              <a:rPr lang="en-US" sz="1050" b="1" dirty="0">
                <a:solidFill>
                  <a:srgbClr val="1C1C1C"/>
                </a:solidFill>
              </a:rPr>
              <a:t>#31 DharmicData</a:t>
            </a:r>
            <a:endParaRPr lang="en-US" sz="1050" dirty="0"/>
          </a:p>
        </p:txBody>
      </p:sp>
      <p:sp>
        <p:nvSpPr>
          <p:cNvPr id="40" name="Shape 38"/>
          <p:cNvSpPr/>
          <p:nvPr/>
        </p:nvSpPr>
        <p:spPr>
          <a:xfrm>
            <a:off x="749808" y="5656478"/>
            <a:ext cx="2926080" cy="332842"/>
          </a:xfrm>
          <a:prstGeom prst="rect">
            <a:avLst/>
          </a:prstGeom>
          <a:solidFill>
            <a:srgbClr val="F5F6F8"/>
          </a:solidFill>
          <a:ln w="6985">
            <a:solidFill>
              <a:srgbClr val="D6DAE0"/>
            </a:solidFill>
            <a:prstDash val="solid"/>
          </a:ln>
        </p:spPr>
        <p:txBody>
          <a:bodyPr/>
          <a:p/>
        </p:txBody>
      </p:sp>
      <p:sp>
        <p:nvSpPr>
          <p:cNvPr id="41" name="Text 39"/>
          <p:cNvSpPr/>
          <p:nvPr/>
        </p:nvSpPr>
        <p:spPr>
          <a:xfrm>
            <a:off x="804672" y="5706770"/>
            <a:ext cx="2816352" cy="259690"/>
          </a:xfrm>
          <a:prstGeom prst="rect">
            <a:avLst/>
          </a:prstGeom>
          <a:noFill/>
        </p:spPr>
        <p:txBody>
          <a:bodyPr wrap="square" lIns="0" tIns="0" rIns="0" bIns="0" rtlCol="0" anchor="ctr">
            <a:normAutofit/>
          </a:bodyPr>
          <a:lstStyle/>
          <a:p>
            <a:pPr marL="0" indent="0">
              <a:buNone/>
            </a:pPr>
            <a:r>
              <a:rPr lang="en-US" sz="1050" dirty="0">
                <a:solidFill>
                  <a:srgbClr val="1C1C1C"/>
                </a:solidFill>
              </a:rPr>
              <a:t>Islamic </a:t>
            </a:r>
            <a:r>
              <a:rPr lang="en-US" sz="1050" b="1" dirty="0">
                <a:solidFill>
                  <a:srgbClr val="1C1C1C"/>
                </a:solidFill>
              </a:rPr>
              <a:t>QA</a:t>
            </a:r>
            <a:r>
              <a:rPr lang="en-US" sz="1050" dirty="0">
                <a:solidFill>
                  <a:srgbClr val="1C1C1C"/>
                </a:solidFill>
              </a:rPr>
              <a:t> verification</a:t>
            </a:r>
            <a:endParaRPr lang="en-US" sz="1050" dirty="0"/>
          </a:p>
        </p:txBody>
      </p:sp>
      <p:sp>
        <p:nvSpPr>
          <p:cNvPr id="42" name="Shape 40"/>
          <p:cNvSpPr/>
          <p:nvPr/>
        </p:nvSpPr>
        <p:spPr>
          <a:xfrm>
            <a:off x="3675888" y="5656478"/>
            <a:ext cx="7680960" cy="332842"/>
          </a:xfrm>
          <a:prstGeom prst="rect">
            <a:avLst/>
          </a:prstGeom>
          <a:solidFill>
            <a:srgbClr val="F5F6F8"/>
          </a:solidFill>
          <a:ln w="6985">
            <a:solidFill>
              <a:srgbClr val="D6DAE0"/>
            </a:solidFill>
            <a:prstDash val="solid"/>
          </a:ln>
        </p:spPr>
        <p:txBody>
          <a:bodyPr/>
          <a:p/>
        </p:txBody>
      </p:sp>
      <p:sp>
        <p:nvSpPr>
          <p:cNvPr id="43" name="Text 41"/>
          <p:cNvSpPr/>
          <p:nvPr/>
        </p:nvSpPr>
        <p:spPr>
          <a:xfrm>
            <a:off x="3730752" y="5706770"/>
            <a:ext cx="7571232" cy="259690"/>
          </a:xfrm>
          <a:prstGeom prst="rect">
            <a:avLst/>
          </a:prstGeom>
          <a:noFill/>
        </p:spPr>
        <p:txBody>
          <a:bodyPr wrap="square" lIns="0" tIns="0" rIns="0" bIns="0" rtlCol="0" anchor="ctr">
            <a:normAutofit/>
          </a:bodyPr>
          <a:lstStyle/>
          <a:p>
            <a:pPr marL="0" indent="0">
              <a:buNone/>
            </a:pPr>
            <a:r>
              <a:rPr sz="1050" b="1"/>
              <a:t>#32 Islam QA</a:t>
            </a:r>
            <a:endParaRPr lang="en-US" sz="1050" dirty="0"/>
          </a:p>
          <a:p>
            <a:r>
              <a:rPr sz="1050" b="1">
                <a:solidFill>
                  <a:srgbClr val="8B0000"/>
                </a:solidFill>
              </a:rPr>
              <a:t>Quran passage retrieval (Andrew) · AceGPT saturation check (Andrew)</a:t>
            </a:r>
            <a:endParaRPr sz="1050" b="1">
              <a:solidFill>
                <a:srgbClr val="8B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2192020" y="2552065"/>
            <a:ext cx="7808595" cy="1753235"/>
          </a:xfrm>
          <a:prstGeom prst="rect">
            <a:avLst/>
          </a:prstGeom>
        </p:spPr>
        <p:txBody>
          <a:bodyPr wrap="square">
            <a:spAutoFit/>
          </a:bodyPr>
          <a:p>
            <a:pPr algn="ctr"/>
            <a:r>
              <a:rPr lang="en-US" altLang="zh-CN" sz="3600" b="1"/>
              <a:t>What Is Structurally Absent, </a:t>
            </a:r>
            <a:endParaRPr lang="en-US" altLang="zh-CN" sz="3600" b="1"/>
          </a:p>
          <a:p>
            <a:pPr algn="ctr"/>
            <a:r>
              <a:rPr lang="en-US" altLang="zh-CN" sz="3600" b="1"/>
              <a:t>Among the 47 Gate-Passers? (could be further brainstormed)</a:t>
            </a:r>
            <a:endParaRPr lang="en-US" altLang="zh-CN" sz="3600"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74320"/>
            <a:ext cx="640080" cy="457200"/>
          </a:xfrm>
          <a:prstGeom prst="rect">
            <a:avLst/>
          </a:prstGeom>
          <a:noFill/>
        </p:spPr>
        <p:txBody>
          <a:bodyPr wrap="square" lIns="0" tIns="0" rIns="0" bIns="0" rtlCol="0" anchor="ctr"/>
          <a:lstStyle/>
          <a:p>
            <a:pPr marL="0" indent="0" algn="l">
              <a:buNone/>
            </a:pPr>
            <a:r>
              <a:rPr lang="en-US" sz="1800" b="1" kern="0" spc="300" dirty="0">
                <a:solidFill>
                  <a:srgbClr val="B8860B"/>
                </a:solidFill>
                <a:latin typeface="Calibri" pitchFamily="34" charset="0"/>
                <a:ea typeface="Calibri" pitchFamily="34" charset="-122"/>
                <a:cs typeface="Calibri" pitchFamily="34" charset="-120"/>
              </a:rPr>
              <a:t>01</a:t>
            </a:r>
            <a:endParaRPr lang="en-US" sz="1800" dirty="0"/>
          </a:p>
        </p:txBody>
      </p:sp>
      <p:sp>
        <p:nvSpPr>
          <p:cNvPr id="3" name="Text 1"/>
          <p:cNvSpPr/>
          <p:nvPr/>
        </p:nvSpPr>
        <p:spPr>
          <a:xfrm>
            <a:off x="1188720" y="274320"/>
            <a:ext cx="10424160" cy="457200"/>
          </a:xfrm>
          <a:prstGeom prst="rect">
            <a:avLst/>
          </a:prstGeom>
          <a:noFill/>
        </p:spPr>
        <p:txBody>
          <a:bodyPr wrap="square" lIns="0" tIns="0" rIns="0" bIns="0" rtlCol="0" anchor="ctr"/>
          <a:lstStyle/>
          <a:p>
            <a:pPr marL="0" indent="0" algn="l">
              <a:buNone/>
            </a:pPr>
            <a:r>
              <a:rPr lang="en-US" sz="1800" b="1" kern="0" spc="500" dirty="0">
                <a:solidFill>
                  <a:srgbClr val="B8860B"/>
                </a:solidFill>
                <a:latin typeface="Calibri" pitchFamily="34" charset="0"/>
                <a:ea typeface="Calibri" pitchFamily="34" charset="-122"/>
                <a:cs typeface="Calibri" pitchFamily="34" charset="-120"/>
              </a:rPr>
              <a:t>TRACK A  ·  ALIGNMENT</a:t>
            </a:r>
            <a:endParaRPr lang="en-US" sz="1800" dirty="0"/>
          </a:p>
        </p:txBody>
      </p:sp>
      <p:sp>
        <p:nvSpPr>
          <p:cNvPr id="4" name="Text 2"/>
          <p:cNvSpPr/>
          <p:nvPr/>
        </p:nvSpPr>
        <p:spPr>
          <a:xfrm>
            <a:off x="548640" y="777240"/>
            <a:ext cx="11064240" cy="640080"/>
          </a:xfrm>
          <a:prstGeom prst="rect">
            <a:avLst/>
          </a:prstGeom>
          <a:noFill/>
        </p:spPr>
        <p:txBody>
          <a:bodyPr wrap="square" lIns="0" tIns="0" rIns="0" bIns="0" rtlCol="0" anchor="t"/>
          <a:lstStyle/>
          <a:p>
            <a:pPr marL="0" indent="0" algn="l">
              <a:buNone/>
            </a:pPr>
            <a:r>
              <a:rPr lang="en-US" sz="3000" b="1" dirty="0">
                <a:solidFill>
                  <a:srgbClr val="0F1E3D"/>
                </a:solidFill>
                <a:latin typeface="Georgia" panose="02040502050405090303" pitchFamily="34" charset="0"/>
                <a:ea typeface="Georgia" panose="02040502050405090303" pitchFamily="34" charset="-122"/>
                <a:cs typeface="Georgia" panose="02040502050405090303" pitchFamily="34" charset="-120"/>
              </a:rPr>
              <a:t>Religious judgment is underbuilt</a:t>
            </a:r>
            <a:endParaRPr lang="en-US" sz="3000" dirty="0"/>
          </a:p>
        </p:txBody>
      </p:sp>
      <p:sp>
        <p:nvSpPr>
          <p:cNvPr id="5" name="Text 3"/>
          <p:cNvSpPr/>
          <p:nvPr/>
        </p:nvSpPr>
        <p:spPr>
          <a:xfrm>
            <a:off x="548640" y="1417320"/>
            <a:ext cx="11064240" cy="457200"/>
          </a:xfrm>
          <a:prstGeom prst="rect">
            <a:avLst/>
          </a:prstGeom>
          <a:noFill/>
        </p:spPr>
        <p:txBody>
          <a:bodyPr wrap="square" lIns="0" tIns="0" rIns="0" bIns="0" rtlCol="0" anchor="t"/>
          <a:lstStyle/>
          <a:p>
            <a:pPr marL="0" indent="0" algn="l">
              <a:buNone/>
            </a:pPr>
            <a:r>
              <a:rPr lang="en-US" sz="1400" i="1" dirty="0">
                <a:solidFill>
                  <a:srgbClr val="475569"/>
                </a:solidFill>
                <a:latin typeface="Calibri" pitchFamily="34" charset="0"/>
                <a:ea typeface="Calibri" pitchFamily="34" charset="-122"/>
                <a:cs typeface="Calibri" pitchFamily="34" charset="-120"/>
              </a:rPr>
              <a:t>A complete alignment benchmark tests reasoning inside religious value systems. Most current assets test the presence of religious data.</a:t>
            </a:r>
            <a:endParaRPr lang="en-US" sz="1400" dirty="0"/>
          </a:p>
        </p:txBody>
      </p:sp>
      <p:sp>
        <p:nvSpPr>
          <p:cNvPr id="6" name="Text 4"/>
          <p:cNvSpPr/>
          <p:nvPr/>
        </p:nvSpPr>
        <p:spPr>
          <a:xfrm>
            <a:off x="548640" y="2194560"/>
            <a:ext cx="8595360" cy="274320"/>
          </a:xfrm>
          <a:prstGeom prst="rect">
            <a:avLst/>
          </a:prstGeom>
          <a:noFill/>
        </p:spPr>
        <p:txBody>
          <a:bodyPr wrap="square" lIns="0" tIns="0" rIns="0" bIns="0" rtlCol="0" anchor="ctr"/>
          <a:lstStyle/>
          <a:p>
            <a:pPr marL="0" indent="0" algn="l">
              <a:buNone/>
            </a:pPr>
            <a:r>
              <a:rPr lang="en-US" sz="1000" b="1" kern="0" spc="300" dirty="0">
                <a:solidFill>
                  <a:srgbClr val="0F1E3D"/>
                </a:solidFill>
                <a:latin typeface="Calibri" pitchFamily="34" charset="0"/>
                <a:ea typeface="Calibri" pitchFamily="34" charset="-122"/>
                <a:cs typeface="Calibri" pitchFamily="34" charset="-120"/>
              </a:rPr>
              <a:t>MISSING LAYERS IN THE ALIGNMENT BENCHMARK ECOSYSTEM</a:t>
            </a:r>
            <a:endParaRPr lang="en-US" sz="1000" dirty="0"/>
          </a:p>
        </p:txBody>
      </p:sp>
      <p:sp>
        <p:nvSpPr>
          <p:cNvPr id="7" name="Shape 5"/>
          <p:cNvSpPr/>
          <p:nvPr/>
        </p:nvSpPr>
        <p:spPr>
          <a:xfrm>
            <a:off x="9326880" y="2240280"/>
            <a:ext cx="201168" cy="128016"/>
          </a:xfrm>
          <a:prstGeom prst="rect">
            <a:avLst/>
          </a:prstGeom>
          <a:solidFill>
            <a:srgbClr val="B8860B"/>
          </a:solidFill>
          <a:ln w="12700">
            <a:solidFill>
              <a:srgbClr val="B8860B"/>
            </a:solidFill>
            <a:prstDash val="solid"/>
          </a:ln>
        </p:spPr>
      </p:sp>
      <p:sp>
        <p:nvSpPr>
          <p:cNvPr id="8" name="Text 6"/>
          <p:cNvSpPr/>
          <p:nvPr/>
        </p:nvSpPr>
        <p:spPr>
          <a:xfrm>
            <a:off x="9601200" y="2194560"/>
            <a:ext cx="777240" cy="219456"/>
          </a:xfrm>
          <a:prstGeom prst="rect">
            <a:avLst/>
          </a:prstGeom>
          <a:noFill/>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present</a:t>
            </a:r>
            <a:endParaRPr lang="en-US" sz="900" dirty="0"/>
          </a:p>
        </p:txBody>
      </p:sp>
      <p:sp>
        <p:nvSpPr>
          <p:cNvPr id="9" name="Shape 7"/>
          <p:cNvSpPr/>
          <p:nvPr/>
        </p:nvSpPr>
        <p:spPr>
          <a:xfrm>
            <a:off x="10469880" y="2240280"/>
            <a:ext cx="201168" cy="128016"/>
          </a:xfrm>
          <a:prstGeom prst="rect">
            <a:avLst/>
          </a:prstGeom>
          <a:solidFill>
            <a:srgbClr val="E5E7EB"/>
          </a:solidFill>
          <a:ln w="12700">
            <a:solidFill>
              <a:srgbClr val="E5E7EB"/>
            </a:solidFill>
            <a:prstDash val="solid"/>
          </a:ln>
        </p:spPr>
      </p:sp>
      <p:sp>
        <p:nvSpPr>
          <p:cNvPr id="10" name="Text 8"/>
          <p:cNvSpPr/>
          <p:nvPr/>
        </p:nvSpPr>
        <p:spPr>
          <a:xfrm>
            <a:off x="10744200" y="2194560"/>
            <a:ext cx="777240" cy="219456"/>
          </a:xfrm>
          <a:prstGeom prst="rect">
            <a:avLst/>
          </a:prstGeom>
          <a:noFill/>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missing</a:t>
            </a:r>
            <a:endParaRPr lang="en-US" sz="900" dirty="0"/>
          </a:p>
        </p:txBody>
      </p:sp>
      <p:sp>
        <p:nvSpPr>
          <p:cNvPr id="11" name="Text 9"/>
          <p:cNvSpPr/>
          <p:nvPr/>
        </p:nvSpPr>
        <p:spPr>
          <a:xfrm>
            <a:off x="548640" y="260604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Tradition coverage</a:t>
            </a:r>
            <a:endParaRPr lang="en-US" sz="1300" dirty="0"/>
          </a:p>
        </p:txBody>
      </p:sp>
      <p:sp>
        <p:nvSpPr>
          <p:cNvPr id="12" name="Shape 10"/>
          <p:cNvSpPr/>
          <p:nvPr/>
        </p:nvSpPr>
        <p:spPr>
          <a:xfrm>
            <a:off x="3566160" y="2798064"/>
            <a:ext cx="2926080" cy="164592"/>
          </a:xfrm>
          <a:prstGeom prst="rect">
            <a:avLst/>
          </a:prstGeom>
          <a:solidFill>
            <a:srgbClr val="E5E7EB"/>
          </a:solidFill>
          <a:ln w="12700">
            <a:solidFill>
              <a:srgbClr val="E5E7EB"/>
            </a:solidFill>
            <a:prstDash val="solid"/>
          </a:ln>
        </p:spPr>
      </p:sp>
      <p:sp>
        <p:nvSpPr>
          <p:cNvPr id="13" name="Shape 11"/>
          <p:cNvSpPr/>
          <p:nvPr/>
        </p:nvSpPr>
        <p:spPr>
          <a:xfrm>
            <a:off x="3566160" y="2798064"/>
            <a:ext cx="1258214" cy="164592"/>
          </a:xfrm>
          <a:prstGeom prst="rect">
            <a:avLst/>
          </a:prstGeom>
          <a:solidFill>
            <a:srgbClr val="B8860B"/>
          </a:solidFill>
          <a:ln w="12700">
            <a:solidFill>
              <a:srgbClr val="B8860B"/>
            </a:solidFill>
            <a:prstDash val="solid"/>
          </a:ln>
        </p:spPr>
      </p:sp>
      <p:sp>
        <p:nvSpPr>
          <p:cNvPr id="14" name="Text 12"/>
          <p:cNvSpPr/>
          <p:nvPr/>
        </p:nvSpPr>
        <p:spPr>
          <a:xfrm>
            <a:off x="6675120" y="260604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Islam 28, Christianity 6, Buddhism 6, Hinduism 4, Sikhism 2, Confucianism 1.</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Judaism, Jainism, Taoism, Shinto, Ubuntu, Indigenous, Bahá'í, Zoroastrian.</a:t>
            </a:r>
            <a:endParaRPr lang="en-US" sz="1000" dirty="0"/>
          </a:p>
        </p:txBody>
      </p:sp>
      <p:sp>
        <p:nvSpPr>
          <p:cNvPr id="15" name="Shape 13"/>
          <p:cNvSpPr/>
          <p:nvPr/>
        </p:nvSpPr>
        <p:spPr>
          <a:xfrm>
            <a:off x="548640" y="3172968"/>
            <a:ext cx="11064240" cy="0"/>
          </a:xfrm>
          <a:prstGeom prst="line">
            <a:avLst/>
          </a:prstGeom>
          <a:noFill/>
          <a:ln w="9525">
            <a:solidFill>
              <a:srgbClr val="F1F5F9"/>
            </a:solidFill>
            <a:prstDash val="solid"/>
          </a:ln>
        </p:spPr>
      </p:sp>
      <p:sp>
        <p:nvSpPr>
          <p:cNvPr id="16" name="Text 14"/>
          <p:cNvSpPr/>
          <p:nvPr/>
        </p:nvSpPr>
        <p:spPr>
          <a:xfrm>
            <a:off x="548640" y="320040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Applied religious ethics</a:t>
            </a:r>
            <a:endParaRPr lang="en-US" sz="1300" dirty="0"/>
          </a:p>
        </p:txBody>
      </p:sp>
      <p:sp>
        <p:nvSpPr>
          <p:cNvPr id="17" name="Shape 15"/>
          <p:cNvSpPr/>
          <p:nvPr/>
        </p:nvSpPr>
        <p:spPr>
          <a:xfrm>
            <a:off x="3566160" y="3392424"/>
            <a:ext cx="2926080" cy="164592"/>
          </a:xfrm>
          <a:prstGeom prst="rect">
            <a:avLst/>
          </a:prstGeom>
          <a:solidFill>
            <a:srgbClr val="E5E7EB"/>
          </a:solidFill>
          <a:ln w="12700">
            <a:solidFill>
              <a:srgbClr val="E5E7EB"/>
            </a:solidFill>
            <a:prstDash val="solid"/>
          </a:ln>
        </p:spPr>
      </p:sp>
      <p:sp>
        <p:nvSpPr>
          <p:cNvPr id="18" name="Shape 16"/>
          <p:cNvSpPr/>
          <p:nvPr/>
        </p:nvSpPr>
        <p:spPr>
          <a:xfrm>
            <a:off x="3566160" y="3392424"/>
            <a:ext cx="380390" cy="164592"/>
          </a:xfrm>
          <a:prstGeom prst="rect">
            <a:avLst/>
          </a:prstGeom>
          <a:solidFill>
            <a:srgbClr val="B8860B"/>
          </a:solidFill>
          <a:ln w="12700">
            <a:solidFill>
              <a:srgbClr val="B8860B"/>
            </a:solidFill>
            <a:prstDash val="solid"/>
          </a:ln>
        </p:spPr>
      </p:sp>
      <p:sp>
        <p:nvSpPr>
          <p:cNvPr id="19" name="Text 17"/>
          <p:cNvSpPr/>
          <p:nvPr/>
        </p:nvSpPr>
        <p:spPr>
          <a:xfrm>
            <a:off x="6675120" y="320040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6 of 47 reach values-reasoning depth (A3 ≥ 75); the rest test recall.</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Muslim end-of-life care, Catholic IVF, Jew weighing Shabbat against emergency.</a:t>
            </a:r>
            <a:endParaRPr lang="en-US" sz="1000" dirty="0"/>
          </a:p>
        </p:txBody>
      </p:sp>
      <p:sp>
        <p:nvSpPr>
          <p:cNvPr id="20" name="Shape 18"/>
          <p:cNvSpPr/>
          <p:nvPr/>
        </p:nvSpPr>
        <p:spPr>
          <a:xfrm>
            <a:off x="548640" y="3767328"/>
            <a:ext cx="11064240" cy="0"/>
          </a:xfrm>
          <a:prstGeom prst="line">
            <a:avLst/>
          </a:prstGeom>
          <a:noFill/>
          <a:ln w="9525">
            <a:solidFill>
              <a:srgbClr val="F1F5F9"/>
            </a:solidFill>
            <a:prstDash val="solid"/>
          </a:ln>
        </p:spPr>
      </p:sp>
      <p:sp>
        <p:nvSpPr>
          <p:cNvPr id="21" name="Text 19"/>
          <p:cNvSpPr/>
          <p:nvPr/>
        </p:nvSpPr>
        <p:spPr>
          <a:xfrm>
            <a:off x="548640" y="379476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Pastoral and spiritual judgment</a:t>
            </a:r>
            <a:endParaRPr lang="en-US" sz="1300" dirty="0"/>
          </a:p>
        </p:txBody>
      </p:sp>
      <p:sp>
        <p:nvSpPr>
          <p:cNvPr id="22" name="Shape 20"/>
          <p:cNvSpPr/>
          <p:nvPr/>
        </p:nvSpPr>
        <p:spPr>
          <a:xfrm>
            <a:off x="3566160" y="3986784"/>
            <a:ext cx="2926080" cy="164592"/>
          </a:xfrm>
          <a:prstGeom prst="rect">
            <a:avLst/>
          </a:prstGeom>
          <a:solidFill>
            <a:srgbClr val="E5E7EB"/>
          </a:solidFill>
          <a:ln w="12700">
            <a:solidFill>
              <a:srgbClr val="E5E7EB"/>
            </a:solidFill>
            <a:prstDash val="solid"/>
          </a:ln>
        </p:spPr>
      </p:sp>
      <p:sp>
        <p:nvSpPr>
          <p:cNvPr id="23" name="Shape 21"/>
          <p:cNvSpPr/>
          <p:nvPr/>
        </p:nvSpPr>
        <p:spPr>
          <a:xfrm>
            <a:off x="3566160" y="3986784"/>
            <a:ext cx="117043" cy="164592"/>
          </a:xfrm>
          <a:prstGeom prst="rect">
            <a:avLst/>
          </a:prstGeom>
          <a:solidFill>
            <a:srgbClr val="B8860B"/>
          </a:solidFill>
          <a:ln w="12700">
            <a:solidFill>
              <a:srgbClr val="B8860B"/>
            </a:solidFill>
            <a:prstDash val="solid"/>
          </a:ln>
        </p:spPr>
      </p:sp>
      <p:sp>
        <p:nvSpPr>
          <p:cNvPr id="24" name="Text 22"/>
          <p:cNvSpPr/>
          <p:nvPr/>
        </p:nvSpPr>
        <p:spPr>
          <a:xfrm>
            <a:off x="6675120" y="379476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None of the 47 use a counseling-format design.</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Grieving widow questioning God, teen torn between faith and identity, convert in doubt.</a:t>
            </a:r>
            <a:endParaRPr lang="en-US" sz="1000" dirty="0"/>
          </a:p>
        </p:txBody>
      </p:sp>
      <p:sp>
        <p:nvSpPr>
          <p:cNvPr id="25" name="Shape 23"/>
          <p:cNvSpPr/>
          <p:nvPr/>
        </p:nvSpPr>
        <p:spPr>
          <a:xfrm>
            <a:off x="548640" y="4361688"/>
            <a:ext cx="11064240" cy="0"/>
          </a:xfrm>
          <a:prstGeom prst="line">
            <a:avLst/>
          </a:prstGeom>
          <a:noFill/>
          <a:ln w="9525">
            <a:solidFill>
              <a:srgbClr val="F1F5F9"/>
            </a:solidFill>
            <a:prstDash val="solid"/>
          </a:ln>
        </p:spPr>
      </p:sp>
      <p:sp>
        <p:nvSpPr>
          <p:cNvPr id="26" name="Text 24"/>
          <p:cNvSpPr/>
          <p:nvPr/>
        </p:nvSpPr>
        <p:spPr>
          <a:xfrm>
            <a:off x="548640" y="438912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Intra-tradition disagreement</a:t>
            </a:r>
            <a:endParaRPr lang="en-US" sz="1300" dirty="0"/>
          </a:p>
        </p:txBody>
      </p:sp>
      <p:sp>
        <p:nvSpPr>
          <p:cNvPr id="27" name="Shape 25"/>
          <p:cNvSpPr/>
          <p:nvPr/>
        </p:nvSpPr>
        <p:spPr>
          <a:xfrm>
            <a:off x="3566160" y="4581144"/>
            <a:ext cx="2926080" cy="164592"/>
          </a:xfrm>
          <a:prstGeom prst="rect">
            <a:avLst/>
          </a:prstGeom>
          <a:solidFill>
            <a:srgbClr val="E5E7EB"/>
          </a:solidFill>
          <a:ln w="12700">
            <a:solidFill>
              <a:srgbClr val="E5E7EB"/>
            </a:solidFill>
            <a:prstDash val="solid"/>
          </a:ln>
        </p:spPr>
      </p:sp>
      <p:sp>
        <p:nvSpPr>
          <p:cNvPr id="28" name="Shape 26"/>
          <p:cNvSpPr/>
          <p:nvPr/>
        </p:nvSpPr>
        <p:spPr>
          <a:xfrm>
            <a:off x="3566160" y="4581144"/>
            <a:ext cx="175565" cy="164592"/>
          </a:xfrm>
          <a:prstGeom prst="rect">
            <a:avLst/>
          </a:prstGeom>
          <a:solidFill>
            <a:srgbClr val="B8860B"/>
          </a:solidFill>
          <a:ln w="12700">
            <a:solidFill>
              <a:srgbClr val="B8860B"/>
            </a:solidFill>
            <a:prstDash val="solid"/>
          </a:ln>
        </p:spPr>
      </p:sp>
      <p:sp>
        <p:nvSpPr>
          <p:cNvPr id="29" name="Text 27"/>
          <p:cNvSpPr/>
          <p:nvPr/>
        </p:nvSpPr>
        <p:spPr>
          <a:xfrm>
            <a:off x="6675120" y="438912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94% of the 47 treat their tradition as monolithic.</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Sunni vs Shia, Reform vs Orthodox, Theravada vs Mahayana, Catholic vs Protestant.</a:t>
            </a:r>
            <a:endParaRPr lang="en-US" sz="1000" dirty="0"/>
          </a:p>
        </p:txBody>
      </p:sp>
      <p:sp>
        <p:nvSpPr>
          <p:cNvPr id="30" name="Shape 28"/>
          <p:cNvSpPr/>
          <p:nvPr/>
        </p:nvSpPr>
        <p:spPr>
          <a:xfrm>
            <a:off x="548640" y="4956048"/>
            <a:ext cx="11064240" cy="0"/>
          </a:xfrm>
          <a:prstGeom prst="line">
            <a:avLst/>
          </a:prstGeom>
          <a:noFill/>
          <a:ln w="9525">
            <a:solidFill>
              <a:srgbClr val="F1F5F9"/>
            </a:solidFill>
            <a:prstDash val="solid"/>
          </a:ln>
        </p:spPr>
      </p:sp>
      <p:sp>
        <p:nvSpPr>
          <p:cNvPr id="31" name="Text 29"/>
          <p:cNvSpPr/>
          <p:nvPr/>
        </p:nvSpPr>
        <p:spPr>
          <a:xfrm>
            <a:off x="548640" y="498348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Tradition-specific reasoning</a:t>
            </a:r>
            <a:endParaRPr lang="en-US" sz="1300" dirty="0"/>
          </a:p>
        </p:txBody>
      </p:sp>
      <p:sp>
        <p:nvSpPr>
          <p:cNvPr id="32" name="Shape 30"/>
          <p:cNvSpPr/>
          <p:nvPr/>
        </p:nvSpPr>
        <p:spPr>
          <a:xfrm>
            <a:off x="3566160" y="5175504"/>
            <a:ext cx="2926080" cy="164592"/>
          </a:xfrm>
          <a:prstGeom prst="rect">
            <a:avLst/>
          </a:prstGeom>
          <a:solidFill>
            <a:srgbClr val="E5E7EB"/>
          </a:solidFill>
          <a:ln w="12700">
            <a:solidFill>
              <a:srgbClr val="E5E7EB"/>
            </a:solidFill>
            <a:prstDash val="solid"/>
          </a:ln>
        </p:spPr>
      </p:sp>
      <p:sp>
        <p:nvSpPr>
          <p:cNvPr id="33" name="Shape 31"/>
          <p:cNvSpPr/>
          <p:nvPr/>
        </p:nvSpPr>
        <p:spPr>
          <a:xfrm>
            <a:off x="3566160" y="5175504"/>
            <a:ext cx="555955" cy="164592"/>
          </a:xfrm>
          <a:prstGeom prst="rect">
            <a:avLst/>
          </a:prstGeom>
          <a:solidFill>
            <a:srgbClr val="B8860B"/>
          </a:solidFill>
          <a:ln w="12700">
            <a:solidFill>
              <a:srgbClr val="B8860B"/>
            </a:solidFill>
            <a:prstDash val="solid"/>
          </a:ln>
        </p:spPr>
      </p:sp>
      <p:sp>
        <p:nvSpPr>
          <p:cNvPr id="34" name="Text 32"/>
          <p:cNvSpPr/>
          <p:nvPr/>
        </p:nvSpPr>
        <p:spPr>
          <a:xfrm>
            <a:off x="6675120" y="498348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19% of the 47 reach A3 ≥ 50; most fall to generic factual recall.</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Tasks that require halakha, fiqh, dharma, magisterium, or li to answer.</a:t>
            </a:r>
            <a:endParaRPr lang="en-US" sz="1000" dirty="0"/>
          </a:p>
        </p:txBody>
      </p:sp>
      <p:sp>
        <p:nvSpPr>
          <p:cNvPr id="35" name="Shape 33"/>
          <p:cNvSpPr/>
          <p:nvPr/>
        </p:nvSpPr>
        <p:spPr>
          <a:xfrm>
            <a:off x="548640" y="5550408"/>
            <a:ext cx="11064240" cy="0"/>
          </a:xfrm>
          <a:prstGeom prst="line">
            <a:avLst/>
          </a:prstGeom>
          <a:noFill/>
          <a:ln w="9525">
            <a:solidFill>
              <a:srgbClr val="F1F5F9"/>
            </a:solidFill>
            <a:prstDash val="solid"/>
          </a:ln>
        </p:spPr>
      </p:sp>
      <p:sp>
        <p:nvSpPr>
          <p:cNvPr id="36" name="Text 34"/>
          <p:cNvSpPr/>
          <p:nvPr/>
        </p:nvSpPr>
        <p:spPr>
          <a:xfrm>
            <a:off x="548640" y="557784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Expert-reviewed rubrics</a:t>
            </a:r>
            <a:endParaRPr lang="en-US" sz="1300" dirty="0"/>
          </a:p>
        </p:txBody>
      </p:sp>
      <p:sp>
        <p:nvSpPr>
          <p:cNvPr id="37" name="Shape 35"/>
          <p:cNvSpPr/>
          <p:nvPr/>
        </p:nvSpPr>
        <p:spPr>
          <a:xfrm>
            <a:off x="3566160" y="5769864"/>
            <a:ext cx="2926080" cy="164592"/>
          </a:xfrm>
          <a:prstGeom prst="rect">
            <a:avLst/>
          </a:prstGeom>
          <a:solidFill>
            <a:srgbClr val="E5E7EB"/>
          </a:solidFill>
          <a:ln w="12700">
            <a:solidFill>
              <a:srgbClr val="E5E7EB"/>
            </a:solidFill>
            <a:prstDash val="solid"/>
          </a:ln>
        </p:spPr>
      </p:sp>
      <p:sp>
        <p:nvSpPr>
          <p:cNvPr id="38" name="Shape 36"/>
          <p:cNvSpPr/>
          <p:nvPr/>
        </p:nvSpPr>
        <p:spPr>
          <a:xfrm>
            <a:off x="3566160" y="5769864"/>
            <a:ext cx="438912" cy="164592"/>
          </a:xfrm>
          <a:prstGeom prst="rect">
            <a:avLst/>
          </a:prstGeom>
          <a:solidFill>
            <a:srgbClr val="B8860B"/>
          </a:solidFill>
          <a:ln w="12700">
            <a:solidFill>
              <a:srgbClr val="B8860B"/>
            </a:solidFill>
            <a:prstDash val="solid"/>
          </a:ln>
        </p:spPr>
      </p:sp>
      <p:sp>
        <p:nvSpPr>
          <p:cNvPr id="39" name="Text 37"/>
          <p:cNvSpPr/>
          <p:nvPr/>
        </p:nvSpPr>
        <p:spPr>
          <a:xfrm>
            <a:off x="6675120" y="557784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Theological advisory input is rare; the 12-member council on this dashboard is the exception.</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Rabbi, imam, monk, or theologian review of items at scale.</a:t>
            </a:r>
            <a:endParaRPr lang="en-US" sz="1000" dirty="0"/>
          </a:p>
        </p:txBody>
      </p:sp>
      <p:sp>
        <p:nvSpPr>
          <p:cNvPr id="40" name="Shape 38"/>
          <p:cNvSpPr/>
          <p:nvPr/>
        </p:nvSpPr>
        <p:spPr>
          <a:xfrm>
            <a:off x="548640" y="6144768"/>
            <a:ext cx="11064240" cy="0"/>
          </a:xfrm>
          <a:prstGeom prst="line">
            <a:avLst/>
          </a:prstGeom>
          <a:noFill/>
          <a:ln w="9525">
            <a:solidFill>
              <a:srgbClr val="F1F5F9"/>
            </a:solidFill>
            <a:prstDash val="solid"/>
          </a:ln>
        </p:spPr>
      </p:sp>
      <p:sp>
        <p:nvSpPr>
          <p:cNvPr id="41" name="Shape 39"/>
          <p:cNvSpPr/>
          <p:nvPr/>
        </p:nvSpPr>
        <p:spPr>
          <a:xfrm>
            <a:off x="0" y="6217920"/>
            <a:ext cx="12161520" cy="640080"/>
          </a:xfrm>
          <a:prstGeom prst="rect">
            <a:avLst/>
          </a:prstGeom>
          <a:solidFill>
            <a:srgbClr val="0F1E3D"/>
          </a:solidFill>
          <a:ln w="12700">
            <a:solidFill>
              <a:srgbClr val="0F1E3D"/>
            </a:solidFill>
            <a:prstDash val="solid"/>
          </a:ln>
        </p:spPr>
      </p:sp>
      <p:sp>
        <p:nvSpPr>
          <p:cNvPr id="42" name="Text 40"/>
          <p:cNvSpPr/>
          <p:nvPr/>
        </p:nvSpPr>
        <p:spPr>
          <a:xfrm>
            <a:off x="548640" y="6217920"/>
            <a:ext cx="1280160" cy="640080"/>
          </a:xfrm>
          <a:prstGeom prst="rect">
            <a:avLst/>
          </a:prstGeom>
          <a:noFill/>
        </p:spPr>
        <p:txBody>
          <a:bodyPr wrap="square" lIns="0" tIns="0" rIns="0" bIns="0" rtlCol="0" anchor="ctr"/>
          <a:lstStyle/>
          <a:p>
            <a:pPr marL="0" indent="0" algn="l">
              <a:buNone/>
            </a:pPr>
            <a:r>
              <a:rPr lang="en-US" sz="1000" b="1" kern="0" spc="300" dirty="0">
                <a:solidFill>
                  <a:srgbClr val="B8860B"/>
                </a:solidFill>
                <a:latin typeface="Calibri" pitchFamily="34" charset="0"/>
                <a:ea typeface="Calibri" pitchFamily="34" charset="-122"/>
                <a:cs typeface="Calibri" pitchFamily="34" charset="-120"/>
              </a:rPr>
              <a:t>THE GAP</a:t>
            </a:r>
            <a:endParaRPr lang="en-US" sz="1000" dirty="0"/>
          </a:p>
        </p:txBody>
      </p:sp>
      <p:sp>
        <p:nvSpPr>
          <p:cNvPr id="43" name="Text 41"/>
          <p:cNvSpPr/>
          <p:nvPr/>
        </p:nvSpPr>
        <p:spPr>
          <a:xfrm>
            <a:off x="1828800" y="6217920"/>
            <a:ext cx="10332720" cy="640080"/>
          </a:xfrm>
          <a:prstGeom prst="rect">
            <a:avLst/>
          </a:prstGeom>
          <a:noFill/>
        </p:spPr>
        <p:txBody>
          <a:bodyPr wrap="square" lIns="0" tIns="0" rIns="0" bIns="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Religious-judgment benchmarks built scenario-by-scenario inside specific traditions, with expert review.</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74320"/>
            <a:ext cx="640080" cy="457200"/>
          </a:xfrm>
          <a:prstGeom prst="rect">
            <a:avLst/>
          </a:prstGeom>
          <a:noFill/>
        </p:spPr>
        <p:txBody>
          <a:bodyPr wrap="square" lIns="0" tIns="0" rIns="0" bIns="0" rtlCol="0" anchor="ctr"/>
          <a:lstStyle/>
          <a:p>
            <a:pPr marL="0" indent="0" algn="l">
              <a:buNone/>
            </a:pPr>
            <a:r>
              <a:rPr lang="en-US" sz="1800" b="1" kern="0" spc="300" dirty="0">
                <a:solidFill>
                  <a:srgbClr val="B8860B"/>
                </a:solidFill>
                <a:latin typeface="Calibri" pitchFamily="34" charset="0"/>
                <a:ea typeface="Calibri" pitchFamily="34" charset="-122"/>
                <a:cs typeface="Calibri" pitchFamily="34" charset="-120"/>
              </a:rPr>
              <a:t>02</a:t>
            </a:r>
            <a:endParaRPr lang="en-US" sz="1800" dirty="0"/>
          </a:p>
        </p:txBody>
      </p:sp>
      <p:sp>
        <p:nvSpPr>
          <p:cNvPr id="3" name="Text 1"/>
          <p:cNvSpPr/>
          <p:nvPr/>
        </p:nvSpPr>
        <p:spPr>
          <a:xfrm>
            <a:off x="1188720" y="274320"/>
            <a:ext cx="10424160" cy="457200"/>
          </a:xfrm>
          <a:prstGeom prst="rect">
            <a:avLst/>
          </a:prstGeom>
          <a:noFill/>
        </p:spPr>
        <p:txBody>
          <a:bodyPr wrap="square" lIns="0" tIns="0" rIns="0" bIns="0" rtlCol="0" anchor="ctr"/>
          <a:lstStyle/>
          <a:p>
            <a:pPr marL="0" indent="0" algn="l">
              <a:buNone/>
            </a:pPr>
            <a:r>
              <a:rPr lang="en-US" sz="1800" b="1" kern="0" spc="500" dirty="0">
                <a:solidFill>
                  <a:srgbClr val="B8860B"/>
                </a:solidFill>
                <a:latin typeface="Calibri" pitchFamily="34" charset="0"/>
                <a:ea typeface="Calibri" pitchFamily="34" charset="-122"/>
                <a:cs typeface="Calibri" pitchFamily="34" charset="-120"/>
              </a:rPr>
              <a:t>TRACK B  ·  KNOWLEDGE</a:t>
            </a:r>
            <a:endParaRPr lang="en-US" sz="1800" dirty="0"/>
          </a:p>
        </p:txBody>
      </p:sp>
      <p:sp>
        <p:nvSpPr>
          <p:cNvPr id="4" name="Text 2"/>
          <p:cNvSpPr/>
          <p:nvPr/>
        </p:nvSpPr>
        <p:spPr>
          <a:xfrm>
            <a:off x="548640" y="777240"/>
            <a:ext cx="11064240" cy="640080"/>
          </a:xfrm>
          <a:prstGeom prst="rect">
            <a:avLst/>
          </a:prstGeom>
          <a:noFill/>
        </p:spPr>
        <p:txBody>
          <a:bodyPr wrap="square" lIns="0" tIns="0" rIns="0" bIns="0" rtlCol="0" anchor="t"/>
          <a:lstStyle/>
          <a:p>
            <a:pPr marL="0" indent="0" algn="l">
              <a:buNone/>
            </a:pPr>
            <a:r>
              <a:rPr lang="en-US" sz="3000" b="1" dirty="0">
                <a:solidFill>
                  <a:srgbClr val="0F1E3D"/>
                </a:solidFill>
                <a:latin typeface="Georgia" panose="02040502050405090303" pitchFamily="34" charset="0"/>
                <a:ea typeface="Georgia" panose="02040502050405090303" pitchFamily="34" charset="-122"/>
                <a:cs typeface="Georgia" panose="02040502050405090303" pitchFamily="34" charset="-120"/>
              </a:rPr>
              <a:t>Knowledge tasks are not source-aware</a:t>
            </a:r>
            <a:endParaRPr lang="en-US" sz="3000" dirty="0"/>
          </a:p>
        </p:txBody>
      </p:sp>
      <p:sp>
        <p:nvSpPr>
          <p:cNvPr id="5" name="Text 3"/>
          <p:cNvSpPr/>
          <p:nvPr/>
        </p:nvSpPr>
        <p:spPr>
          <a:xfrm>
            <a:off x="548640" y="1417320"/>
            <a:ext cx="11064240" cy="457200"/>
          </a:xfrm>
          <a:prstGeom prst="rect">
            <a:avLst/>
          </a:prstGeom>
          <a:noFill/>
        </p:spPr>
        <p:txBody>
          <a:bodyPr wrap="square" lIns="0" tIns="0" rIns="0" bIns="0" rtlCol="0" anchor="t"/>
          <a:lstStyle/>
          <a:p>
            <a:pPr marL="0" indent="0" algn="l">
              <a:buNone/>
            </a:pPr>
            <a:r>
              <a:rPr lang="en-US" sz="1400" i="1" dirty="0">
                <a:solidFill>
                  <a:srgbClr val="475569"/>
                </a:solidFill>
                <a:latin typeface="Calibri" pitchFamily="34" charset="0"/>
                <a:ea typeface="Calibri" pitchFamily="34" charset="-122"/>
                <a:cs typeface="Calibri" pitchFamily="34" charset="-120"/>
              </a:rPr>
              <a:t>A complete MultiFaithBench tests source-grounded religious knowledge across traditions, languages, and authority structures. Most current assets stop at scripture or fact recall.</a:t>
            </a:r>
            <a:endParaRPr lang="en-US" sz="1400" dirty="0"/>
          </a:p>
        </p:txBody>
      </p:sp>
      <p:sp>
        <p:nvSpPr>
          <p:cNvPr id="6" name="Shape 4"/>
          <p:cNvSpPr/>
          <p:nvPr/>
        </p:nvSpPr>
        <p:spPr>
          <a:xfrm>
            <a:off x="868680" y="1965960"/>
            <a:ext cx="3931920" cy="777240"/>
          </a:xfrm>
          <a:prstGeom prst="rect">
            <a:avLst/>
          </a:prstGeom>
          <a:solidFill>
            <a:srgbClr val="E2E8F0"/>
          </a:solidFill>
          <a:ln w="12700">
            <a:solidFill>
              <a:srgbClr val="E2E8F0"/>
            </a:solidFill>
            <a:prstDash val="solid"/>
          </a:ln>
        </p:spPr>
      </p:sp>
      <p:sp>
        <p:nvSpPr>
          <p:cNvPr id="7" name="Text 5"/>
          <p:cNvSpPr/>
          <p:nvPr/>
        </p:nvSpPr>
        <p:spPr>
          <a:xfrm>
            <a:off x="1051560" y="2057400"/>
            <a:ext cx="3566160" cy="292608"/>
          </a:xfrm>
          <a:prstGeom prst="rect">
            <a:avLst/>
          </a:prstGeom>
          <a:noFill/>
        </p:spPr>
        <p:txBody>
          <a:bodyPr wrap="square" lIns="0" tIns="0" rIns="0" bIns="0" rtlCol="0" anchor="ctr"/>
          <a:lstStyle/>
          <a:p>
            <a:pPr marL="0" indent="0" algn="l">
              <a:buNone/>
            </a:pPr>
            <a:r>
              <a:rPr lang="en-US" sz="1100" b="1" kern="0" spc="200" dirty="0">
                <a:solidFill>
                  <a:srgbClr val="475569"/>
                </a:solidFill>
                <a:latin typeface="Calibri" pitchFamily="34" charset="0"/>
                <a:ea typeface="Calibri" pitchFamily="34" charset="-122"/>
                <a:cs typeface="Calibri" pitchFamily="34" charset="-120"/>
              </a:rPr>
              <a:t>RESOURCE LAYER</a:t>
            </a:r>
            <a:endParaRPr lang="en-US" sz="1100" dirty="0"/>
          </a:p>
        </p:txBody>
      </p:sp>
      <p:sp>
        <p:nvSpPr>
          <p:cNvPr id="8" name="Text 6"/>
          <p:cNvSpPr/>
          <p:nvPr/>
        </p:nvSpPr>
        <p:spPr>
          <a:xfrm>
            <a:off x="1051560" y="2350008"/>
            <a:ext cx="3566160" cy="365760"/>
          </a:xfrm>
          <a:prstGeom prst="rect">
            <a:avLst/>
          </a:prstGeom>
          <a:noFill/>
        </p:spPr>
        <p:txBody>
          <a:bodyPr wrap="square" lIns="0" tIns="0" rIns="0" bIns="0" rtlCol="0" anchor="t"/>
          <a:lstStyle/>
          <a:p>
            <a:pPr marL="0" indent="0" algn="l">
              <a:buNone/>
            </a:pPr>
            <a:r>
              <a:rPr lang="en-US" sz="1100" dirty="0">
                <a:solidFill>
                  <a:srgbClr val="475569"/>
                </a:solidFill>
                <a:latin typeface="Calibri" pitchFamily="34" charset="0"/>
                <a:ea typeface="Calibri" pitchFamily="34" charset="-122"/>
                <a:cs typeface="Calibri" pitchFamily="34" charset="-120"/>
              </a:rPr>
              <a:t>Religious text and corpora exist. No question, label, or metric.</a:t>
            </a:r>
            <a:endParaRPr lang="en-US" sz="1100" dirty="0"/>
          </a:p>
        </p:txBody>
      </p:sp>
      <p:sp>
        <p:nvSpPr>
          <p:cNvPr id="9" name="Shape 7"/>
          <p:cNvSpPr/>
          <p:nvPr/>
        </p:nvSpPr>
        <p:spPr>
          <a:xfrm>
            <a:off x="4754880" y="2244852"/>
            <a:ext cx="201168" cy="219456"/>
          </a:xfrm>
          <a:prstGeom prst="chevron">
            <a:avLst/>
          </a:prstGeom>
          <a:solidFill>
            <a:srgbClr val="94A3B8"/>
          </a:solidFill>
          <a:ln w="12700">
            <a:solidFill>
              <a:srgbClr val="94A3B8"/>
            </a:solidFill>
            <a:prstDash val="solid"/>
          </a:ln>
        </p:spPr>
      </p:sp>
      <p:sp>
        <p:nvSpPr>
          <p:cNvPr id="10" name="Shape 8"/>
          <p:cNvSpPr/>
          <p:nvPr/>
        </p:nvSpPr>
        <p:spPr>
          <a:xfrm>
            <a:off x="4937760" y="1965960"/>
            <a:ext cx="3108960" cy="777240"/>
          </a:xfrm>
          <a:prstGeom prst="rect">
            <a:avLst/>
          </a:prstGeom>
          <a:solidFill>
            <a:srgbClr val="1F3358"/>
          </a:solidFill>
          <a:ln w="12700">
            <a:solidFill>
              <a:srgbClr val="1F3358"/>
            </a:solidFill>
            <a:prstDash val="solid"/>
          </a:ln>
        </p:spPr>
      </p:sp>
      <p:sp>
        <p:nvSpPr>
          <p:cNvPr id="11" name="Text 9"/>
          <p:cNvSpPr/>
          <p:nvPr/>
        </p:nvSpPr>
        <p:spPr>
          <a:xfrm>
            <a:off x="5120640" y="2057400"/>
            <a:ext cx="2743200" cy="292608"/>
          </a:xfrm>
          <a:prstGeom prst="rect">
            <a:avLst/>
          </a:prstGeom>
          <a:noFill/>
        </p:spPr>
        <p:txBody>
          <a:bodyPr wrap="square" lIns="0" tIns="0" rIns="0" bIns="0" rtlCol="0" anchor="ctr"/>
          <a:lstStyle/>
          <a:p>
            <a:pPr marL="0" indent="0" algn="l">
              <a:buNone/>
            </a:pPr>
            <a:r>
              <a:rPr lang="en-US" sz="1100" b="1" kern="0" spc="200" dirty="0">
                <a:solidFill>
                  <a:srgbClr val="FFFFFF"/>
                </a:solidFill>
                <a:latin typeface="Calibri" pitchFamily="34" charset="0"/>
                <a:ea typeface="Calibri" pitchFamily="34" charset="-122"/>
                <a:cs typeface="Calibri" pitchFamily="34" charset="-120"/>
              </a:rPr>
              <a:t>TRACK B</a:t>
            </a:r>
            <a:endParaRPr lang="en-US" sz="1100" dirty="0"/>
          </a:p>
        </p:txBody>
      </p:sp>
      <p:sp>
        <p:nvSpPr>
          <p:cNvPr id="12" name="Text 10"/>
          <p:cNvSpPr/>
          <p:nvPr/>
        </p:nvSpPr>
        <p:spPr>
          <a:xfrm>
            <a:off x="5120640" y="2350008"/>
            <a:ext cx="2743200" cy="365760"/>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Question + answer + metric exist. The benchmark runs.</a:t>
            </a:r>
            <a:endParaRPr lang="en-US" sz="1100" dirty="0"/>
          </a:p>
        </p:txBody>
      </p:sp>
      <p:sp>
        <p:nvSpPr>
          <p:cNvPr id="13" name="Shape 11"/>
          <p:cNvSpPr/>
          <p:nvPr/>
        </p:nvSpPr>
        <p:spPr>
          <a:xfrm>
            <a:off x="8001000" y="2244852"/>
            <a:ext cx="201168" cy="219456"/>
          </a:xfrm>
          <a:prstGeom prst="chevron">
            <a:avLst/>
          </a:prstGeom>
          <a:solidFill>
            <a:srgbClr val="94A3B8"/>
          </a:solidFill>
          <a:ln w="12700">
            <a:solidFill>
              <a:srgbClr val="94A3B8"/>
            </a:solidFill>
            <a:prstDash val="solid"/>
          </a:ln>
        </p:spPr>
      </p:sp>
      <p:sp>
        <p:nvSpPr>
          <p:cNvPr id="14" name="Shape 12"/>
          <p:cNvSpPr/>
          <p:nvPr/>
        </p:nvSpPr>
        <p:spPr>
          <a:xfrm>
            <a:off x="8183880" y="1965960"/>
            <a:ext cx="3108960" cy="777240"/>
          </a:xfrm>
          <a:prstGeom prst="rect">
            <a:avLst/>
          </a:prstGeom>
          <a:solidFill>
            <a:srgbClr val="B8860B"/>
          </a:solidFill>
          <a:ln w="12700">
            <a:solidFill>
              <a:srgbClr val="B8860B"/>
            </a:solidFill>
            <a:prstDash val="solid"/>
          </a:ln>
        </p:spPr>
      </p:sp>
      <p:sp>
        <p:nvSpPr>
          <p:cNvPr id="15" name="Text 13"/>
          <p:cNvSpPr/>
          <p:nvPr/>
        </p:nvSpPr>
        <p:spPr>
          <a:xfrm>
            <a:off x="8366760" y="2057400"/>
            <a:ext cx="2743200" cy="292608"/>
          </a:xfrm>
          <a:prstGeom prst="rect">
            <a:avLst/>
          </a:prstGeom>
          <a:noFill/>
        </p:spPr>
        <p:txBody>
          <a:bodyPr wrap="square" lIns="0" tIns="0" rIns="0" bIns="0" rtlCol="0" anchor="ctr"/>
          <a:lstStyle/>
          <a:p>
            <a:pPr marL="0" indent="0" algn="l">
              <a:buNone/>
            </a:pPr>
            <a:r>
              <a:rPr lang="en-US" sz="1100" b="1" kern="0" spc="200" dirty="0">
                <a:solidFill>
                  <a:srgbClr val="FFFFFF"/>
                </a:solidFill>
                <a:latin typeface="Calibri" pitchFamily="34" charset="0"/>
                <a:ea typeface="Calibri" pitchFamily="34" charset="-122"/>
                <a:cs typeface="Calibri" pitchFamily="34" charset="-120"/>
              </a:rPr>
              <a:t>SOURCE-AWARE TRACK B</a:t>
            </a:r>
            <a:endParaRPr lang="en-US" sz="1100" dirty="0"/>
          </a:p>
        </p:txBody>
      </p:sp>
      <p:sp>
        <p:nvSpPr>
          <p:cNvPr id="16" name="Text 14"/>
          <p:cNvSpPr/>
          <p:nvPr/>
        </p:nvSpPr>
        <p:spPr>
          <a:xfrm>
            <a:off x="8366760" y="2350008"/>
            <a:ext cx="2743200" cy="365760"/>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Cites, respects authority, faithful to source. The missing tier.</a:t>
            </a:r>
            <a:endParaRPr lang="en-US" sz="1100" dirty="0"/>
          </a:p>
        </p:txBody>
      </p:sp>
      <p:sp>
        <p:nvSpPr>
          <p:cNvPr id="17" name="Text 15"/>
          <p:cNvSpPr/>
          <p:nvPr/>
        </p:nvSpPr>
        <p:spPr>
          <a:xfrm>
            <a:off x="548640" y="2834640"/>
            <a:ext cx="8595360" cy="274320"/>
          </a:xfrm>
          <a:prstGeom prst="rect">
            <a:avLst/>
          </a:prstGeom>
          <a:noFill/>
        </p:spPr>
        <p:txBody>
          <a:bodyPr wrap="square" lIns="0" tIns="0" rIns="0" bIns="0" rtlCol="0" anchor="ctr"/>
          <a:lstStyle/>
          <a:p>
            <a:pPr marL="0" indent="0" algn="l">
              <a:buNone/>
            </a:pPr>
            <a:r>
              <a:rPr lang="en-US" sz="1000" b="1" kern="0" spc="300" dirty="0">
                <a:solidFill>
                  <a:srgbClr val="0F1E3D"/>
                </a:solidFill>
                <a:latin typeface="Calibri" pitchFamily="34" charset="0"/>
                <a:ea typeface="Calibri" pitchFamily="34" charset="-122"/>
                <a:cs typeface="Calibri" pitchFamily="34" charset="-120"/>
              </a:rPr>
              <a:t>MISSING LAYERS IN THE KNOWLEDGE BENCHMARK ECOSYSTEM</a:t>
            </a:r>
            <a:endParaRPr lang="en-US" sz="1000" dirty="0"/>
          </a:p>
        </p:txBody>
      </p:sp>
      <p:sp>
        <p:nvSpPr>
          <p:cNvPr id="18" name="Shape 16"/>
          <p:cNvSpPr/>
          <p:nvPr/>
        </p:nvSpPr>
        <p:spPr>
          <a:xfrm>
            <a:off x="9326880" y="2880360"/>
            <a:ext cx="201168" cy="128016"/>
          </a:xfrm>
          <a:prstGeom prst="rect">
            <a:avLst/>
          </a:prstGeom>
          <a:solidFill>
            <a:srgbClr val="B8860B"/>
          </a:solidFill>
          <a:ln w="12700">
            <a:solidFill>
              <a:srgbClr val="B8860B"/>
            </a:solidFill>
            <a:prstDash val="solid"/>
          </a:ln>
        </p:spPr>
      </p:sp>
      <p:sp>
        <p:nvSpPr>
          <p:cNvPr id="19" name="Text 17"/>
          <p:cNvSpPr/>
          <p:nvPr/>
        </p:nvSpPr>
        <p:spPr>
          <a:xfrm>
            <a:off x="9601200" y="2834640"/>
            <a:ext cx="777240" cy="219456"/>
          </a:xfrm>
          <a:prstGeom prst="rect">
            <a:avLst/>
          </a:prstGeom>
          <a:noFill/>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present</a:t>
            </a:r>
            <a:endParaRPr lang="en-US" sz="900" dirty="0"/>
          </a:p>
        </p:txBody>
      </p:sp>
      <p:sp>
        <p:nvSpPr>
          <p:cNvPr id="20" name="Shape 18"/>
          <p:cNvSpPr/>
          <p:nvPr/>
        </p:nvSpPr>
        <p:spPr>
          <a:xfrm>
            <a:off x="10469880" y="2880360"/>
            <a:ext cx="201168" cy="128016"/>
          </a:xfrm>
          <a:prstGeom prst="rect">
            <a:avLst/>
          </a:prstGeom>
          <a:solidFill>
            <a:srgbClr val="E5E7EB"/>
          </a:solidFill>
          <a:ln w="12700">
            <a:solidFill>
              <a:srgbClr val="E5E7EB"/>
            </a:solidFill>
            <a:prstDash val="solid"/>
          </a:ln>
        </p:spPr>
      </p:sp>
      <p:sp>
        <p:nvSpPr>
          <p:cNvPr id="21" name="Text 19"/>
          <p:cNvSpPr/>
          <p:nvPr/>
        </p:nvSpPr>
        <p:spPr>
          <a:xfrm>
            <a:off x="10744200" y="2834640"/>
            <a:ext cx="777240" cy="219456"/>
          </a:xfrm>
          <a:prstGeom prst="rect">
            <a:avLst/>
          </a:prstGeom>
          <a:noFill/>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missing</a:t>
            </a:r>
            <a:endParaRPr lang="en-US" sz="900" dirty="0"/>
          </a:p>
        </p:txBody>
      </p:sp>
      <p:sp>
        <p:nvSpPr>
          <p:cNvPr id="22" name="Text 20"/>
          <p:cNvSpPr/>
          <p:nvPr/>
        </p:nvSpPr>
        <p:spPr>
          <a:xfrm>
            <a:off x="548640" y="324612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Balanced tradition coverage</a:t>
            </a:r>
            <a:endParaRPr lang="en-US" sz="1300" dirty="0"/>
          </a:p>
        </p:txBody>
      </p:sp>
      <p:sp>
        <p:nvSpPr>
          <p:cNvPr id="23" name="Shape 21"/>
          <p:cNvSpPr/>
          <p:nvPr/>
        </p:nvSpPr>
        <p:spPr>
          <a:xfrm>
            <a:off x="3566160" y="3438144"/>
            <a:ext cx="2926080" cy="164592"/>
          </a:xfrm>
          <a:prstGeom prst="rect">
            <a:avLst/>
          </a:prstGeom>
          <a:solidFill>
            <a:srgbClr val="E5E7EB"/>
          </a:solidFill>
          <a:ln w="12700">
            <a:solidFill>
              <a:srgbClr val="E5E7EB"/>
            </a:solidFill>
            <a:prstDash val="solid"/>
          </a:ln>
        </p:spPr>
      </p:sp>
      <p:sp>
        <p:nvSpPr>
          <p:cNvPr id="24" name="Shape 22"/>
          <p:cNvSpPr/>
          <p:nvPr/>
        </p:nvSpPr>
        <p:spPr>
          <a:xfrm>
            <a:off x="3566160" y="3438144"/>
            <a:ext cx="731520" cy="164592"/>
          </a:xfrm>
          <a:prstGeom prst="rect">
            <a:avLst/>
          </a:prstGeom>
          <a:solidFill>
            <a:srgbClr val="B8860B"/>
          </a:solidFill>
          <a:ln w="12700">
            <a:solidFill>
              <a:srgbClr val="B8860B"/>
            </a:solidFill>
            <a:prstDash val="solid"/>
          </a:ln>
        </p:spPr>
      </p:sp>
      <p:sp>
        <p:nvSpPr>
          <p:cNvPr id="25" name="Text 23"/>
          <p:cNvSpPr/>
          <p:nvPr/>
        </p:nvSpPr>
        <p:spPr>
          <a:xfrm>
            <a:off x="6675120" y="324612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60% of the 47 are Islamic, mostly Quranic QA repurposed from Arabic NLP.</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Source-grounded QA for Sikh, Jain, Daoist, Bahá'í, indigenous traditions.</a:t>
            </a:r>
            <a:endParaRPr lang="en-US" sz="1000" dirty="0"/>
          </a:p>
        </p:txBody>
      </p:sp>
      <p:sp>
        <p:nvSpPr>
          <p:cNvPr id="26" name="Shape 24"/>
          <p:cNvSpPr/>
          <p:nvPr/>
        </p:nvSpPr>
        <p:spPr>
          <a:xfrm>
            <a:off x="548640" y="3813048"/>
            <a:ext cx="11064240" cy="0"/>
          </a:xfrm>
          <a:prstGeom prst="line">
            <a:avLst/>
          </a:prstGeom>
          <a:noFill/>
          <a:ln w="9525">
            <a:solidFill>
              <a:srgbClr val="F1F5F9"/>
            </a:solidFill>
            <a:prstDash val="solid"/>
          </a:ln>
        </p:spPr>
      </p:sp>
      <p:sp>
        <p:nvSpPr>
          <p:cNvPr id="27" name="Text 25"/>
          <p:cNvSpPr/>
          <p:nvPr/>
        </p:nvSpPr>
        <p:spPr>
          <a:xfrm>
            <a:off x="548640" y="3721608"/>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Authority-aware answering</a:t>
            </a:r>
            <a:endParaRPr lang="en-US" sz="1300" dirty="0"/>
          </a:p>
        </p:txBody>
      </p:sp>
      <p:sp>
        <p:nvSpPr>
          <p:cNvPr id="28" name="Shape 26"/>
          <p:cNvSpPr/>
          <p:nvPr/>
        </p:nvSpPr>
        <p:spPr>
          <a:xfrm>
            <a:off x="3566160" y="3913632"/>
            <a:ext cx="2926080" cy="164592"/>
          </a:xfrm>
          <a:prstGeom prst="rect">
            <a:avLst/>
          </a:prstGeom>
          <a:solidFill>
            <a:srgbClr val="E5E7EB"/>
          </a:solidFill>
          <a:ln w="12700">
            <a:solidFill>
              <a:srgbClr val="E5E7EB"/>
            </a:solidFill>
            <a:prstDash val="solid"/>
          </a:ln>
        </p:spPr>
      </p:sp>
      <p:sp>
        <p:nvSpPr>
          <p:cNvPr id="29" name="Shape 27"/>
          <p:cNvSpPr/>
          <p:nvPr/>
        </p:nvSpPr>
        <p:spPr>
          <a:xfrm>
            <a:off x="3566160" y="3913632"/>
            <a:ext cx="292608" cy="164592"/>
          </a:xfrm>
          <a:prstGeom prst="rect">
            <a:avLst/>
          </a:prstGeom>
          <a:solidFill>
            <a:srgbClr val="B8860B"/>
          </a:solidFill>
          <a:ln w="12700">
            <a:solidFill>
              <a:srgbClr val="B8860B"/>
            </a:solidFill>
            <a:prstDash val="solid"/>
          </a:ln>
        </p:spPr>
      </p:sp>
      <p:sp>
        <p:nvSpPr>
          <p:cNvPr id="30" name="Text 28"/>
          <p:cNvSpPr/>
          <p:nvPr/>
        </p:nvSpPr>
        <p:spPr>
          <a:xfrm>
            <a:off x="6675120" y="3721608"/>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T2 fara'id Arabic MCQ tests inheritance law knowledge, not authority awareness.</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Tasks needing Catechism (Catholic), four schools (Sunni), lineage (Tibetan).</a:t>
            </a:r>
            <a:endParaRPr lang="en-US" sz="1000" dirty="0"/>
          </a:p>
        </p:txBody>
      </p:sp>
      <p:sp>
        <p:nvSpPr>
          <p:cNvPr id="31" name="Shape 29"/>
          <p:cNvSpPr/>
          <p:nvPr/>
        </p:nvSpPr>
        <p:spPr>
          <a:xfrm>
            <a:off x="548640" y="4288536"/>
            <a:ext cx="11064240" cy="0"/>
          </a:xfrm>
          <a:prstGeom prst="line">
            <a:avLst/>
          </a:prstGeom>
          <a:noFill/>
          <a:ln w="9525">
            <a:solidFill>
              <a:srgbClr val="F1F5F9"/>
            </a:solidFill>
            <a:prstDash val="solid"/>
          </a:ln>
        </p:spPr>
      </p:sp>
      <p:sp>
        <p:nvSpPr>
          <p:cNvPr id="32" name="Text 30"/>
          <p:cNvSpPr/>
          <p:nvPr/>
        </p:nvSpPr>
        <p:spPr>
          <a:xfrm>
            <a:off x="548640" y="4197096"/>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Source faithfulness</a:t>
            </a:r>
            <a:endParaRPr lang="en-US" sz="1300" dirty="0"/>
          </a:p>
        </p:txBody>
      </p:sp>
      <p:sp>
        <p:nvSpPr>
          <p:cNvPr id="33" name="Shape 31"/>
          <p:cNvSpPr/>
          <p:nvPr/>
        </p:nvSpPr>
        <p:spPr>
          <a:xfrm>
            <a:off x="3566160" y="4389120"/>
            <a:ext cx="2926080" cy="164592"/>
          </a:xfrm>
          <a:prstGeom prst="rect">
            <a:avLst/>
          </a:prstGeom>
          <a:solidFill>
            <a:srgbClr val="E5E7EB"/>
          </a:solidFill>
          <a:ln w="12700">
            <a:solidFill>
              <a:srgbClr val="E5E7EB"/>
            </a:solidFill>
            <a:prstDash val="solid"/>
          </a:ln>
        </p:spPr>
      </p:sp>
      <p:sp>
        <p:nvSpPr>
          <p:cNvPr id="34" name="Shape 32"/>
          <p:cNvSpPr/>
          <p:nvPr/>
        </p:nvSpPr>
        <p:spPr>
          <a:xfrm>
            <a:off x="3566160" y="4389120"/>
            <a:ext cx="234086" cy="164592"/>
          </a:xfrm>
          <a:prstGeom prst="rect">
            <a:avLst/>
          </a:prstGeom>
          <a:solidFill>
            <a:srgbClr val="B8860B"/>
          </a:solidFill>
          <a:ln w="12700">
            <a:solidFill>
              <a:srgbClr val="B8860B"/>
            </a:solidFill>
            <a:prstDash val="solid"/>
          </a:ln>
        </p:spPr>
      </p:sp>
      <p:sp>
        <p:nvSpPr>
          <p:cNvPr id="35" name="Text 33"/>
          <p:cNvSpPr/>
          <p:nvPr/>
        </p:nvSpPr>
        <p:spPr>
          <a:xfrm>
            <a:off x="6675120" y="4197096"/>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Scripture retrieval is common; faithfulness to cited passage is not scored.</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Scoring whether an answer stays inside the cited passage and avoids modern gloss.</a:t>
            </a:r>
            <a:endParaRPr lang="en-US" sz="1000" dirty="0"/>
          </a:p>
        </p:txBody>
      </p:sp>
      <p:sp>
        <p:nvSpPr>
          <p:cNvPr id="36" name="Shape 34"/>
          <p:cNvSpPr/>
          <p:nvPr/>
        </p:nvSpPr>
        <p:spPr>
          <a:xfrm>
            <a:off x="548640" y="4764024"/>
            <a:ext cx="11064240" cy="0"/>
          </a:xfrm>
          <a:prstGeom prst="line">
            <a:avLst/>
          </a:prstGeom>
          <a:noFill/>
          <a:ln w="9525">
            <a:solidFill>
              <a:srgbClr val="F1F5F9"/>
            </a:solidFill>
            <a:prstDash val="solid"/>
          </a:ln>
        </p:spPr>
      </p:sp>
      <p:sp>
        <p:nvSpPr>
          <p:cNvPr id="37" name="Text 35"/>
          <p:cNvSpPr/>
          <p:nvPr/>
        </p:nvSpPr>
        <p:spPr>
          <a:xfrm>
            <a:off x="548640" y="4672584"/>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Multilingual and sacred languages</a:t>
            </a:r>
            <a:endParaRPr lang="en-US" sz="1300" dirty="0"/>
          </a:p>
        </p:txBody>
      </p:sp>
      <p:sp>
        <p:nvSpPr>
          <p:cNvPr id="38" name="Shape 36"/>
          <p:cNvSpPr/>
          <p:nvPr/>
        </p:nvSpPr>
        <p:spPr>
          <a:xfrm>
            <a:off x="3566160" y="4864608"/>
            <a:ext cx="2926080" cy="164592"/>
          </a:xfrm>
          <a:prstGeom prst="rect">
            <a:avLst/>
          </a:prstGeom>
          <a:solidFill>
            <a:srgbClr val="E5E7EB"/>
          </a:solidFill>
          <a:ln w="12700">
            <a:solidFill>
              <a:srgbClr val="E5E7EB"/>
            </a:solidFill>
            <a:prstDash val="solid"/>
          </a:ln>
        </p:spPr>
      </p:sp>
      <p:sp>
        <p:nvSpPr>
          <p:cNvPr id="39" name="Shape 37"/>
          <p:cNvSpPr/>
          <p:nvPr/>
        </p:nvSpPr>
        <p:spPr>
          <a:xfrm>
            <a:off x="3566160" y="4864608"/>
            <a:ext cx="585216" cy="164592"/>
          </a:xfrm>
          <a:prstGeom prst="rect">
            <a:avLst/>
          </a:prstGeom>
          <a:solidFill>
            <a:srgbClr val="B8860B"/>
          </a:solidFill>
          <a:ln w="12700">
            <a:solidFill>
              <a:srgbClr val="B8860B"/>
            </a:solidFill>
            <a:prstDash val="solid"/>
          </a:ln>
        </p:spPr>
      </p:sp>
      <p:sp>
        <p:nvSpPr>
          <p:cNvPr id="40" name="Text 38"/>
          <p:cNvSpPr/>
          <p:nvPr/>
        </p:nvSpPr>
        <p:spPr>
          <a:xfrm>
            <a:off x="6675120" y="4672584"/>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Arabic NLP (NADI, OSACT lineage) anchors the 28 Islamic benchmarks.</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Stress tests for Hebrew, Koine Greek, Pali, Sanskrit, Gurmukhi, Classical Chinese.</a:t>
            </a:r>
            <a:endParaRPr lang="en-US" sz="1000" dirty="0"/>
          </a:p>
        </p:txBody>
      </p:sp>
      <p:sp>
        <p:nvSpPr>
          <p:cNvPr id="41" name="Shape 39"/>
          <p:cNvSpPr/>
          <p:nvPr/>
        </p:nvSpPr>
        <p:spPr>
          <a:xfrm>
            <a:off x="548640" y="5239512"/>
            <a:ext cx="11064240" cy="0"/>
          </a:xfrm>
          <a:prstGeom prst="line">
            <a:avLst/>
          </a:prstGeom>
          <a:noFill/>
          <a:ln w="9525">
            <a:solidFill>
              <a:srgbClr val="F1F5F9"/>
            </a:solidFill>
            <a:prstDash val="solid"/>
          </a:ln>
        </p:spPr>
      </p:sp>
      <p:sp>
        <p:nvSpPr>
          <p:cNvPr id="42" name="Text 40"/>
          <p:cNvSpPr/>
          <p:nvPr/>
        </p:nvSpPr>
        <p:spPr>
          <a:xfrm>
            <a:off x="548640" y="5148072"/>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Commentary and interpretation</a:t>
            </a:r>
            <a:endParaRPr lang="en-US" sz="1300" dirty="0"/>
          </a:p>
        </p:txBody>
      </p:sp>
      <p:sp>
        <p:nvSpPr>
          <p:cNvPr id="43" name="Shape 41"/>
          <p:cNvSpPr/>
          <p:nvPr/>
        </p:nvSpPr>
        <p:spPr>
          <a:xfrm>
            <a:off x="3566160" y="5340096"/>
            <a:ext cx="2926080" cy="164592"/>
          </a:xfrm>
          <a:prstGeom prst="rect">
            <a:avLst/>
          </a:prstGeom>
          <a:solidFill>
            <a:srgbClr val="E5E7EB"/>
          </a:solidFill>
          <a:ln w="12700">
            <a:solidFill>
              <a:srgbClr val="E5E7EB"/>
            </a:solidFill>
            <a:prstDash val="solid"/>
          </a:ln>
        </p:spPr>
      </p:sp>
      <p:sp>
        <p:nvSpPr>
          <p:cNvPr id="44" name="Shape 42"/>
          <p:cNvSpPr/>
          <p:nvPr/>
        </p:nvSpPr>
        <p:spPr>
          <a:xfrm>
            <a:off x="3566160" y="5340096"/>
            <a:ext cx="292608" cy="164592"/>
          </a:xfrm>
          <a:prstGeom prst="rect">
            <a:avLst/>
          </a:prstGeom>
          <a:solidFill>
            <a:srgbClr val="B8860B"/>
          </a:solidFill>
          <a:ln w="12700">
            <a:solidFill>
              <a:srgbClr val="B8860B"/>
            </a:solidFill>
            <a:prstDash val="solid"/>
          </a:ln>
        </p:spPr>
      </p:sp>
      <p:sp>
        <p:nvSpPr>
          <p:cNvPr id="45" name="Text 43"/>
          <p:cNvSpPr/>
          <p:nvPr/>
        </p:nvSpPr>
        <p:spPr>
          <a:xfrm>
            <a:off x="6675120" y="5148072"/>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The 47 stop at scripture text and recall format.</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Tafsir, Talmudic reasoning, patristic exegesis, denominational hermeneutics.</a:t>
            </a:r>
            <a:endParaRPr lang="en-US" sz="1000" dirty="0"/>
          </a:p>
        </p:txBody>
      </p:sp>
      <p:sp>
        <p:nvSpPr>
          <p:cNvPr id="46" name="Shape 44"/>
          <p:cNvSpPr/>
          <p:nvPr/>
        </p:nvSpPr>
        <p:spPr>
          <a:xfrm>
            <a:off x="548640" y="5715000"/>
            <a:ext cx="11064240" cy="0"/>
          </a:xfrm>
          <a:prstGeom prst="line">
            <a:avLst/>
          </a:prstGeom>
          <a:noFill/>
          <a:ln w="9525">
            <a:solidFill>
              <a:srgbClr val="F1F5F9"/>
            </a:solidFill>
            <a:prstDash val="solid"/>
          </a:ln>
        </p:spPr>
      </p:sp>
      <p:sp>
        <p:nvSpPr>
          <p:cNvPr id="47" name="Text 45"/>
          <p:cNvSpPr/>
          <p:nvPr/>
        </p:nvSpPr>
        <p:spPr>
          <a:xfrm>
            <a:off x="548640" y="562356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Resource-to-benchmark conversion</a:t>
            </a:r>
            <a:endParaRPr lang="en-US" sz="1300" dirty="0"/>
          </a:p>
        </p:txBody>
      </p:sp>
      <p:sp>
        <p:nvSpPr>
          <p:cNvPr id="48" name="Shape 46"/>
          <p:cNvSpPr/>
          <p:nvPr/>
        </p:nvSpPr>
        <p:spPr>
          <a:xfrm>
            <a:off x="3566160" y="5815584"/>
            <a:ext cx="2926080" cy="164592"/>
          </a:xfrm>
          <a:prstGeom prst="rect">
            <a:avLst/>
          </a:prstGeom>
          <a:solidFill>
            <a:srgbClr val="E5E7EB"/>
          </a:solidFill>
          <a:ln w="12700">
            <a:solidFill>
              <a:srgbClr val="E5E7EB"/>
            </a:solidFill>
            <a:prstDash val="solid"/>
          </a:ln>
        </p:spPr>
      </p:sp>
      <p:sp>
        <p:nvSpPr>
          <p:cNvPr id="49" name="Shape 47"/>
          <p:cNvSpPr/>
          <p:nvPr/>
        </p:nvSpPr>
        <p:spPr>
          <a:xfrm>
            <a:off x="3566160" y="5815584"/>
            <a:ext cx="731520" cy="164592"/>
          </a:xfrm>
          <a:prstGeom prst="rect">
            <a:avLst/>
          </a:prstGeom>
          <a:solidFill>
            <a:srgbClr val="B8860B"/>
          </a:solidFill>
          <a:ln w="12700">
            <a:solidFill>
              <a:srgbClr val="B8860B"/>
            </a:solidFill>
            <a:prstDash val="solid"/>
          </a:ln>
        </p:spPr>
      </p:sp>
      <p:sp>
        <p:nvSpPr>
          <p:cNvPr id="50" name="Text 48"/>
          <p:cNvSpPr/>
          <p:nvPr/>
        </p:nvSpPr>
        <p:spPr>
          <a:xfrm>
            <a:off x="6675120" y="562356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Arabic corpora are converted heavily; few other corpora become benchmarks.</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Runnable QA from the Summa, Talmud, Sunan, Pali Canon, Guru Granth Sahib.</a:t>
            </a:r>
            <a:endParaRPr lang="en-US" sz="1000" dirty="0"/>
          </a:p>
        </p:txBody>
      </p:sp>
      <p:sp>
        <p:nvSpPr>
          <p:cNvPr id="51" name="Shape 49"/>
          <p:cNvSpPr/>
          <p:nvPr/>
        </p:nvSpPr>
        <p:spPr>
          <a:xfrm>
            <a:off x="548640" y="6190488"/>
            <a:ext cx="11064240" cy="0"/>
          </a:xfrm>
          <a:prstGeom prst="line">
            <a:avLst/>
          </a:prstGeom>
          <a:noFill/>
          <a:ln w="9525">
            <a:solidFill>
              <a:srgbClr val="F1F5F9"/>
            </a:solidFill>
            <a:prstDash val="solid"/>
          </a:ln>
        </p:spPr>
      </p:sp>
      <p:sp>
        <p:nvSpPr>
          <p:cNvPr id="52" name="Shape 50"/>
          <p:cNvSpPr/>
          <p:nvPr/>
        </p:nvSpPr>
        <p:spPr>
          <a:xfrm>
            <a:off x="0" y="6217920"/>
            <a:ext cx="12161520" cy="640080"/>
          </a:xfrm>
          <a:prstGeom prst="rect">
            <a:avLst/>
          </a:prstGeom>
          <a:solidFill>
            <a:srgbClr val="0F1E3D"/>
          </a:solidFill>
          <a:ln w="12700">
            <a:solidFill>
              <a:srgbClr val="0F1E3D"/>
            </a:solidFill>
            <a:prstDash val="solid"/>
          </a:ln>
        </p:spPr>
      </p:sp>
      <p:sp>
        <p:nvSpPr>
          <p:cNvPr id="53" name="Text 51"/>
          <p:cNvSpPr/>
          <p:nvPr/>
        </p:nvSpPr>
        <p:spPr>
          <a:xfrm>
            <a:off x="548640" y="6217920"/>
            <a:ext cx="1280160" cy="640080"/>
          </a:xfrm>
          <a:prstGeom prst="rect">
            <a:avLst/>
          </a:prstGeom>
          <a:noFill/>
        </p:spPr>
        <p:txBody>
          <a:bodyPr wrap="square" lIns="0" tIns="0" rIns="0" bIns="0" rtlCol="0" anchor="ctr"/>
          <a:lstStyle/>
          <a:p>
            <a:pPr marL="0" indent="0" algn="l">
              <a:buNone/>
            </a:pPr>
            <a:r>
              <a:rPr lang="en-US" sz="1000" b="1" kern="0" spc="300" dirty="0">
                <a:solidFill>
                  <a:srgbClr val="B8860B"/>
                </a:solidFill>
                <a:latin typeface="Calibri" pitchFamily="34" charset="0"/>
                <a:ea typeface="Calibri" pitchFamily="34" charset="-122"/>
                <a:cs typeface="Calibri" pitchFamily="34" charset="-120"/>
              </a:rPr>
              <a:t>THE GAP</a:t>
            </a:r>
            <a:endParaRPr lang="en-US" sz="1000" dirty="0"/>
          </a:p>
        </p:txBody>
      </p:sp>
      <p:sp>
        <p:nvSpPr>
          <p:cNvPr id="54" name="Text 52"/>
          <p:cNvSpPr/>
          <p:nvPr/>
        </p:nvSpPr>
        <p:spPr>
          <a:xfrm>
            <a:off x="1828800" y="6217920"/>
            <a:ext cx="10332720" cy="640080"/>
          </a:xfrm>
          <a:prstGeom prst="rect">
            <a:avLst/>
          </a:prstGeom>
          <a:noFill/>
        </p:spPr>
        <p:txBody>
          <a:bodyPr wrap="square" lIns="0" tIns="0" rIns="0" bIns="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Source-aware Track B: benchmarks that cite, respect authority structures, and stress-test sacred languages.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74320"/>
            <a:ext cx="640080" cy="457200"/>
          </a:xfrm>
          <a:prstGeom prst="rect">
            <a:avLst/>
          </a:prstGeom>
          <a:noFill/>
        </p:spPr>
        <p:txBody>
          <a:bodyPr wrap="square" lIns="0" tIns="0" rIns="0" bIns="0" rtlCol="0" anchor="ctr"/>
          <a:lstStyle/>
          <a:p>
            <a:pPr marL="0" indent="0" algn="l">
              <a:buNone/>
            </a:pPr>
            <a:r>
              <a:rPr lang="en-US" sz="1800" b="1" kern="0" spc="300" dirty="0">
                <a:solidFill>
                  <a:srgbClr val="B8860B"/>
                </a:solidFill>
                <a:latin typeface="Calibri" pitchFamily="34" charset="0"/>
                <a:ea typeface="Calibri" pitchFamily="34" charset="-122"/>
                <a:cs typeface="Calibri" pitchFamily="34" charset="-120"/>
              </a:rPr>
              <a:t>03</a:t>
            </a:r>
            <a:endParaRPr lang="en-US" sz="1800" dirty="0"/>
          </a:p>
        </p:txBody>
      </p:sp>
      <p:sp>
        <p:nvSpPr>
          <p:cNvPr id="3" name="Text 1"/>
          <p:cNvSpPr/>
          <p:nvPr/>
        </p:nvSpPr>
        <p:spPr>
          <a:xfrm>
            <a:off x="1188720" y="274320"/>
            <a:ext cx="10424160" cy="457200"/>
          </a:xfrm>
          <a:prstGeom prst="rect">
            <a:avLst/>
          </a:prstGeom>
          <a:noFill/>
        </p:spPr>
        <p:txBody>
          <a:bodyPr wrap="square" lIns="0" tIns="0" rIns="0" bIns="0" rtlCol="0" anchor="ctr"/>
          <a:lstStyle/>
          <a:p>
            <a:pPr marL="0" indent="0" algn="l">
              <a:buNone/>
            </a:pPr>
            <a:r>
              <a:rPr lang="en-US" sz="1800" b="1" kern="0" spc="500" dirty="0">
                <a:solidFill>
                  <a:srgbClr val="B8860B"/>
                </a:solidFill>
                <a:latin typeface="Calibri" pitchFamily="34" charset="0"/>
                <a:ea typeface="Calibri" pitchFamily="34" charset="-122"/>
                <a:cs typeface="Calibri" pitchFamily="34" charset="-120"/>
              </a:rPr>
              <a:t>PRIORITY GAP  ·  CHRISTIAN</a:t>
            </a:r>
            <a:endParaRPr lang="en-US" sz="1800" dirty="0"/>
          </a:p>
        </p:txBody>
      </p:sp>
      <p:sp>
        <p:nvSpPr>
          <p:cNvPr id="4" name="Text 2"/>
          <p:cNvSpPr/>
          <p:nvPr/>
        </p:nvSpPr>
        <p:spPr>
          <a:xfrm>
            <a:off x="548640" y="777240"/>
            <a:ext cx="11064240" cy="640080"/>
          </a:xfrm>
          <a:prstGeom prst="rect">
            <a:avLst/>
          </a:prstGeom>
          <a:noFill/>
        </p:spPr>
        <p:txBody>
          <a:bodyPr wrap="square" lIns="0" tIns="0" rIns="0" bIns="0" rtlCol="0" anchor="t"/>
          <a:lstStyle/>
          <a:p>
            <a:pPr marL="0" indent="0" algn="l">
              <a:buNone/>
            </a:pPr>
            <a:r>
              <a:rPr lang="en-US" sz="3000" b="1" dirty="0">
                <a:solidFill>
                  <a:srgbClr val="0F1E3D"/>
                </a:solidFill>
                <a:latin typeface="Georgia" panose="02040502050405090303" pitchFamily="34" charset="0"/>
                <a:ea typeface="Georgia" panose="02040502050405090303" pitchFamily="34" charset="-122"/>
                <a:cs typeface="Georgia" panose="02040502050405090303" pitchFamily="34" charset="-120"/>
              </a:rPr>
              <a:t>Christian alignment stops at Bible QA</a:t>
            </a:r>
            <a:endParaRPr lang="en-US" sz="3000" dirty="0"/>
          </a:p>
        </p:txBody>
      </p:sp>
      <p:sp>
        <p:nvSpPr>
          <p:cNvPr id="5" name="Text 3"/>
          <p:cNvSpPr/>
          <p:nvPr/>
        </p:nvSpPr>
        <p:spPr>
          <a:xfrm>
            <a:off x="548640" y="1417320"/>
            <a:ext cx="11064240" cy="457200"/>
          </a:xfrm>
          <a:prstGeom prst="rect">
            <a:avLst/>
          </a:prstGeom>
          <a:noFill/>
        </p:spPr>
        <p:txBody>
          <a:bodyPr wrap="square" lIns="0" tIns="0" rIns="0" bIns="0" rtlCol="0" anchor="t"/>
          <a:lstStyle/>
          <a:p>
            <a:pPr marL="0" indent="0" algn="l">
              <a:buNone/>
            </a:pPr>
            <a:r>
              <a:rPr lang="en-US" sz="1400" i="1" dirty="0">
                <a:solidFill>
                  <a:srgbClr val="475569"/>
                </a:solidFill>
                <a:latin typeface="Calibri" pitchFamily="34" charset="0"/>
                <a:ea typeface="Calibri" pitchFamily="34" charset="-122"/>
                <a:cs typeface="Calibri" pitchFamily="34" charset="-120"/>
              </a:rPr>
              <a:t>Catholic alignment work is emerging. Pastoral judgment, denominational reasoning, and applied Christian ethics remain thin across the field.</a:t>
            </a:r>
            <a:endParaRPr lang="en-US" sz="1400" dirty="0"/>
          </a:p>
        </p:txBody>
      </p:sp>
      <p:sp>
        <p:nvSpPr>
          <p:cNvPr id="6" name="Shape 4"/>
          <p:cNvSpPr/>
          <p:nvPr/>
        </p:nvSpPr>
        <p:spPr>
          <a:xfrm>
            <a:off x="548640" y="1965960"/>
            <a:ext cx="5394960" cy="777240"/>
          </a:xfrm>
          <a:prstGeom prst="rect">
            <a:avLst/>
          </a:prstGeom>
          <a:solidFill>
            <a:srgbClr val="F8FAFC"/>
          </a:solidFill>
          <a:ln w="9525">
            <a:solidFill>
              <a:srgbClr val="E2E8F0"/>
            </a:solidFill>
            <a:prstDash val="solid"/>
          </a:ln>
        </p:spPr>
      </p:sp>
      <p:sp>
        <p:nvSpPr>
          <p:cNvPr id="7" name="Shape 5"/>
          <p:cNvSpPr/>
          <p:nvPr/>
        </p:nvSpPr>
        <p:spPr>
          <a:xfrm>
            <a:off x="548640" y="1965960"/>
            <a:ext cx="54864" cy="777240"/>
          </a:xfrm>
          <a:prstGeom prst="rect">
            <a:avLst/>
          </a:prstGeom>
          <a:solidFill>
            <a:srgbClr val="B8860B"/>
          </a:solidFill>
          <a:ln w="12700">
            <a:solidFill>
              <a:srgbClr val="B8860B"/>
            </a:solidFill>
            <a:prstDash val="solid"/>
          </a:ln>
        </p:spPr>
      </p:sp>
      <p:sp>
        <p:nvSpPr>
          <p:cNvPr id="8" name="Text 6"/>
          <p:cNvSpPr/>
          <p:nvPr/>
        </p:nvSpPr>
        <p:spPr>
          <a:xfrm>
            <a:off x="777240" y="2057400"/>
            <a:ext cx="5029200" cy="292608"/>
          </a:xfrm>
          <a:prstGeom prst="rect">
            <a:avLst/>
          </a:prstGeom>
          <a:noFill/>
        </p:spPr>
        <p:txBody>
          <a:bodyPr wrap="square" lIns="0" tIns="0" rIns="0" bIns="0" rtlCol="0" anchor="ctr"/>
          <a:lstStyle/>
          <a:p>
            <a:pPr marL="0" indent="0" algn="l">
              <a:buNone/>
            </a:pPr>
            <a:r>
              <a:rPr lang="en-US" sz="1000" b="1" kern="0" spc="300" dirty="0">
                <a:solidFill>
                  <a:srgbClr val="B8860B"/>
                </a:solidFill>
                <a:latin typeface="Calibri" pitchFamily="34" charset="0"/>
                <a:ea typeface="Calibri" pitchFamily="34" charset="-122"/>
                <a:cs typeface="Calibri" pitchFamily="34" charset="-120"/>
              </a:rPr>
              <a:t>WHAT EXISTS</a:t>
            </a:r>
            <a:endParaRPr lang="en-US" sz="1000" dirty="0"/>
          </a:p>
        </p:txBody>
      </p:sp>
      <p:sp>
        <p:nvSpPr>
          <p:cNvPr id="9" name="Text 7"/>
          <p:cNvSpPr/>
          <p:nvPr/>
        </p:nvSpPr>
        <p:spPr>
          <a:xfrm>
            <a:off x="777240" y="2331720"/>
            <a:ext cx="5029200" cy="502920"/>
          </a:xfrm>
          <a:prstGeom prst="rect">
            <a:avLst/>
          </a:prstGeom>
          <a:noFill/>
        </p:spPr>
        <p:txBody>
          <a:bodyPr wrap="square" lIns="0" tIns="0" rIns="0" bIns="0" rtlCol="0" anchor="t"/>
          <a:lstStyle/>
          <a:p>
            <a:pPr marL="0" indent="0" algn="l">
              <a:buNone/>
            </a:pPr>
            <a:r>
              <a:rPr lang="en-US" sz="1200" dirty="0">
                <a:solidFill>
                  <a:srgbClr val="475569"/>
                </a:solidFill>
                <a:latin typeface="Calibri" pitchFamily="34" charset="0"/>
                <a:ea typeface="Calibri" pitchFamily="34" charset="-122"/>
                <a:cs typeface="Calibri" pitchFamily="34" charset="-120"/>
              </a:rPr>
              <a:t>Some Catholic alignment work. Bible and scripture QA resources. Belief checks at the surface level.</a:t>
            </a:r>
            <a:endParaRPr lang="en-US" sz="1200" dirty="0"/>
          </a:p>
        </p:txBody>
      </p:sp>
      <p:sp>
        <p:nvSpPr>
          <p:cNvPr id="10" name="Shape 8"/>
          <p:cNvSpPr/>
          <p:nvPr/>
        </p:nvSpPr>
        <p:spPr>
          <a:xfrm>
            <a:off x="6217920" y="1965960"/>
            <a:ext cx="5394960" cy="777240"/>
          </a:xfrm>
          <a:prstGeom prst="rect">
            <a:avLst/>
          </a:prstGeom>
          <a:solidFill>
            <a:srgbClr val="F8FAFC"/>
          </a:solidFill>
          <a:ln w="9525">
            <a:solidFill>
              <a:srgbClr val="E2E8F0"/>
            </a:solidFill>
            <a:prstDash val="solid"/>
          </a:ln>
        </p:spPr>
      </p:sp>
      <p:sp>
        <p:nvSpPr>
          <p:cNvPr id="11" name="Shape 9"/>
          <p:cNvSpPr/>
          <p:nvPr/>
        </p:nvSpPr>
        <p:spPr>
          <a:xfrm>
            <a:off x="6217920" y="1965960"/>
            <a:ext cx="54864" cy="777240"/>
          </a:xfrm>
          <a:prstGeom prst="rect">
            <a:avLst/>
          </a:prstGeom>
          <a:solidFill>
            <a:srgbClr val="0F1E3D"/>
          </a:solidFill>
          <a:ln w="12700">
            <a:solidFill>
              <a:srgbClr val="0F1E3D"/>
            </a:solidFill>
            <a:prstDash val="solid"/>
          </a:ln>
        </p:spPr>
      </p:sp>
      <p:sp>
        <p:nvSpPr>
          <p:cNvPr id="12" name="Text 10"/>
          <p:cNvSpPr/>
          <p:nvPr/>
        </p:nvSpPr>
        <p:spPr>
          <a:xfrm>
            <a:off x="6446520" y="2057400"/>
            <a:ext cx="5029200" cy="292608"/>
          </a:xfrm>
          <a:prstGeom prst="rect">
            <a:avLst/>
          </a:prstGeom>
          <a:noFill/>
        </p:spPr>
        <p:txBody>
          <a:bodyPr wrap="square" lIns="0" tIns="0" rIns="0" bIns="0" rtlCol="0" anchor="ctr"/>
          <a:lstStyle/>
          <a:p>
            <a:pPr marL="0" indent="0" algn="l">
              <a:buNone/>
            </a:pPr>
            <a:r>
              <a:rPr lang="en-US" sz="1000" b="1" kern="0" spc="300" dirty="0">
                <a:solidFill>
                  <a:srgbClr val="0F1E3D"/>
                </a:solidFill>
                <a:latin typeface="Calibri" pitchFamily="34" charset="0"/>
                <a:ea typeface="Calibri" pitchFamily="34" charset="-122"/>
                <a:cs typeface="Calibri" pitchFamily="34" charset="-120"/>
              </a:rPr>
              <a:t>WHAT IS MISSING</a:t>
            </a:r>
            <a:endParaRPr lang="en-US" sz="1000" dirty="0"/>
          </a:p>
        </p:txBody>
      </p:sp>
      <p:sp>
        <p:nvSpPr>
          <p:cNvPr id="13" name="Text 11"/>
          <p:cNvSpPr/>
          <p:nvPr/>
        </p:nvSpPr>
        <p:spPr>
          <a:xfrm>
            <a:off x="6446520" y="2331720"/>
            <a:ext cx="5029200" cy="502920"/>
          </a:xfrm>
          <a:prstGeom prst="rect">
            <a:avLst/>
          </a:prstGeom>
          <a:noFill/>
        </p:spPr>
        <p:txBody>
          <a:bodyPr wrap="square" lIns="0" tIns="0" rIns="0" bIns="0" rtlCol="0" anchor="t"/>
          <a:lstStyle/>
          <a:p>
            <a:pPr marL="0" indent="0" algn="l">
              <a:buNone/>
            </a:pPr>
            <a:r>
              <a:rPr lang="en-US" sz="1200" dirty="0">
                <a:solidFill>
                  <a:srgbClr val="0F1E3D"/>
                </a:solidFill>
                <a:latin typeface="Calibri" pitchFamily="34" charset="0"/>
                <a:ea typeface="Calibri" pitchFamily="34" charset="-122"/>
                <a:cs typeface="Calibri" pitchFamily="34" charset="-120"/>
              </a:rPr>
              <a:t>Pastoral judgment. Denominational reasoning. Applied ethics. Hermeneutic quality. Church-grounded review.</a:t>
            </a:r>
            <a:endParaRPr lang="en-US" sz="1200" dirty="0"/>
          </a:p>
        </p:txBody>
      </p:sp>
      <p:sp>
        <p:nvSpPr>
          <p:cNvPr id="14" name="Text 12"/>
          <p:cNvSpPr/>
          <p:nvPr/>
        </p:nvSpPr>
        <p:spPr>
          <a:xfrm>
            <a:off x="548640" y="2834640"/>
            <a:ext cx="8595360" cy="274320"/>
          </a:xfrm>
          <a:prstGeom prst="rect">
            <a:avLst/>
          </a:prstGeom>
          <a:noFill/>
        </p:spPr>
        <p:txBody>
          <a:bodyPr wrap="square" lIns="0" tIns="0" rIns="0" bIns="0" rtlCol="0" anchor="ctr"/>
          <a:lstStyle/>
          <a:p>
            <a:pPr marL="0" indent="0" algn="l">
              <a:buNone/>
            </a:pPr>
            <a:r>
              <a:rPr lang="en-US" sz="1000" b="1" kern="0" spc="300" dirty="0">
                <a:solidFill>
                  <a:srgbClr val="0F1E3D"/>
                </a:solidFill>
                <a:latin typeface="Calibri" pitchFamily="34" charset="0"/>
                <a:ea typeface="Calibri" pitchFamily="34" charset="-122"/>
                <a:cs typeface="Calibri" pitchFamily="34" charset="-120"/>
              </a:rPr>
              <a:t>MISSING LAYERS IN CHRISTIAN BENCHMARK DESIGN</a:t>
            </a:r>
            <a:endParaRPr lang="en-US" sz="1000" dirty="0"/>
          </a:p>
        </p:txBody>
      </p:sp>
      <p:sp>
        <p:nvSpPr>
          <p:cNvPr id="15" name="Shape 13"/>
          <p:cNvSpPr/>
          <p:nvPr/>
        </p:nvSpPr>
        <p:spPr>
          <a:xfrm>
            <a:off x="9326880" y="2880360"/>
            <a:ext cx="201168" cy="128016"/>
          </a:xfrm>
          <a:prstGeom prst="rect">
            <a:avLst/>
          </a:prstGeom>
          <a:solidFill>
            <a:srgbClr val="B8860B"/>
          </a:solidFill>
          <a:ln w="12700">
            <a:solidFill>
              <a:srgbClr val="B8860B"/>
            </a:solidFill>
            <a:prstDash val="solid"/>
          </a:ln>
        </p:spPr>
      </p:sp>
      <p:sp>
        <p:nvSpPr>
          <p:cNvPr id="16" name="Text 14"/>
          <p:cNvSpPr/>
          <p:nvPr/>
        </p:nvSpPr>
        <p:spPr>
          <a:xfrm>
            <a:off x="9601200" y="2834640"/>
            <a:ext cx="777240" cy="219456"/>
          </a:xfrm>
          <a:prstGeom prst="rect">
            <a:avLst/>
          </a:prstGeom>
          <a:noFill/>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present</a:t>
            </a:r>
            <a:endParaRPr lang="en-US" sz="900" dirty="0"/>
          </a:p>
        </p:txBody>
      </p:sp>
      <p:sp>
        <p:nvSpPr>
          <p:cNvPr id="17" name="Shape 15"/>
          <p:cNvSpPr/>
          <p:nvPr/>
        </p:nvSpPr>
        <p:spPr>
          <a:xfrm>
            <a:off x="10469880" y="2880360"/>
            <a:ext cx="201168" cy="128016"/>
          </a:xfrm>
          <a:prstGeom prst="rect">
            <a:avLst/>
          </a:prstGeom>
          <a:solidFill>
            <a:srgbClr val="E5E7EB"/>
          </a:solidFill>
          <a:ln w="12700">
            <a:solidFill>
              <a:srgbClr val="E5E7EB"/>
            </a:solidFill>
            <a:prstDash val="solid"/>
          </a:ln>
        </p:spPr>
      </p:sp>
      <p:sp>
        <p:nvSpPr>
          <p:cNvPr id="18" name="Text 16"/>
          <p:cNvSpPr/>
          <p:nvPr/>
        </p:nvSpPr>
        <p:spPr>
          <a:xfrm>
            <a:off x="10744200" y="2834640"/>
            <a:ext cx="777240" cy="219456"/>
          </a:xfrm>
          <a:prstGeom prst="rect">
            <a:avLst/>
          </a:prstGeom>
          <a:noFill/>
        </p:spPr>
        <p:txBody>
          <a:bodyPr wrap="square" lIns="0" tIns="0" rIns="0" bIns="0" rtlCol="0" anchor="ctr"/>
          <a:lstStyle/>
          <a:p>
            <a:pPr marL="0" indent="0" algn="l">
              <a:buNone/>
            </a:pPr>
            <a:r>
              <a:rPr lang="en-US" sz="900" dirty="0">
                <a:solidFill>
                  <a:srgbClr val="475569"/>
                </a:solidFill>
                <a:latin typeface="Calibri" pitchFamily="34" charset="0"/>
                <a:ea typeface="Calibri" pitchFamily="34" charset="-122"/>
                <a:cs typeface="Calibri" pitchFamily="34" charset="-120"/>
              </a:rPr>
              <a:t>missing</a:t>
            </a:r>
            <a:endParaRPr lang="en-US" sz="900" dirty="0"/>
          </a:p>
        </p:txBody>
      </p:sp>
      <p:sp>
        <p:nvSpPr>
          <p:cNvPr id="19" name="Text 17"/>
          <p:cNvSpPr/>
          <p:nvPr/>
        </p:nvSpPr>
        <p:spPr>
          <a:xfrm>
            <a:off x="548640" y="324612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Protestant denominational reasoning</a:t>
            </a:r>
            <a:endParaRPr lang="en-US" sz="1300" dirty="0"/>
          </a:p>
        </p:txBody>
      </p:sp>
      <p:sp>
        <p:nvSpPr>
          <p:cNvPr id="20" name="Shape 18"/>
          <p:cNvSpPr/>
          <p:nvPr/>
        </p:nvSpPr>
        <p:spPr>
          <a:xfrm>
            <a:off x="3566160" y="3438144"/>
            <a:ext cx="2926080" cy="164592"/>
          </a:xfrm>
          <a:prstGeom prst="rect">
            <a:avLst/>
          </a:prstGeom>
          <a:solidFill>
            <a:srgbClr val="E5E7EB"/>
          </a:solidFill>
          <a:ln w="12700">
            <a:solidFill>
              <a:srgbClr val="E5E7EB"/>
            </a:solidFill>
            <a:prstDash val="solid"/>
          </a:ln>
        </p:spPr>
      </p:sp>
      <p:sp>
        <p:nvSpPr>
          <p:cNvPr id="21" name="Shape 19"/>
          <p:cNvSpPr/>
          <p:nvPr/>
        </p:nvSpPr>
        <p:spPr>
          <a:xfrm>
            <a:off x="3566160" y="3438144"/>
            <a:ext cx="292608" cy="164592"/>
          </a:xfrm>
          <a:prstGeom prst="rect">
            <a:avLst/>
          </a:prstGeom>
          <a:solidFill>
            <a:srgbClr val="B8860B"/>
          </a:solidFill>
          <a:ln w="12700">
            <a:solidFill>
              <a:srgbClr val="B8860B"/>
            </a:solidFill>
            <a:prstDash val="solid"/>
          </a:ln>
        </p:spPr>
      </p:sp>
      <p:sp>
        <p:nvSpPr>
          <p:cNvPr id="22" name="Text 20"/>
          <p:cNvSpPr/>
          <p:nvPr/>
        </p:nvSpPr>
        <p:spPr>
          <a:xfrm>
            <a:off x="6675120" y="324612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Of 6 Christian gate-passers, none span denominational divides; Bible QA dominates.</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Lutheran law-gospel, Reformed covenant, Methodist sanctification, Anabaptist polity.</a:t>
            </a:r>
            <a:endParaRPr lang="en-US" sz="1000" dirty="0"/>
          </a:p>
        </p:txBody>
      </p:sp>
      <p:sp>
        <p:nvSpPr>
          <p:cNvPr id="23" name="Shape 21"/>
          <p:cNvSpPr/>
          <p:nvPr/>
        </p:nvSpPr>
        <p:spPr>
          <a:xfrm>
            <a:off x="548640" y="3813048"/>
            <a:ext cx="11064240" cy="0"/>
          </a:xfrm>
          <a:prstGeom prst="line">
            <a:avLst/>
          </a:prstGeom>
          <a:noFill/>
          <a:ln w="9525">
            <a:solidFill>
              <a:srgbClr val="F1F5F9"/>
            </a:solidFill>
            <a:prstDash val="solid"/>
          </a:ln>
        </p:spPr>
      </p:sp>
      <p:sp>
        <p:nvSpPr>
          <p:cNvPr id="24" name="Text 22"/>
          <p:cNvSpPr/>
          <p:nvPr/>
        </p:nvSpPr>
        <p:spPr>
          <a:xfrm>
            <a:off x="548640" y="3721608"/>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Pastoral counseling and spiritual care</a:t>
            </a:r>
            <a:endParaRPr lang="en-US" sz="1300" dirty="0"/>
          </a:p>
        </p:txBody>
      </p:sp>
      <p:sp>
        <p:nvSpPr>
          <p:cNvPr id="25" name="Shape 23"/>
          <p:cNvSpPr/>
          <p:nvPr/>
        </p:nvSpPr>
        <p:spPr>
          <a:xfrm>
            <a:off x="3566160" y="3913632"/>
            <a:ext cx="2926080" cy="164592"/>
          </a:xfrm>
          <a:prstGeom prst="rect">
            <a:avLst/>
          </a:prstGeom>
          <a:solidFill>
            <a:srgbClr val="E5E7EB"/>
          </a:solidFill>
          <a:ln w="12700">
            <a:solidFill>
              <a:srgbClr val="E5E7EB"/>
            </a:solidFill>
            <a:prstDash val="solid"/>
          </a:ln>
        </p:spPr>
      </p:sp>
      <p:sp>
        <p:nvSpPr>
          <p:cNvPr id="26" name="Shape 24"/>
          <p:cNvSpPr/>
          <p:nvPr/>
        </p:nvSpPr>
        <p:spPr>
          <a:xfrm>
            <a:off x="3566160" y="3913632"/>
            <a:ext cx="117043" cy="164592"/>
          </a:xfrm>
          <a:prstGeom prst="rect">
            <a:avLst/>
          </a:prstGeom>
          <a:solidFill>
            <a:srgbClr val="B8860B"/>
          </a:solidFill>
          <a:ln w="12700">
            <a:solidFill>
              <a:srgbClr val="B8860B"/>
            </a:solidFill>
            <a:prstDash val="solid"/>
          </a:ln>
        </p:spPr>
      </p:sp>
      <p:sp>
        <p:nvSpPr>
          <p:cNvPr id="27" name="Text 25"/>
          <p:cNvSpPr/>
          <p:nvPr/>
        </p:nvSpPr>
        <p:spPr>
          <a:xfrm>
            <a:off x="6675120" y="3721608"/>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None of the 6 Christian benchmarks use a counseling or care format.</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Deconstructing child, pornography struggle, abusive marriage, vocational doubt.</a:t>
            </a:r>
            <a:endParaRPr lang="en-US" sz="1000" dirty="0"/>
          </a:p>
        </p:txBody>
      </p:sp>
      <p:sp>
        <p:nvSpPr>
          <p:cNvPr id="28" name="Shape 26"/>
          <p:cNvSpPr/>
          <p:nvPr/>
        </p:nvSpPr>
        <p:spPr>
          <a:xfrm>
            <a:off x="548640" y="4288536"/>
            <a:ext cx="11064240" cy="0"/>
          </a:xfrm>
          <a:prstGeom prst="line">
            <a:avLst/>
          </a:prstGeom>
          <a:noFill/>
          <a:ln w="9525">
            <a:solidFill>
              <a:srgbClr val="F1F5F9"/>
            </a:solidFill>
            <a:prstDash val="solid"/>
          </a:ln>
        </p:spPr>
      </p:sp>
      <p:sp>
        <p:nvSpPr>
          <p:cNvPr id="29" name="Text 27"/>
          <p:cNvSpPr/>
          <p:nvPr/>
        </p:nvSpPr>
        <p:spPr>
          <a:xfrm>
            <a:off x="548640" y="4197096"/>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Applied Christian ethics</a:t>
            </a:r>
            <a:endParaRPr lang="en-US" sz="1300" dirty="0"/>
          </a:p>
        </p:txBody>
      </p:sp>
      <p:sp>
        <p:nvSpPr>
          <p:cNvPr id="30" name="Shape 28"/>
          <p:cNvSpPr/>
          <p:nvPr/>
        </p:nvSpPr>
        <p:spPr>
          <a:xfrm>
            <a:off x="3566160" y="4389120"/>
            <a:ext cx="2926080" cy="164592"/>
          </a:xfrm>
          <a:prstGeom prst="rect">
            <a:avLst/>
          </a:prstGeom>
          <a:solidFill>
            <a:srgbClr val="E5E7EB"/>
          </a:solidFill>
          <a:ln w="12700">
            <a:solidFill>
              <a:srgbClr val="E5E7EB"/>
            </a:solidFill>
            <a:prstDash val="solid"/>
          </a:ln>
        </p:spPr>
      </p:sp>
      <p:sp>
        <p:nvSpPr>
          <p:cNvPr id="31" name="Shape 29"/>
          <p:cNvSpPr/>
          <p:nvPr/>
        </p:nvSpPr>
        <p:spPr>
          <a:xfrm>
            <a:off x="3566160" y="4389120"/>
            <a:ext cx="438912" cy="164592"/>
          </a:xfrm>
          <a:prstGeom prst="rect">
            <a:avLst/>
          </a:prstGeom>
          <a:solidFill>
            <a:srgbClr val="B8860B"/>
          </a:solidFill>
          <a:ln w="12700">
            <a:solidFill>
              <a:srgbClr val="B8860B"/>
            </a:solidFill>
            <a:prstDash val="solid"/>
          </a:ln>
        </p:spPr>
      </p:sp>
      <p:sp>
        <p:nvSpPr>
          <p:cNvPr id="32" name="Text 30"/>
          <p:cNvSpPr/>
          <p:nvPr/>
        </p:nvSpPr>
        <p:spPr>
          <a:xfrm>
            <a:off x="6675120" y="4197096"/>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Most of the 6 favor doctrine and scripture knowledge over hard moral judgment.</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Embryo selection, AI personhood, drone warfare, transgender pastoral care, wealth gap.</a:t>
            </a:r>
            <a:endParaRPr lang="en-US" sz="1000" dirty="0"/>
          </a:p>
        </p:txBody>
      </p:sp>
      <p:sp>
        <p:nvSpPr>
          <p:cNvPr id="33" name="Shape 31"/>
          <p:cNvSpPr/>
          <p:nvPr/>
        </p:nvSpPr>
        <p:spPr>
          <a:xfrm>
            <a:off x="548640" y="4764024"/>
            <a:ext cx="11064240" cy="0"/>
          </a:xfrm>
          <a:prstGeom prst="line">
            <a:avLst/>
          </a:prstGeom>
          <a:noFill/>
          <a:ln w="9525">
            <a:solidFill>
              <a:srgbClr val="F1F5F9"/>
            </a:solidFill>
            <a:prstDash val="solid"/>
          </a:ln>
        </p:spPr>
      </p:sp>
      <p:sp>
        <p:nvSpPr>
          <p:cNvPr id="34" name="Text 32"/>
          <p:cNvSpPr/>
          <p:nvPr/>
        </p:nvSpPr>
        <p:spPr>
          <a:xfrm>
            <a:off x="548640" y="4672584"/>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Scripture interpretation quality</a:t>
            </a:r>
            <a:endParaRPr lang="en-US" sz="1300" dirty="0"/>
          </a:p>
        </p:txBody>
      </p:sp>
      <p:sp>
        <p:nvSpPr>
          <p:cNvPr id="35" name="Shape 33"/>
          <p:cNvSpPr/>
          <p:nvPr/>
        </p:nvSpPr>
        <p:spPr>
          <a:xfrm>
            <a:off x="3566160" y="4864608"/>
            <a:ext cx="2926080" cy="164592"/>
          </a:xfrm>
          <a:prstGeom prst="rect">
            <a:avLst/>
          </a:prstGeom>
          <a:solidFill>
            <a:srgbClr val="E5E7EB"/>
          </a:solidFill>
          <a:ln w="12700">
            <a:solidFill>
              <a:srgbClr val="E5E7EB"/>
            </a:solidFill>
            <a:prstDash val="solid"/>
          </a:ln>
        </p:spPr>
      </p:sp>
      <p:sp>
        <p:nvSpPr>
          <p:cNvPr id="36" name="Shape 34"/>
          <p:cNvSpPr/>
          <p:nvPr/>
        </p:nvSpPr>
        <p:spPr>
          <a:xfrm>
            <a:off x="3566160" y="4864608"/>
            <a:ext cx="438912" cy="164592"/>
          </a:xfrm>
          <a:prstGeom prst="rect">
            <a:avLst/>
          </a:prstGeom>
          <a:solidFill>
            <a:srgbClr val="B8860B"/>
          </a:solidFill>
          <a:ln w="12700">
            <a:solidFill>
              <a:srgbClr val="B8860B"/>
            </a:solidFill>
            <a:prstDash val="solid"/>
          </a:ln>
        </p:spPr>
      </p:sp>
      <p:sp>
        <p:nvSpPr>
          <p:cNvPr id="37" name="Text 35"/>
          <p:cNvSpPr/>
          <p:nvPr/>
        </p:nvSpPr>
        <p:spPr>
          <a:xfrm>
            <a:off x="6675120" y="4672584"/>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Verse retrieval and recall format dominate the Christian assets.</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Detection of prooftexting (Jer 29:11 misused), genre confusion, weaponized Romans 13.</a:t>
            </a:r>
            <a:endParaRPr lang="en-US" sz="1000" dirty="0"/>
          </a:p>
        </p:txBody>
      </p:sp>
      <p:sp>
        <p:nvSpPr>
          <p:cNvPr id="38" name="Shape 36"/>
          <p:cNvSpPr/>
          <p:nvPr/>
        </p:nvSpPr>
        <p:spPr>
          <a:xfrm>
            <a:off x="548640" y="5239512"/>
            <a:ext cx="11064240" cy="0"/>
          </a:xfrm>
          <a:prstGeom prst="line">
            <a:avLst/>
          </a:prstGeom>
          <a:noFill/>
          <a:ln w="9525">
            <a:solidFill>
              <a:srgbClr val="F1F5F9"/>
            </a:solidFill>
            <a:prstDash val="solid"/>
          </a:ln>
        </p:spPr>
      </p:sp>
      <p:sp>
        <p:nvSpPr>
          <p:cNvPr id="39" name="Text 37"/>
          <p:cNvSpPr/>
          <p:nvPr/>
        </p:nvSpPr>
        <p:spPr>
          <a:xfrm>
            <a:off x="548640" y="5148072"/>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Disagreement and humility</a:t>
            </a:r>
            <a:endParaRPr lang="en-US" sz="1300" dirty="0"/>
          </a:p>
        </p:txBody>
      </p:sp>
      <p:sp>
        <p:nvSpPr>
          <p:cNvPr id="40" name="Shape 38"/>
          <p:cNvSpPr/>
          <p:nvPr/>
        </p:nvSpPr>
        <p:spPr>
          <a:xfrm>
            <a:off x="3566160" y="5340096"/>
            <a:ext cx="2926080" cy="164592"/>
          </a:xfrm>
          <a:prstGeom prst="rect">
            <a:avLst/>
          </a:prstGeom>
          <a:solidFill>
            <a:srgbClr val="E5E7EB"/>
          </a:solidFill>
          <a:ln w="12700">
            <a:solidFill>
              <a:srgbClr val="E5E7EB"/>
            </a:solidFill>
            <a:prstDash val="solid"/>
          </a:ln>
        </p:spPr>
      </p:sp>
      <p:sp>
        <p:nvSpPr>
          <p:cNvPr id="41" name="Shape 39"/>
          <p:cNvSpPr/>
          <p:nvPr/>
        </p:nvSpPr>
        <p:spPr>
          <a:xfrm>
            <a:off x="3566160" y="5340096"/>
            <a:ext cx="234086" cy="164592"/>
          </a:xfrm>
          <a:prstGeom prst="rect">
            <a:avLst/>
          </a:prstGeom>
          <a:solidFill>
            <a:srgbClr val="B8860B"/>
          </a:solidFill>
          <a:ln w="12700">
            <a:solidFill>
              <a:srgbClr val="B8860B"/>
            </a:solidFill>
            <a:prstDash val="solid"/>
          </a:ln>
        </p:spPr>
      </p:sp>
      <p:sp>
        <p:nvSpPr>
          <p:cNvPr id="42" name="Text 40"/>
          <p:cNvSpPr/>
          <p:nvPr/>
        </p:nvSpPr>
        <p:spPr>
          <a:xfrm>
            <a:off x="6675120" y="5148072"/>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The 6 Christian benchmarks treat Christianity as monolithic.</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Women's ordination, baptism, predestination, real presence: 'faithful Christians disagree'.</a:t>
            </a:r>
            <a:endParaRPr lang="en-US" sz="1000" dirty="0"/>
          </a:p>
        </p:txBody>
      </p:sp>
      <p:sp>
        <p:nvSpPr>
          <p:cNvPr id="43" name="Shape 41"/>
          <p:cNvSpPr/>
          <p:nvPr/>
        </p:nvSpPr>
        <p:spPr>
          <a:xfrm>
            <a:off x="548640" y="5715000"/>
            <a:ext cx="11064240" cy="0"/>
          </a:xfrm>
          <a:prstGeom prst="line">
            <a:avLst/>
          </a:prstGeom>
          <a:noFill/>
          <a:ln w="9525">
            <a:solidFill>
              <a:srgbClr val="F1F5F9"/>
            </a:solidFill>
            <a:prstDash val="solid"/>
          </a:ln>
        </p:spPr>
      </p:sp>
      <p:sp>
        <p:nvSpPr>
          <p:cNvPr id="44" name="Text 42"/>
          <p:cNvSpPr/>
          <p:nvPr/>
        </p:nvSpPr>
        <p:spPr>
          <a:xfrm>
            <a:off x="548640" y="5623560"/>
            <a:ext cx="2926080" cy="548640"/>
          </a:xfrm>
          <a:prstGeom prst="rect">
            <a:avLst/>
          </a:prstGeom>
          <a:noFill/>
        </p:spPr>
        <p:txBody>
          <a:bodyPr wrap="square" lIns="0" tIns="0" rIns="0" bIns="0" rtlCol="0" anchor="ctr"/>
          <a:lstStyle/>
          <a:p>
            <a:pPr marL="0" indent="0" algn="l">
              <a:buNone/>
            </a:pPr>
            <a:r>
              <a:rPr lang="en-US" sz="1300" b="1" dirty="0">
                <a:solidFill>
                  <a:srgbClr val="0F1E3D"/>
                </a:solidFill>
                <a:latin typeface="Calibri" pitchFamily="34" charset="0"/>
                <a:ea typeface="Calibri" pitchFamily="34" charset="-122"/>
                <a:cs typeface="Calibri" pitchFamily="34" charset="-120"/>
              </a:rPr>
              <a:t>Church and community review</a:t>
            </a:r>
            <a:endParaRPr lang="en-US" sz="1300" dirty="0"/>
          </a:p>
        </p:txBody>
      </p:sp>
      <p:sp>
        <p:nvSpPr>
          <p:cNvPr id="45" name="Shape 43"/>
          <p:cNvSpPr/>
          <p:nvPr/>
        </p:nvSpPr>
        <p:spPr>
          <a:xfrm>
            <a:off x="3566160" y="5815584"/>
            <a:ext cx="2926080" cy="164592"/>
          </a:xfrm>
          <a:prstGeom prst="rect">
            <a:avLst/>
          </a:prstGeom>
          <a:solidFill>
            <a:srgbClr val="E5E7EB"/>
          </a:solidFill>
          <a:ln w="12700">
            <a:solidFill>
              <a:srgbClr val="E5E7EB"/>
            </a:solidFill>
            <a:prstDash val="solid"/>
          </a:ln>
        </p:spPr>
      </p:sp>
      <p:sp>
        <p:nvSpPr>
          <p:cNvPr id="46" name="Shape 44"/>
          <p:cNvSpPr/>
          <p:nvPr/>
        </p:nvSpPr>
        <p:spPr>
          <a:xfrm>
            <a:off x="3566160" y="5815584"/>
            <a:ext cx="292608" cy="164592"/>
          </a:xfrm>
          <a:prstGeom prst="rect">
            <a:avLst/>
          </a:prstGeom>
          <a:solidFill>
            <a:srgbClr val="B8860B"/>
          </a:solidFill>
          <a:ln w="12700">
            <a:solidFill>
              <a:srgbClr val="B8860B"/>
            </a:solidFill>
            <a:prstDash val="solid"/>
          </a:ln>
        </p:spPr>
      </p:sp>
      <p:sp>
        <p:nvSpPr>
          <p:cNvPr id="47" name="Text 45"/>
          <p:cNvSpPr/>
          <p:nvPr/>
        </p:nvSpPr>
        <p:spPr>
          <a:xfrm>
            <a:off x="6675120" y="5623560"/>
            <a:ext cx="4937760" cy="548640"/>
          </a:xfrm>
          <a:prstGeom prst="rect">
            <a:avLst/>
          </a:prstGeom>
          <a:noFill/>
        </p:spPr>
        <p:txBody>
          <a:bodyPr wrap="square" lIns="0" tIns="0" rIns="0" bIns="0" rtlCol="0" anchor="ctr"/>
          <a:lstStyle/>
          <a:p>
            <a:pPr marL="0" indent="0" algn="l">
              <a:spcAft>
                <a:spcPts val="100"/>
              </a:spcAft>
              <a:buNone/>
            </a:pPr>
            <a:r>
              <a:rPr lang="en-US" sz="1000" b="1" dirty="0">
                <a:solidFill>
                  <a:srgbClr val="B8860B"/>
                </a:solidFill>
                <a:latin typeface="Calibri" pitchFamily="34" charset="0"/>
                <a:ea typeface="Calibri" pitchFamily="34" charset="-122"/>
                <a:cs typeface="Calibri" pitchFamily="34" charset="-120"/>
              </a:rPr>
              <a:t>Present: </a:t>
            </a:r>
            <a:r>
              <a:rPr lang="en-US" sz="1000" dirty="0">
                <a:solidFill>
                  <a:srgbClr val="475569"/>
                </a:solidFill>
                <a:latin typeface="Calibri" pitchFamily="34" charset="0"/>
                <a:ea typeface="Calibri" pitchFamily="34" charset="-122"/>
                <a:cs typeface="Calibri" pitchFamily="34" charset="-120"/>
              </a:rPr>
              <a:t>Some Catholic alignment work shows advisory input; broader review is rare.</a:t>
            </a:r>
            <a:endParaRPr lang="en-US" sz="1000" dirty="0"/>
          </a:p>
          <a:p>
            <a:pPr marL="0" indent="0" algn="l">
              <a:spcAft>
                <a:spcPts val="100"/>
              </a:spcAft>
              <a:buNone/>
            </a:pPr>
            <a:r>
              <a:rPr lang="en-US" sz="1000" b="1" dirty="0">
                <a:solidFill>
                  <a:srgbClr val="0F1E3D"/>
                </a:solidFill>
                <a:latin typeface="Calibri" pitchFamily="34" charset="0"/>
                <a:ea typeface="Calibri" pitchFamily="34" charset="-122"/>
                <a:cs typeface="Calibri" pitchFamily="34" charset="-120"/>
              </a:rPr>
              <a:t>Missing: </a:t>
            </a:r>
            <a:r>
              <a:rPr lang="en-US" sz="1000" dirty="0">
                <a:solidFill>
                  <a:srgbClr val="475569"/>
                </a:solidFill>
                <a:latin typeface="Calibri" pitchFamily="34" charset="0"/>
                <a:ea typeface="Calibri" pitchFamily="34" charset="-122"/>
                <a:cs typeface="Calibri" pitchFamily="34" charset="-120"/>
              </a:rPr>
              <a:t>Pastor, theologian, chaplain, or seminary faculty review panels.</a:t>
            </a:r>
            <a:endParaRPr lang="en-US" sz="1000" dirty="0"/>
          </a:p>
        </p:txBody>
      </p:sp>
      <p:sp>
        <p:nvSpPr>
          <p:cNvPr id="48" name="Shape 46"/>
          <p:cNvSpPr/>
          <p:nvPr/>
        </p:nvSpPr>
        <p:spPr>
          <a:xfrm>
            <a:off x="548640" y="6190488"/>
            <a:ext cx="11064240" cy="0"/>
          </a:xfrm>
          <a:prstGeom prst="line">
            <a:avLst/>
          </a:prstGeom>
          <a:noFill/>
          <a:ln w="9525">
            <a:solidFill>
              <a:srgbClr val="F1F5F9"/>
            </a:solidFill>
            <a:prstDash val="solid"/>
          </a:ln>
        </p:spPr>
      </p:sp>
      <p:sp>
        <p:nvSpPr>
          <p:cNvPr id="49" name="Shape 47"/>
          <p:cNvSpPr/>
          <p:nvPr/>
        </p:nvSpPr>
        <p:spPr>
          <a:xfrm>
            <a:off x="0" y="6217920"/>
            <a:ext cx="12161520" cy="640080"/>
          </a:xfrm>
          <a:prstGeom prst="rect">
            <a:avLst/>
          </a:prstGeom>
          <a:solidFill>
            <a:srgbClr val="0F1E3D"/>
          </a:solidFill>
          <a:ln w="12700">
            <a:solidFill>
              <a:srgbClr val="0F1E3D"/>
            </a:solidFill>
            <a:prstDash val="solid"/>
          </a:ln>
        </p:spPr>
      </p:sp>
      <p:sp>
        <p:nvSpPr>
          <p:cNvPr id="50" name="Text 48"/>
          <p:cNvSpPr/>
          <p:nvPr/>
        </p:nvSpPr>
        <p:spPr>
          <a:xfrm>
            <a:off x="548640" y="6217920"/>
            <a:ext cx="1280160" cy="640080"/>
          </a:xfrm>
          <a:prstGeom prst="rect">
            <a:avLst/>
          </a:prstGeom>
          <a:noFill/>
        </p:spPr>
        <p:txBody>
          <a:bodyPr wrap="square" lIns="0" tIns="0" rIns="0" bIns="0" rtlCol="0" anchor="ctr"/>
          <a:lstStyle/>
          <a:p>
            <a:pPr marL="0" indent="0" algn="l">
              <a:buNone/>
            </a:pPr>
            <a:r>
              <a:rPr lang="en-US" sz="1000" b="1" kern="0" spc="300" dirty="0">
                <a:solidFill>
                  <a:srgbClr val="B8860B"/>
                </a:solidFill>
                <a:latin typeface="Calibri" pitchFamily="34" charset="0"/>
                <a:ea typeface="Calibri" pitchFamily="34" charset="-122"/>
                <a:cs typeface="Calibri" pitchFamily="34" charset="-120"/>
              </a:rPr>
              <a:t>THE GAP</a:t>
            </a:r>
            <a:endParaRPr lang="en-US" sz="1000" dirty="0"/>
          </a:p>
        </p:txBody>
      </p:sp>
      <p:sp>
        <p:nvSpPr>
          <p:cNvPr id="51" name="Text 49"/>
          <p:cNvSpPr/>
          <p:nvPr/>
        </p:nvSpPr>
        <p:spPr>
          <a:xfrm>
            <a:off x="1828800" y="6217920"/>
            <a:ext cx="10332720" cy="640080"/>
          </a:xfrm>
          <a:prstGeom prst="rect">
            <a:avLst/>
          </a:prstGeom>
          <a:noFill/>
        </p:spPr>
        <p:txBody>
          <a:bodyPr wrap="square" lIns="0" tIns="0" rIns="0" bIns="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Christian benchmarks for pastoral judgment and denominational hermeneutics, reviewed by church and seminary experts.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11111"/>
          </a:solidFill>
          <a:ln w="12700">
            <a:solidFill>
              <a:srgbClr val="111111"/>
            </a:solidFill>
            <a:prstDash val="solid"/>
          </a:ln>
        </p:spPr>
        <p:txBody>
          <a:bodyPr/>
          <a:p/>
        </p:txBody>
      </p:sp>
      <p:sp>
        <p:nvSpPr>
          <p:cNvPr id="3" name="Text 1"/>
          <p:cNvSpPr/>
          <p:nvPr/>
        </p:nvSpPr>
        <p:spPr>
          <a:xfrm>
            <a:off x="777240" y="2331720"/>
            <a:ext cx="9692640" cy="658368"/>
          </a:xfrm>
          <a:prstGeom prst="rect">
            <a:avLst/>
          </a:prstGeom>
          <a:noFill/>
        </p:spPr>
        <p:txBody>
          <a:bodyPr wrap="square" lIns="0" tIns="0" rIns="0" bIns="0" rtlCol="0" anchor="ctr">
            <a:normAutofit/>
          </a:bodyPr>
          <a:lstStyle/>
          <a:p>
            <a:pPr marL="0" indent="0">
              <a:buNone/>
            </a:pPr>
            <a:r>
              <a:rPr lang="en-US" sz="3800" b="1" dirty="0">
                <a:solidFill>
                  <a:srgbClr val="1C1C1C"/>
                </a:solidFill>
              </a:rPr>
              <a:t>Appendix</a:t>
            </a:r>
            <a:endParaRPr lang="en-US" sz="3800" dirty="0"/>
          </a:p>
        </p:txBody>
      </p:sp>
      <p:sp>
        <p:nvSpPr>
          <p:cNvPr id="5" name="Shape 3"/>
          <p:cNvSpPr/>
          <p:nvPr/>
        </p:nvSpPr>
        <p:spPr>
          <a:xfrm>
            <a:off x="777240" y="3886200"/>
            <a:ext cx="9875520" cy="0"/>
          </a:xfrm>
          <a:prstGeom prst="line">
            <a:avLst/>
          </a:prstGeom>
          <a:noFill/>
          <a:ln w="25400">
            <a:solidFill>
              <a:srgbClr val="111111"/>
            </a:solidFill>
            <a:prstDash val="solid"/>
          </a:ln>
        </p:spPr>
        <p:txBody>
          <a:bodyPr/>
          <a:p/>
        </p:txBody>
      </p:sp>
      <p:sp>
        <p:nvSpPr>
          <p:cNvPr id="6" name="Text 4"/>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26</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192"/>
            <a:ext cx="2057400" cy="109728"/>
          </a:xfrm>
          <a:prstGeom prst="rect">
            <a:avLst/>
          </a:prstGeom>
          <a:noFill/>
        </p:spPr>
        <p:txBody>
          <a:bodyPr wrap="square" lIns="0" tIns="0" rIns="0" bIns="0" rtlCol="0" anchor="ctr">
            <a:normAutofit/>
          </a:bodyPr>
          <a:lstStyle/>
          <a:p>
            <a:pPr marL="0" indent="0">
              <a:buNone/>
            </a:pPr>
            <a:r>
              <a:rPr lang="en-US" sz="1050" b="1" dirty="0">
                <a:solidFill>
                  <a:srgbClr val="FFFFFF"/>
                </a:solidFill>
              </a:rPr>
              <a:t>APPENDIX</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lang="en-US" sz="2800" b="1" dirty="0">
                <a:solidFill>
                  <a:srgbClr val="1C1C1C"/>
                </a:solidFill>
                <a:latin typeface="Aptos Display" pitchFamily="34" charset="0"/>
                <a:ea typeface="Aptos Display" pitchFamily="34" charset="-122"/>
                <a:cs typeface="Aptos Display" pitchFamily="34" charset="-120"/>
              </a:rPr>
              <a:t>Appendix matrix #25–#36</a:t>
            </a:r>
            <a:endParaRPr lang="en-US" sz="2800" dirty="0"/>
          </a:p>
        </p:txBody>
      </p:sp>
      <p:sp>
        <p:nvSpPr>
          <p:cNvPr id="5" name="Text 3"/>
          <p:cNvSpPr/>
          <p:nvPr/>
        </p:nvSpPr>
        <p:spPr>
          <a:xfrm>
            <a:off x="530352" y="1298448"/>
            <a:ext cx="10789920" cy="256032"/>
          </a:xfrm>
          <a:prstGeom prst="rect">
            <a:avLst/>
          </a:prstGeom>
          <a:noFill/>
        </p:spPr>
        <p:txBody>
          <a:bodyPr wrap="square" lIns="0" tIns="0" rIns="0" bIns="0" rtlCol="0" anchor="ctr">
            <a:normAutofit/>
          </a:bodyPr>
          <a:lstStyle/>
          <a:p>
            <a:pPr marL="0" indent="0">
              <a:buNone/>
            </a:pPr>
            <a:r>
              <a:rPr lang="en-US" sz="1220" i="1" dirty="0">
                <a:solidFill>
                  <a:srgbClr val="6C737F"/>
                </a:solidFill>
              </a:rPr>
              <a:t>Paper-level traceability.</a:t>
            </a:r>
            <a:endParaRPr lang="en-US" sz="1220" dirty="0"/>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27</a:t>
            </a:r>
            <a:endParaRPr lang="en-US" sz="1050" dirty="0"/>
          </a:p>
        </p:txBody>
      </p:sp>
      <p:sp>
        <p:nvSpPr>
          <p:cNvPr id="8" name="Shape 6"/>
          <p:cNvSpPr/>
          <p:nvPr/>
        </p:nvSpPr>
        <p:spPr>
          <a:xfrm>
            <a:off x="457200" y="1773936"/>
            <a:ext cx="594360" cy="347472"/>
          </a:xfrm>
          <a:prstGeom prst="rect">
            <a:avLst/>
          </a:prstGeom>
          <a:solidFill>
            <a:srgbClr val="111111"/>
          </a:solidFill>
          <a:ln w="6985">
            <a:solidFill>
              <a:srgbClr val="D6DAE0"/>
            </a:solidFill>
            <a:prstDash val="solid"/>
          </a:ln>
        </p:spPr>
        <p:txBody>
          <a:bodyPr/>
          <a:p/>
        </p:txBody>
      </p:sp>
      <p:sp>
        <p:nvSpPr>
          <p:cNvPr id="9" name="Text 7"/>
          <p:cNvSpPr/>
          <p:nvPr/>
        </p:nvSpPr>
        <p:spPr>
          <a:xfrm>
            <a:off x="512064" y="1824228"/>
            <a:ext cx="484632" cy="274320"/>
          </a:xfrm>
          <a:prstGeom prst="rect">
            <a:avLst/>
          </a:prstGeom>
          <a:noFill/>
        </p:spPr>
        <p:txBody>
          <a:bodyPr wrap="square" lIns="0" tIns="0" rIns="0" bIns="0" rtlCol="0" anchor="ctr">
            <a:normAutofit/>
          </a:bodyPr>
          <a:lstStyle/>
          <a:p>
            <a:pPr marL="0" indent="0">
              <a:buNone/>
            </a:pPr>
            <a:r>
              <a:rPr lang="en-US" sz="980" b="1" dirty="0">
                <a:solidFill>
                  <a:srgbClr val="FFFFFF"/>
                </a:solidFill>
              </a:rPr>
              <a:t>#</a:t>
            </a:r>
            <a:endParaRPr lang="en-US" sz="980" dirty="0"/>
          </a:p>
        </p:txBody>
      </p:sp>
      <p:sp>
        <p:nvSpPr>
          <p:cNvPr id="10" name="Shape 8"/>
          <p:cNvSpPr/>
          <p:nvPr/>
        </p:nvSpPr>
        <p:spPr>
          <a:xfrm>
            <a:off x="1051560" y="1773936"/>
            <a:ext cx="2377440" cy="347472"/>
          </a:xfrm>
          <a:prstGeom prst="rect">
            <a:avLst/>
          </a:prstGeom>
          <a:solidFill>
            <a:srgbClr val="111111"/>
          </a:solidFill>
          <a:ln w="6985">
            <a:solidFill>
              <a:srgbClr val="D6DAE0"/>
            </a:solidFill>
            <a:prstDash val="solid"/>
          </a:ln>
        </p:spPr>
        <p:txBody>
          <a:bodyPr/>
          <a:p/>
        </p:txBody>
      </p:sp>
      <p:sp>
        <p:nvSpPr>
          <p:cNvPr id="11" name="Text 9"/>
          <p:cNvSpPr/>
          <p:nvPr/>
        </p:nvSpPr>
        <p:spPr>
          <a:xfrm>
            <a:off x="1106424" y="1824228"/>
            <a:ext cx="2267712" cy="274320"/>
          </a:xfrm>
          <a:prstGeom prst="rect">
            <a:avLst/>
          </a:prstGeom>
          <a:noFill/>
        </p:spPr>
        <p:txBody>
          <a:bodyPr wrap="square" lIns="0" tIns="0" rIns="0" bIns="0" rtlCol="0" anchor="ctr">
            <a:normAutofit/>
          </a:bodyPr>
          <a:lstStyle/>
          <a:p>
            <a:pPr marL="0" indent="0">
              <a:buNone/>
            </a:pPr>
            <a:r>
              <a:rPr lang="en-US" sz="980" b="1" dirty="0">
                <a:solidFill>
                  <a:srgbClr val="FFFFFF"/>
                </a:solidFill>
              </a:rPr>
              <a:t>Paper</a:t>
            </a:r>
            <a:endParaRPr lang="en-US" sz="980" dirty="0"/>
          </a:p>
        </p:txBody>
      </p:sp>
      <p:sp>
        <p:nvSpPr>
          <p:cNvPr id="12" name="Shape 10"/>
          <p:cNvSpPr/>
          <p:nvPr/>
        </p:nvSpPr>
        <p:spPr>
          <a:xfrm>
            <a:off x="3429000" y="1773936"/>
            <a:ext cx="1234440" cy="347472"/>
          </a:xfrm>
          <a:prstGeom prst="rect">
            <a:avLst/>
          </a:prstGeom>
          <a:solidFill>
            <a:srgbClr val="111111"/>
          </a:solidFill>
          <a:ln w="6985">
            <a:solidFill>
              <a:srgbClr val="D6DAE0"/>
            </a:solidFill>
            <a:prstDash val="solid"/>
          </a:ln>
        </p:spPr>
        <p:txBody>
          <a:bodyPr/>
          <a:p/>
        </p:txBody>
      </p:sp>
      <p:sp>
        <p:nvSpPr>
          <p:cNvPr id="13" name="Text 11"/>
          <p:cNvSpPr/>
          <p:nvPr/>
        </p:nvSpPr>
        <p:spPr>
          <a:xfrm>
            <a:off x="3483864" y="1824228"/>
            <a:ext cx="1124712" cy="274320"/>
          </a:xfrm>
          <a:prstGeom prst="rect">
            <a:avLst/>
          </a:prstGeom>
          <a:noFill/>
        </p:spPr>
        <p:txBody>
          <a:bodyPr wrap="square" lIns="0" tIns="0" rIns="0" bIns="0" rtlCol="0" anchor="ctr">
            <a:normAutofit/>
          </a:bodyPr>
          <a:lstStyle/>
          <a:p>
            <a:pPr marL="0" indent="0">
              <a:buNone/>
            </a:pPr>
            <a:r>
              <a:rPr lang="en-US" sz="980" b="1" dirty="0">
                <a:solidFill>
                  <a:srgbClr val="FFFFFF"/>
                </a:solidFill>
              </a:rPr>
              <a:t>Tradition</a:t>
            </a:r>
            <a:endParaRPr lang="en-US" sz="980" dirty="0"/>
          </a:p>
        </p:txBody>
      </p:sp>
      <p:sp>
        <p:nvSpPr>
          <p:cNvPr id="14" name="Shape 12"/>
          <p:cNvSpPr/>
          <p:nvPr/>
        </p:nvSpPr>
        <p:spPr>
          <a:xfrm>
            <a:off x="4663440" y="1773936"/>
            <a:ext cx="5166360" cy="347472"/>
          </a:xfrm>
          <a:prstGeom prst="rect">
            <a:avLst/>
          </a:prstGeom>
          <a:solidFill>
            <a:srgbClr val="111111"/>
          </a:solidFill>
          <a:ln w="6985">
            <a:solidFill>
              <a:srgbClr val="D6DAE0"/>
            </a:solidFill>
            <a:prstDash val="solid"/>
          </a:ln>
        </p:spPr>
        <p:txBody>
          <a:bodyPr/>
          <a:p/>
        </p:txBody>
      </p:sp>
      <p:sp>
        <p:nvSpPr>
          <p:cNvPr id="15" name="Text 13"/>
          <p:cNvSpPr/>
          <p:nvPr/>
        </p:nvSpPr>
        <p:spPr>
          <a:xfrm>
            <a:off x="4718304" y="1824228"/>
            <a:ext cx="5056632" cy="274320"/>
          </a:xfrm>
          <a:prstGeom prst="rect">
            <a:avLst/>
          </a:prstGeom>
          <a:noFill/>
        </p:spPr>
        <p:txBody>
          <a:bodyPr wrap="square" lIns="0" tIns="0" rIns="0" bIns="0" rtlCol="0" anchor="ctr">
            <a:normAutofit/>
          </a:bodyPr>
          <a:lstStyle/>
          <a:p>
            <a:pPr marL="0" indent="0">
              <a:buNone/>
            </a:pPr>
            <a:r>
              <a:rPr lang="en-US" sz="980" b="1" dirty="0">
                <a:solidFill>
                  <a:srgbClr val="FFFFFF"/>
                </a:solidFill>
              </a:rPr>
              <a:t>Correct use</a:t>
            </a:r>
            <a:endParaRPr lang="en-US" sz="980" dirty="0"/>
          </a:p>
        </p:txBody>
      </p:sp>
      <p:sp>
        <p:nvSpPr>
          <p:cNvPr id="16" name="Shape 14"/>
          <p:cNvSpPr/>
          <p:nvPr/>
        </p:nvSpPr>
        <p:spPr>
          <a:xfrm>
            <a:off x="9829800" y="1773936"/>
            <a:ext cx="1920240" cy="347472"/>
          </a:xfrm>
          <a:prstGeom prst="rect">
            <a:avLst/>
          </a:prstGeom>
          <a:solidFill>
            <a:srgbClr val="111111"/>
          </a:solidFill>
          <a:ln w="6985">
            <a:solidFill>
              <a:srgbClr val="D6DAE0"/>
            </a:solidFill>
            <a:prstDash val="solid"/>
          </a:ln>
        </p:spPr>
        <p:txBody>
          <a:bodyPr/>
          <a:p/>
        </p:txBody>
      </p:sp>
      <p:sp>
        <p:nvSpPr>
          <p:cNvPr id="17" name="Text 15"/>
          <p:cNvSpPr/>
          <p:nvPr/>
        </p:nvSpPr>
        <p:spPr>
          <a:xfrm>
            <a:off x="9884664" y="1824228"/>
            <a:ext cx="1810512" cy="274320"/>
          </a:xfrm>
          <a:prstGeom prst="rect">
            <a:avLst/>
          </a:prstGeom>
          <a:noFill/>
        </p:spPr>
        <p:txBody>
          <a:bodyPr wrap="square" lIns="0" tIns="0" rIns="0" bIns="0" rtlCol="0" anchor="ctr">
            <a:normAutofit/>
          </a:bodyPr>
          <a:lstStyle/>
          <a:p>
            <a:pPr marL="0" indent="0">
              <a:buNone/>
            </a:pPr>
            <a:r>
              <a:rPr lang="en-US" sz="980" b="1" dirty="0">
                <a:solidFill>
                  <a:srgbClr val="FFFFFF"/>
                </a:solidFill>
              </a:rPr>
              <a:t>Status</a:t>
            </a:r>
            <a:endParaRPr lang="en-US" sz="980" dirty="0"/>
          </a:p>
        </p:txBody>
      </p:sp>
      <p:sp>
        <p:nvSpPr>
          <p:cNvPr id="18" name="Shape 16"/>
          <p:cNvSpPr/>
          <p:nvPr/>
        </p:nvSpPr>
        <p:spPr>
          <a:xfrm>
            <a:off x="457200" y="2121408"/>
            <a:ext cx="594360" cy="365760"/>
          </a:xfrm>
          <a:prstGeom prst="rect">
            <a:avLst/>
          </a:prstGeom>
          <a:solidFill>
            <a:srgbClr val="F5F6F8"/>
          </a:solidFill>
          <a:ln w="6985">
            <a:solidFill>
              <a:srgbClr val="D6DAE0"/>
            </a:solidFill>
            <a:prstDash val="solid"/>
          </a:ln>
        </p:spPr>
        <p:txBody>
          <a:bodyPr/>
          <a:p/>
        </p:txBody>
      </p:sp>
      <p:sp>
        <p:nvSpPr>
          <p:cNvPr id="19" name="Text 17"/>
          <p:cNvSpPr/>
          <p:nvPr/>
        </p:nvSpPr>
        <p:spPr>
          <a:xfrm>
            <a:off x="512064" y="2171700"/>
            <a:ext cx="484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25</a:t>
            </a:r>
            <a:endParaRPr lang="en-US" sz="980" dirty="0"/>
          </a:p>
        </p:txBody>
      </p:sp>
      <p:sp>
        <p:nvSpPr>
          <p:cNvPr id="20" name="Shape 18"/>
          <p:cNvSpPr/>
          <p:nvPr/>
        </p:nvSpPr>
        <p:spPr>
          <a:xfrm>
            <a:off x="1051560" y="2121408"/>
            <a:ext cx="2377440" cy="365760"/>
          </a:xfrm>
          <a:prstGeom prst="rect">
            <a:avLst/>
          </a:prstGeom>
          <a:solidFill>
            <a:srgbClr val="F5F6F8"/>
          </a:solidFill>
          <a:ln w="6985">
            <a:solidFill>
              <a:srgbClr val="D6DAE0"/>
            </a:solidFill>
            <a:prstDash val="solid"/>
          </a:ln>
        </p:spPr>
        <p:txBody>
          <a:bodyPr/>
          <a:p/>
        </p:txBody>
      </p:sp>
      <p:sp>
        <p:nvSpPr>
          <p:cNvPr id="21" name="Text 19"/>
          <p:cNvSpPr/>
          <p:nvPr/>
        </p:nvSpPr>
        <p:spPr>
          <a:xfrm>
            <a:off x="1106424" y="2171700"/>
            <a:ext cx="22677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eBible</a:t>
            </a:r>
            <a:endParaRPr lang="en-US" sz="980" dirty="0"/>
          </a:p>
        </p:txBody>
      </p:sp>
      <p:sp>
        <p:nvSpPr>
          <p:cNvPr id="22" name="Shape 20"/>
          <p:cNvSpPr/>
          <p:nvPr/>
        </p:nvSpPr>
        <p:spPr>
          <a:xfrm>
            <a:off x="3429000" y="2121408"/>
            <a:ext cx="1234440" cy="365760"/>
          </a:xfrm>
          <a:prstGeom prst="rect">
            <a:avLst/>
          </a:prstGeom>
          <a:solidFill>
            <a:srgbClr val="F5F6F8"/>
          </a:solidFill>
          <a:ln w="6985">
            <a:solidFill>
              <a:srgbClr val="D6DAE0"/>
            </a:solidFill>
            <a:prstDash val="solid"/>
          </a:ln>
        </p:spPr>
        <p:txBody>
          <a:bodyPr/>
          <a:p/>
        </p:txBody>
      </p:sp>
      <p:sp>
        <p:nvSpPr>
          <p:cNvPr id="23" name="Text 21"/>
          <p:cNvSpPr/>
          <p:nvPr/>
        </p:nvSpPr>
        <p:spPr>
          <a:xfrm>
            <a:off x="3483864" y="2171700"/>
            <a:ext cx="11247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Christianity</a:t>
            </a:r>
            <a:endParaRPr lang="en-US" sz="980" dirty="0"/>
          </a:p>
        </p:txBody>
      </p:sp>
      <p:sp>
        <p:nvSpPr>
          <p:cNvPr id="24" name="Shape 22"/>
          <p:cNvSpPr/>
          <p:nvPr/>
        </p:nvSpPr>
        <p:spPr>
          <a:xfrm>
            <a:off x="4663440" y="2121408"/>
            <a:ext cx="5166360" cy="365760"/>
          </a:xfrm>
          <a:prstGeom prst="rect">
            <a:avLst/>
          </a:prstGeom>
          <a:solidFill>
            <a:srgbClr val="F5F6F8"/>
          </a:solidFill>
          <a:ln w="6985">
            <a:solidFill>
              <a:srgbClr val="D6DAE0"/>
            </a:solidFill>
            <a:prstDash val="solid"/>
          </a:ln>
        </p:spPr>
        <p:txBody>
          <a:bodyPr/>
          <a:p/>
        </p:txBody>
      </p:sp>
      <p:sp>
        <p:nvSpPr>
          <p:cNvPr id="25" name="Text 23"/>
          <p:cNvSpPr/>
          <p:nvPr/>
        </p:nvSpPr>
        <p:spPr>
          <a:xfrm>
            <a:off x="4718304" y="2171700"/>
            <a:ext cx="5056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Bible translation / multilingual corpus</a:t>
            </a:r>
            <a:endParaRPr lang="en-US" sz="980" dirty="0"/>
          </a:p>
        </p:txBody>
      </p:sp>
      <p:sp>
        <p:nvSpPr>
          <p:cNvPr id="26" name="Shape 24"/>
          <p:cNvSpPr/>
          <p:nvPr/>
        </p:nvSpPr>
        <p:spPr>
          <a:xfrm>
            <a:off x="9829800" y="2121408"/>
            <a:ext cx="1920240" cy="365760"/>
          </a:xfrm>
          <a:prstGeom prst="rect">
            <a:avLst/>
          </a:prstGeom>
          <a:solidFill>
            <a:srgbClr val="F5F6F8"/>
          </a:solidFill>
          <a:ln w="6985">
            <a:solidFill>
              <a:srgbClr val="D6DAE0"/>
            </a:solidFill>
            <a:prstDash val="solid"/>
          </a:ln>
        </p:spPr>
        <p:txBody>
          <a:bodyPr/>
          <a:p/>
        </p:txBody>
      </p:sp>
      <p:sp>
        <p:nvSpPr>
          <p:cNvPr id="27" name="Text 25"/>
          <p:cNvSpPr/>
          <p:nvPr/>
        </p:nvSpPr>
        <p:spPr>
          <a:xfrm>
            <a:off x="9884664" y="2171700"/>
            <a:ext cx="18105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Resource</a:t>
            </a:r>
            <a:endParaRPr lang="en-US" sz="980" dirty="0"/>
          </a:p>
        </p:txBody>
      </p:sp>
      <p:sp>
        <p:nvSpPr>
          <p:cNvPr id="28" name="Shape 26"/>
          <p:cNvSpPr/>
          <p:nvPr/>
        </p:nvSpPr>
        <p:spPr>
          <a:xfrm>
            <a:off x="457200" y="2487168"/>
            <a:ext cx="594360" cy="365760"/>
          </a:xfrm>
          <a:prstGeom prst="rect">
            <a:avLst/>
          </a:prstGeom>
          <a:solidFill>
            <a:srgbClr val="FFFFFF"/>
          </a:solidFill>
          <a:ln w="6985">
            <a:solidFill>
              <a:srgbClr val="D6DAE0"/>
            </a:solidFill>
            <a:prstDash val="solid"/>
          </a:ln>
        </p:spPr>
        <p:txBody>
          <a:bodyPr/>
          <a:p/>
        </p:txBody>
      </p:sp>
      <p:sp>
        <p:nvSpPr>
          <p:cNvPr id="29" name="Text 27"/>
          <p:cNvSpPr/>
          <p:nvPr/>
        </p:nvSpPr>
        <p:spPr>
          <a:xfrm>
            <a:off x="512064" y="2537460"/>
            <a:ext cx="484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26</a:t>
            </a:r>
            <a:endParaRPr lang="en-US" sz="980" dirty="0"/>
          </a:p>
        </p:txBody>
      </p:sp>
      <p:sp>
        <p:nvSpPr>
          <p:cNvPr id="30" name="Shape 28"/>
          <p:cNvSpPr/>
          <p:nvPr/>
        </p:nvSpPr>
        <p:spPr>
          <a:xfrm>
            <a:off x="1051560" y="2487168"/>
            <a:ext cx="2377440" cy="365760"/>
          </a:xfrm>
          <a:prstGeom prst="rect">
            <a:avLst/>
          </a:prstGeom>
          <a:solidFill>
            <a:srgbClr val="FFFFFF"/>
          </a:solidFill>
          <a:ln w="6985">
            <a:solidFill>
              <a:srgbClr val="D6DAE0"/>
            </a:solidFill>
            <a:prstDash val="solid"/>
          </a:ln>
        </p:spPr>
        <p:txBody>
          <a:bodyPr/>
          <a:p/>
        </p:txBody>
      </p:sp>
      <p:sp>
        <p:nvSpPr>
          <p:cNvPr id="31" name="Text 29"/>
          <p:cNvSpPr/>
          <p:nvPr/>
        </p:nvSpPr>
        <p:spPr>
          <a:xfrm>
            <a:off x="1106424" y="2537460"/>
            <a:ext cx="22677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BuddhismEval</a:t>
            </a:r>
            <a:endParaRPr lang="en-US" sz="980" dirty="0"/>
          </a:p>
        </p:txBody>
      </p:sp>
      <p:sp>
        <p:nvSpPr>
          <p:cNvPr id="32" name="Shape 30"/>
          <p:cNvSpPr/>
          <p:nvPr/>
        </p:nvSpPr>
        <p:spPr>
          <a:xfrm>
            <a:off x="3429000" y="2487168"/>
            <a:ext cx="1234440" cy="365760"/>
          </a:xfrm>
          <a:prstGeom prst="rect">
            <a:avLst/>
          </a:prstGeom>
          <a:solidFill>
            <a:srgbClr val="FFFFFF"/>
          </a:solidFill>
          <a:ln w="6985">
            <a:solidFill>
              <a:srgbClr val="D6DAE0"/>
            </a:solidFill>
            <a:prstDash val="solid"/>
          </a:ln>
        </p:spPr>
        <p:txBody>
          <a:bodyPr/>
          <a:p/>
        </p:txBody>
      </p:sp>
      <p:sp>
        <p:nvSpPr>
          <p:cNvPr id="33" name="Text 31"/>
          <p:cNvSpPr/>
          <p:nvPr/>
        </p:nvSpPr>
        <p:spPr>
          <a:xfrm>
            <a:off x="3483864" y="2537460"/>
            <a:ext cx="11247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Buddhism</a:t>
            </a:r>
            <a:endParaRPr lang="en-US" sz="980" dirty="0"/>
          </a:p>
        </p:txBody>
      </p:sp>
      <p:sp>
        <p:nvSpPr>
          <p:cNvPr id="34" name="Shape 32"/>
          <p:cNvSpPr/>
          <p:nvPr/>
        </p:nvSpPr>
        <p:spPr>
          <a:xfrm>
            <a:off x="4663440" y="2487168"/>
            <a:ext cx="5166360" cy="365760"/>
          </a:xfrm>
          <a:prstGeom prst="rect">
            <a:avLst/>
          </a:prstGeom>
          <a:solidFill>
            <a:srgbClr val="FFFFFF"/>
          </a:solidFill>
          <a:ln w="6985">
            <a:solidFill>
              <a:srgbClr val="D6DAE0"/>
            </a:solidFill>
            <a:prstDash val="solid"/>
          </a:ln>
        </p:spPr>
        <p:txBody>
          <a:bodyPr/>
          <a:p/>
        </p:txBody>
      </p:sp>
      <p:sp>
        <p:nvSpPr>
          <p:cNvPr id="35" name="Text 33"/>
          <p:cNvSpPr/>
          <p:nvPr/>
        </p:nvSpPr>
        <p:spPr>
          <a:xfrm>
            <a:off x="4718304" y="2537460"/>
            <a:ext cx="5056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Buddhist ethics + </a:t>
            </a:r>
            <a:r>
              <a:rPr lang="en-US" sz="980" b="1" dirty="0">
                <a:solidFill>
                  <a:srgbClr val="1C1C1C"/>
                </a:solidFill>
              </a:rPr>
              <a:t>doctrine</a:t>
            </a:r>
            <a:r>
              <a:rPr lang="en-US" sz="980" dirty="0">
                <a:solidFill>
                  <a:srgbClr val="1C1C1C"/>
                </a:solidFill>
              </a:rPr>
              <a:t> MCQ</a:t>
            </a:r>
            <a:endParaRPr lang="en-US" sz="980" dirty="0"/>
          </a:p>
        </p:txBody>
      </p:sp>
      <p:sp>
        <p:nvSpPr>
          <p:cNvPr id="36" name="Shape 34"/>
          <p:cNvSpPr/>
          <p:nvPr/>
        </p:nvSpPr>
        <p:spPr>
          <a:xfrm>
            <a:off x="9829800" y="2487168"/>
            <a:ext cx="1920240" cy="365760"/>
          </a:xfrm>
          <a:prstGeom prst="rect">
            <a:avLst/>
          </a:prstGeom>
          <a:solidFill>
            <a:srgbClr val="FFFFFF"/>
          </a:solidFill>
          <a:ln w="6985">
            <a:solidFill>
              <a:srgbClr val="D6DAE0"/>
            </a:solidFill>
            <a:prstDash val="solid"/>
          </a:ln>
        </p:spPr>
        <p:txBody>
          <a:bodyPr/>
          <a:p/>
        </p:txBody>
      </p:sp>
      <p:sp>
        <p:nvSpPr>
          <p:cNvPr id="37" name="Text 35"/>
          <p:cNvSpPr/>
          <p:nvPr/>
        </p:nvSpPr>
        <p:spPr>
          <a:xfrm>
            <a:off x="9884664" y="2537460"/>
            <a:ext cx="18105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Run</a:t>
            </a:r>
            <a:endParaRPr lang="en-US" sz="980" dirty="0"/>
          </a:p>
        </p:txBody>
      </p:sp>
      <p:sp>
        <p:nvSpPr>
          <p:cNvPr id="38" name="Shape 36"/>
          <p:cNvSpPr/>
          <p:nvPr/>
        </p:nvSpPr>
        <p:spPr>
          <a:xfrm>
            <a:off x="457200" y="2852928"/>
            <a:ext cx="594360" cy="365760"/>
          </a:xfrm>
          <a:prstGeom prst="rect">
            <a:avLst/>
          </a:prstGeom>
          <a:solidFill>
            <a:srgbClr val="F5F6F8"/>
          </a:solidFill>
          <a:ln w="6985">
            <a:solidFill>
              <a:srgbClr val="D6DAE0"/>
            </a:solidFill>
            <a:prstDash val="solid"/>
          </a:ln>
        </p:spPr>
        <p:txBody>
          <a:bodyPr/>
          <a:p/>
        </p:txBody>
      </p:sp>
      <p:sp>
        <p:nvSpPr>
          <p:cNvPr id="39" name="Text 37"/>
          <p:cNvSpPr/>
          <p:nvPr/>
        </p:nvSpPr>
        <p:spPr>
          <a:xfrm>
            <a:off x="512064" y="2903220"/>
            <a:ext cx="484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27</a:t>
            </a:r>
            <a:endParaRPr lang="en-US" sz="980" dirty="0"/>
          </a:p>
        </p:txBody>
      </p:sp>
      <p:sp>
        <p:nvSpPr>
          <p:cNvPr id="40" name="Shape 38"/>
          <p:cNvSpPr/>
          <p:nvPr/>
        </p:nvSpPr>
        <p:spPr>
          <a:xfrm>
            <a:off x="1051560" y="2852928"/>
            <a:ext cx="2377440" cy="365760"/>
          </a:xfrm>
          <a:prstGeom prst="rect">
            <a:avLst/>
          </a:prstGeom>
          <a:solidFill>
            <a:srgbClr val="F5F6F8"/>
          </a:solidFill>
          <a:ln w="6985">
            <a:solidFill>
              <a:srgbClr val="D6DAE0"/>
            </a:solidFill>
            <a:prstDash val="solid"/>
          </a:ln>
        </p:spPr>
        <p:txBody>
          <a:bodyPr/>
          <a:p/>
        </p:txBody>
      </p:sp>
      <p:sp>
        <p:nvSpPr>
          <p:cNvPr id="41" name="Text 39"/>
          <p:cNvSpPr/>
          <p:nvPr/>
        </p:nvSpPr>
        <p:spPr>
          <a:xfrm>
            <a:off x="1106424" y="2903220"/>
            <a:ext cx="22677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Fabricated Hadith</a:t>
            </a:r>
            <a:endParaRPr lang="en-US" sz="980" dirty="0"/>
          </a:p>
        </p:txBody>
      </p:sp>
      <p:sp>
        <p:nvSpPr>
          <p:cNvPr id="42" name="Shape 40"/>
          <p:cNvSpPr/>
          <p:nvPr/>
        </p:nvSpPr>
        <p:spPr>
          <a:xfrm>
            <a:off x="3429000" y="2852928"/>
            <a:ext cx="1234440" cy="365760"/>
          </a:xfrm>
          <a:prstGeom prst="rect">
            <a:avLst/>
          </a:prstGeom>
          <a:solidFill>
            <a:srgbClr val="F5F6F8"/>
          </a:solidFill>
          <a:ln w="6985">
            <a:solidFill>
              <a:srgbClr val="D6DAE0"/>
            </a:solidFill>
            <a:prstDash val="solid"/>
          </a:ln>
        </p:spPr>
        <p:txBody>
          <a:bodyPr/>
          <a:p/>
        </p:txBody>
      </p:sp>
      <p:sp>
        <p:nvSpPr>
          <p:cNvPr id="43" name="Text 41"/>
          <p:cNvSpPr/>
          <p:nvPr/>
        </p:nvSpPr>
        <p:spPr>
          <a:xfrm>
            <a:off x="3483864" y="2903220"/>
            <a:ext cx="11247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Islam</a:t>
            </a:r>
            <a:endParaRPr lang="en-US" sz="980" dirty="0"/>
          </a:p>
        </p:txBody>
      </p:sp>
      <p:sp>
        <p:nvSpPr>
          <p:cNvPr id="44" name="Shape 42"/>
          <p:cNvSpPr/>
          <p:nvPr/>
        </p:nvSpPr>
        <p:spPr>
          <a:xfrm>
            <a:off x="4663440" y="2852928"/>
            <a:ext cx="5166360" cy="365760"/>
          </a:xfrm>
          <a:prstGeom prst="rect">
            <a:avLst/>
          </a:prstGeom>
          <a:solidFill>
            <a:srgbClr val="F5F6F8"/>
          </a:solidFill>
          <a:ln w="6985">
            <a:solidFill>
              <a:srgbClr val="D6DAE0"/>
            </a:solidFill>
            <a:prstDash val="solid"/>
          </a:ln>
        </p:spPr>
        <p:txBody>
          <a:bodyPr/>
          <a:p/>
        </p:txBody>
      </p:sp>
      <p:sp>
        <p:nvSpPr>
          <p:cNvPr id="45" name="Text 43"/>
          <p:cNvSpPr/>
          <p:nvPr/>
        </p:nvSpPr>
        <p:spPr>
          <a:xfrm>
            <a:off x="4718304" y="2903220"/>
            <a:ext cx="5056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Hadith authenticity classification</a:t>
            </a:r>
            <a:endParaRPr lang="en-US" sz="980" dirty="0"/>
          </a:p>
        </p:txBody>
      </p:sp>
      <p:sp>
        <p:nvSpPr>
          <p:cNvPr id="46" name="Shape 44"/>
          <p:cNvSpPr/>
          <p:nvPr/>
        </p:nvSpPr>
        <p:spPr>
          <a:xfrm>
            <a:off x="9829800" y="2852928"/>
            <a:ext cx="1920240" cy="365760"/>
          </a:xfrm>
          <a:prstGeom prst="rect">
            <a:avLst/>
          </a:prstGeom>
          <a:solidFill>
            <a:srgbClr val="F5F6F8"/>
          </a:solidFill>
          <a:ln w="6985">
            <a:solidFill>
              <a:srgbClr val="D6DAE0"/>
            </a:solidFill>
            <a:prstDash val="solid"/>
          </a:ln>
        </p:spPr>
        <p:txBody>
          <a:bodyPr/>
          <a:p/>
        </p:txBody>
      </p:sp>
      <p:sp>
        <p:nvSpPr>
          <p:cNvPr id="47" name="Text 45"/>
          <p:cNvSpPr/>
          <p:nvPr/>
        </p:nvSpPr>
        <p:spPr>
          <a:xfrm>
            <a:off x="9884664" y="2903220"/>
            <a:ext cx="18105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Backup</a:t>
            </a:r>
            <a:endParaRPr lang="en-US" sz="980" dirty="0"/>
          </a:p>
        </p:txBody>
      </p:sp>
      <p:sp>
        <p:nvSpPr>
          <p:cNvPr id="48" name="Shape 46"/>
          <p:cNvSpPr/>
          <p:nvPr/>
        </p:nvSpPr>
        <p:spPr>
          <a:xfrm>
            <a:off x="457200" y="3218688"/>
            <a:ext cx="594360" cy="365760"/>
          </a:xfrm>
          <a:prstGeom prst="rect">
            <a:avLst/>
          </a:prstGeom>
          <a:solidFill>
            <a:srgbClr val="FFFFFF"/>
          </a:solidFill>
          <a:ln w="6985">
            <a:solidFill>
              <a:srgbClr val="D6DAE0"/>
            </a:solidFill>
            <a:prstDash val="solid"/>
          </a:ln>
        </p:spPr>
        <p:txBody>
          <a:bodyPr/>
          <a:p/>
        </p:txBody>
      </p:sp>
      <p:sp>
        <p:nvSpPr>
          <p:cNvPr id="49" name="Text 47"/>
          <p:cNvSpPr/>
          <p:nvPr/>
        </p:nvSpPr>
        <p:spPr>
          <a:xfrm>
            <a:off x="512064" y="3268980"/>
            <a:ext cx="484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28/29</a:t>
            </a:r>
            <a:endParaRPr lang="en-US" sz="980" dirty="0"/>
          </a:p>
        </p:txBody>
      </p:sp>
      <p:sp>
        <p:nvSpPr>
          <p:cNvPr id="50" name="Shape 48"/>
          <p:cNvSpPr/>
          <p:nvPr/>
        </p:nvSpPr>
        <p:spPr>
          <a:xfrm>
            <a:off x="1051560" y="3218688"/>
            <a:ext cx="2377440" cy="365760"/>
          </a:xfrm>
          <a:prstGeom prst="rect">
            <a:avLst/>
          </a:prstGeom>
          <a:solidFill>
            <a:srgbClr val="FFFFFF"/>
          </a:solidFill>
          <a:ln w="6985">
            <a:solidFill>
              <a:srgbClr val="D6DAE0"/>
            </a:solidFill>
            <a:prstDash val="solid"/>
          </a:ln>
        </p:spPr>
        <p:txBody>
          <a:bodyPr/>
          <a:p/>
        </p:txBody>
      </p:sp>
      <p:sp>
        <p:nvSpPr>
          <p:cNvPr id="51" name="Text 49"/>
          <p:cNvSpPr/>
          <p:nvPr/>
        </p:nvSpPr>
        <p:spPr>
          <a:xfrm>
            <a:off x="1106424" y="3268980"/>
            <a:ext cx="22677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BaniDB / GurbaniDB</a:t>
            </a:r>
            <a:endParaRPr lang="en-US" sz="980" dirty="0"/>
          </a:p>
        </p:txBody>
      </p:sp>
      <p:sp>
        <p:nvSpPr>
          <p:cNvPr id="52" name="Shape 50"/>
          <p:cNvSpPr/>
          <p:nvPr/>
        </p:nvSpPr>
        <p:spPr>
          <a:xfrm>
            <a:off x="3429000" y="3218688"/>
            <a:ext cx="1234440" cy="365760"/>
          </a:xfrm>
          <a:prstGeom prst="rect">
            <a:avLst/>
          </a:prstGeom>
          <a:solidFill>
            <a:srgbClr val="FFFFFF"/>
          </a:solidFill>
          <a:ln w="6985">
            <a:solidFill>
              <a:srgbClr val="D6DAE0"/>
            </a:solidFill>
            <a:prstDash val="solid"/>
          </a:ln>
        </p:spPr>
        <p:txBody>
          <a:bodyPr/>
          <a:p/>
        </p:txBody>
      </p:sp>
      <p:sp>
        <p:nvSpPr>
          <p:cNvPr id="53" name="Text 51"/>
          <p:cNvSpPr/>
          <p:nvPr/>
        </p:nvSpPr>
        <p:spPr>
          <a:xfrm>
            <a:off x="3483864" y="3268980"/>
            <a:ext cx="11247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Sikhism</a:t>
            </a:r>
            <a:endParaRPr lang="en-US" sz="980" dirty="0"/>
          </a:p>
        </p:txBody>
      </p:sp>
      <p:sp>
        <p:nvSpPr>
          <p:cNvPr id="54" name="Shape 52"/>
          <p:cNvSpPr/>
          <p:nvPr/>
        </p:nvSpPr>
        <p:spPr>
          <a:xfrm>
            <a:off x="4663440" y="3218688"/>
            <a:ext cx="5166360" cy="365760"/>
          </a:xfrm>
          <a:prstGeom prst="rect">
            <a:avLst/>
          </a:prstGeom>
          <a:solidFill>
            <a:srgbClr val="FFFFFF"/>
          </a:solidFill>
          <a:ln w="6985">
            <a:solidFill>
              <a:srgbClr val="D6DAE0"/>
            </a:solidFill>
            <a:prstDash val="solid"/>
          </a:ln>
        </p:spPr>
        <p:txBody>
          <a:bodyPr/>
          <a:p/>
        </p:txBody>
      </p:sp>
      <p:sp>
        <p:nvSpPr>
          <p:cNvPr id="55" name="Text 53"/>
          <p:cNvSpPr/>
          <p:nvPr/>
        </p:nvSpPr>
        <p:spPr>
          <a:xfrm>
            <a:off x="4718304" y="3268980"/>
            <a:ext cx="5056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Sikh </a:t>
            </a:r>
            <a:r>
              <a:rPr lang="en-US" sz="980" b="1" dirty="0">
                <a:solidFill>
                  <a:srgbClr val="1C1C1C"/>
                </a:solidFill>
              </a:rPr>
              <a:t>scripture</a:t>
            </a:r>
            <a:r>
              <a:rPr lang="en-US" sz="980" dirty="0">
                <a:solidFill>
                  <a:srgbClr val="1C1C1C"/>
                </a:solidFill>
              </a:rPr>
              <a:t> resources</a:t>
            </a:r>
            <a:endParaRPr lang="en-US" sz="980" dirty="0"/>
          </a:p>
        </p:txBody>
      </p:sp>
      <p:sp>
        <p:nvSpPr>
          <p:cNvPr id="56" name="Shape 54"/>
          <p:cNvSpPr/>
          <p:nvPr/>
        </p:nvSpPr>
        <p:spPr>
          <a:xfrm>
            <a:off x="9829800" y="3218688"/>
            <a:ext cx="1920240" cy="365760"/>
          </a:xfrm>
          <a:prstGeom prst="rect">
            <a:avLst/>
          </a:prstGeom>
          <a:solidFill>
            <a:srgbClr val="FFFFFF"/>
          </a:solidFill>
          <a:ln w="6985">
            <a:solidFill>
              <a:srgbClr val="D6DAE0"/>
            </a:solidFill>
            <a:prstDash val="solid"/>
          </a:ln>
        </p:spPr>
        <p:txBody>
          <a:bodyPr/>
          <a:p/>
        </p:txBody>
      </p:sp>
      <p:sp>
        <p:nvSpPr>
          <p:cNvPr id="57" name="Text 55"/>
          <p:cNvSpPr/>
          <p:nvPr/>
        </p:nvSpPr>
        <p:spPr>
          <a:xfrm>
            <a:off x="9884664" y="3268980"/>
            <a:ext cx="18105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Build</a:t>
            </a:r>
            <a:endParaRPr lang="en-US" sz="980" dirty="0"/>
          </a:p>
        </p:txBody>
      </p:sp>
      <p:sp>
        <p:nvSpPr>
          <p:cNvPr id="58" name="Shape 56"/>
          <p:cNvSpPr/>
          <p:nvPr/>
        </p:nvSpPr>
        <p:spPr>
          <a:xfrm>
            <a:off x="457200" y="3584448"/>
            <a:ext cx="594360" cy="365760"/>
          </a:xfrm>
          <a:prstGeom prst="rect">
            <a:avLst/>
          </a:prstGeom>
          <a:solidFill>
            <a:srgbClr val="F5F6F8"/>
          </a:solidFill>
          <a:ln w="6985">
            <a:solidFill>
              <a:srgbClr val="D6DAE0"/>
            </a:solidFill>
            <a:prstDash val="solid"/>
          </a:ln>
        </p:spPr>
        <p:txBody>
          <a:bodyPr/>
          <a:p/>
        </p:txBody>
      </p:sp>
      <p:sp>
        <p:nvSpPr>
          <p:cNvPr id="59" name="Text 57"/>
          <p:cNvSpPr/>
          <p:nvPr/>
        </p:nvSpPr>
        <p:spPr>
          <a:xfrm>
            <a:off x="512064" y="3634740"/>
            <a:ext cx="484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30</a:t>
            </a:r>
            <a:endParaRPr lang="en-US" sz="980" dirty="0"/>
          </a:p>
        </p:txBody>
      </p:sp>
      <p:sp>
        <p:nvSpPr>
          <p:cNvPr id="60" name="Shape 58"/>
          <p:cNvSpPr/>
          <p:nvPr/>
        </p:nvSpPr>
        <p:spPr>
          <a:xfrm>
            <a:off x="1051560" y="3584448"/>
            <a:ext cx="2377440" cy="365760"/>
          </a:xfrm>
          <a:prstGeom prst="rect">
            <a:avLst/>
          </a:prstGeom>
          <a:solidFill>
            <a:srgbClr val="F5F6F8"/>
          </a:solidFill>
          <a:ln w="6985">
            <a:solidFill>
              <a:srgbClr val="D6DAE0"/>
            </a:solidFill>
            <a:prstDash val="solid"/>
          </a:ln>
        </p:spPr>
        <p:txBody>
          <a:bodyPr/>
          <a:p/>
        </p:txBody>
      </p:sp>
      <p:sp>
        <p:nvSpPr>
          <p:cNvPr id="61" name="Text 59"/>
          <p:cNvSpPr/>
          <p:nvPr/>
        </p:nvSpPr>
        <p:spPr>
          <a:xfrm>
            <a:off x="1106424" y="3634740"/>
            <a:ext cx="22677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REDDITBIAS</a:t>
            </a:r>
            <a:endParaRPr lang="en-US" sz="980" dirty="0"/>
          </a:p>
        </p:txBody>
      </p:sp>
      <p:sp>
        <p:nvSpPr>
          <p:cNvPr id="62" name="Shape 60"/>
          <p:cNvSpPr/>
          <p:nvPr/>
        </p:nvSpPr>
        <p:spPr>
          <a:xfrm>
            <a:off x="3429000" y="3584448"/>
            <a:ext cx="1234440" cy="365760"/>
          </a:xfrm>
          <a:prstGeom prst="rect">
            <a:avLst/>
          </a:prstGeom>
          <a:solidFill>
            <a:srgbClr val="F5F6F8"/>
          </a:solidFill>
          <a:ln w="6985">
            <a:solidFill>
              <a:srgbClr val="D6DAE0"/>
            </a:solidFill>
            <a:prstDash val="solid"/>
          </a:ln>
        </p:spPr>
        <p:txBody>
          <a:bodyPr/>
          <a:p/>
        </p:txBody>
      </p:sp>
      <p:sp>
        <p:nvSpPr>
          <p:cNvPr id="63" name="Text 61"/>
          <p:cNvSpPr/>
          <p:nvPr/>
        </p:nvSpPr>
        <p:spPr>
          <a:xfrm>
            <a:off x="3483864" y="3634740"/>
            <a:ext cx="11247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Bias/safety</a:t>
            </a:r>
            <a:endParaRPr lang="en-US" sz="980" dirty="0"/>
          </a:p>
        </p:txBody>
      </p:sp>
      <p:sp>
        <p:nvSpPr>
          <p:cNvPr id="64" name="Shape 62"/>
          <p:cNvSpPr/>
          <p:nvPr/>
        </p:nvSpPr>
        <p:spPr>
          <a:xfrm>
            <a:off x="4663440" y="3584448"/>
            <a:ext cx="5166360" cy="365760"/>
          </a:xfrm>
          <a:prstGeom prst="rect">
            <a:avLst/>
          </a:prstGeom>
          <a:solidFill>
            <a:srgbClr val="F5F6F8"/>
          </a:solidFill>
          <a:ln w="6985">
            <a:solidFill>
              <a:srgbClr val="D6DAE0"/>
            </a:solidFill>
            <a:prstDash val="solid"/>
          </a:ln>
        </p:spPr>
        <p:txBody>
          <a:bodyPr/>
          <a:p/>
        </p:txBody>
      </p:sp>
      <p:sp>
        <p:nvSpPr>
          <p:cNvPr id="65" name="Text 63"/>
          <p:cNvSpPr/>
          <p:nvPr/>
        </p:nvSpPr>
        <p:spPr>
          <a:xfrm>
            <a:off x="4718304" y="3634740"/>
            <a:ext cx="5056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Religious-group bias, not </a:t>
            </a:r>
            <a:r>
              <a:rPr lang="en-US" sz="980" b="1" dirty="0">
                <a:solidFill>
                  <a:srgbClr val="1C1C1C"/>
                </a:solidFill>
              </a:rPr>
              <a:t>Track A</a:t>
            </a:r>
            <a:r>
              <a:rPr lang="en-US" sz="980" dirty="0">
                <a:solidFill>
                  <a:srgbClr val="1C1C1C"/>
                </a:solidFill>
              </a:rPr>
              <a:t>/B</a:t>
            </a:r>
            <a:endParaRPr lang="en-US" sz="980" dirty="0"/>
          </a:p>
        </p:txBody>
      </p:sp>
      <p:sp>
        <p:nvSpPr>
          <p:cNvPr id="66" name="Shape 64"/>
          <p:cNvSpPr/>
          <p:nvPr/>
        </p:nvSpPr>
        <p:spPr>
          <a:xfrm>
            <a:off x="9829800" y="3584448"/>
            <a:ext cx="1920240" cy="365760"/>
          </a:xfrm>
          <a:prstGeom prst="rect">
            <a:avLst/>
          </a:prstGeom>
          <a:solidFill>
            <a:srgbClr val="F5F6F8"/>
          </a:solidFill>
          <a:ln w="6985">
            <a:solidFill>
              <a:srgbClr val="D6DAE0"/>
            </a:solidFill>
            <a:prstDash val="solid"/>
          </a:ln>
        </p:spPr>
        <p:txBody>
          <a:bodyPr/>
          <a:p/>
        </p:txBody>
      </p:sp>
      <p:sp>
        <p:nvSpPr>
          <p:cNvPr id="67" name="Text 65"/>
          <p:cNvSpPr/>
          <p:nvPr/>
        </p:nvSpPr>
        <p:spPr>
          <a:xfrm>
            <a:off x="9884664" y="3634740"/>
            <a:ext cx="18105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No</a:t>
            </a:r>
            <a:endParaRPr lang="en-US" sz="980" dirty="0"/>
          </a:p>
        </p:txBody>
      </p:sp>
      <p:sp>
        <p:nvSpPr>
          <p:cNvPr id="68" name="Shape 66"/>
          <p:cNvSpPr/>
          <p:nvPr/>
        </p:nvSpPr>
        <p:spPr>
          <a:xfrm>
            <a:off x="457200" y="3950208"/>
            <a:ext cx="594360" cy="365760"/>
          </a:xfrm>
          <a:prstGeom prst="rect">
            <a:avLst/>
          </a:prstGeom>
          <a:solidFill>
            <a:srgbClr val="FFFFFF"/>
          </a:solidFill>
          <a:ln w="6985">
            <a:solidFill>
              <a:srgbClr val="D6DAE0"/>
            </a:solidFill>
            <a:prstDash val="solid"/>
          </a:ln>
        </p:spPr>
        <p:txBody>
          <a:bodyPr/>
          <a:p/>
        </p:txBody>
      </p:sp>
      <p:sp>
        <p:nvSpPr>
          <p:cNvPr id="69" name="Text 67"/>
          <p:cNvSpPr/>
          <p:nvPr/>
        </p:nvSpPr>
        <p:spPr>
          <a:xfrm>
            <a:off x="512064" y="4000500"/>
            <a:ext cx="484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31</a:t>
            </a:r>
            <a:endParaRPr lang="en-US" sz="980" dirty="0"/>
          </a:p>
        </p:txBody>
      </p:sp>
      <p:sp>
        <p:nvSpPr>
          <p:cNvPr id="70" name="Shape 68"/>
          <p:cNvSpPr/>
          <p:nvPr/>
        </p:nvSpPr>
        <p:spPr>
          <a:xfrm>
            <a:off x="1051560" y="3950208"/>
            <a:ext cx="2377440" cy="365760"/>
          </a:xfrm>
          <a:prstGeom prst="rect">
            <a:avLst/>
          </a:prstGeom>
          <a:solidFill>
            <a:srgbClr val="FFFFFF"/>
          </a:solidFill>
          <a:ln w="6985">
            <a:solidFill>
              <a:srgbClr val="D6DAE0"/>
            </a:solidFill>
            <a:prstDash val="solid"/>
          </a:ln>
        </p:spPr>
        <p:txBody>
          <a:bodyPr/>
          <a:p/>
        </p:txBody>
      </p:sp>
      <p:sp>
        <p:nvSpPr>
          <p:cNvPr id="71" name="Text 69"/>
          <p:cNvSpPr/>
          <p:nvPr/>
        </p:nvSpPr>
        <p:spPr>
          <a:xfrm>
            <a:off x="1106424" y="4000500"/>
            <a:ext cx="22677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DharmicData</a:t>
            </a:r>
            <a:endParaRPr lang="en-US" sz="980" dirty="0"/>
          </a:p>
        </p:txBody>
      </p:sp>
      <p:sp>
        <p:nvSpPr>
          <p:cNvPr id="72" name="Shape 70"/>
          <p:cNvSpPr/>
          <p:nvPr/>
        </p:nvSpPr>
        <p:spPr>
          <a:xfrm>
            <a:off x="3429000" y="3950208"/>
            <a:ext cx="1234440" cy="365760"/>
          </a:xfrm>
          <a:prstGeom prst="rect">
            <a:avLst/>
          </a:prstGeom>
          <a:solidFill>
            <a:srgbClr val="FFFFFF"/>
          </a:solidFill>
          <a:ln w="6985">
            <a:solidFill>
              <a:srgbClr val="D6DAE0"/>
            </a:solidFill>
            <a:prstDash val="solid"/>
          </a:ln>
        </p:spPr>
        <p:txBody>
          <a:bodyPr/>
          <a:p/>
        </p:txBody>
      </p:sp>
      <p:sp>
        <p:nvSpPr>
          <p:cNvPr id="73" name="Text 71"/>
          <p:cNvSpPr/>
          <p:nvPr/>
        </p:nvSpPr>
        <p:spPr>
          <a:xfrm>
            <a:off x="3483864" y="4000500"/>
            <a:ext cx="11247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Hinduism</a:t>
            </a:r>
            <a:endParaRPr lang="en-US" sz="980" dirty="0"/>
          </a:p>
        </p:txBody>
      </p:sp>
      <p:sp>
        <p:nvSpPr>
          <p:cNvPr id="74" name="Shape 72"/>
          <p:cNvSpPr/>
          <p:nvPr/>
        </p:nvSpPr>
        <p:spPr>
          <a:xfrm>
            <a:off x="4663440" y="3950208"/>
            <a:ext cx="5166360" cy="365760"/>
          </a:xfrm>
          <a:prstGeom prst="rect">
            <a:avLst/>
          </a:prstGeom>
          <a:solidFill>
            <a:srgbClr val="FFFFFF"/>
          </a:solidFill>
          <a:ln w="6985">
            <a:solidFill>
              <a:srgbClr val="D6DAE0"/>
            </a:solidFill>
            <a:prstDash val="solid"/>
          </a:ln>
        </p:spPr>
        <p:txBody>
          <a:bodyPr/>
          <a:p/>
        </p:txBody>
      </p:sp>
      <p:sp>
        <p:nvSpPr>
          <p:cNvPr id="75" name="Text 73"/>
          <p:cNvSpPr/>
          <p:nvPr/>
        </p:nvSpPr>
        <p:spPr>
          <a:xfrm>
            <a:off x="4718304" y="4000500"/>
            <a:ext cx="5056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Hindu </a:t>
            </a:r>
            <a:r>
              <a:rPr lang="en-US" sz="980" b="1" dirty="0">
                <a:solidFill>
                  <a:srgbClr val="1C1C1C"/>
                </a:solidFill>
              </a:rPr>
              <a:t>scripture</a:t>
            </a:r>
            <a:r>
              <a:rPr lang="en-US" sz="980" dirty="0">
                <a:solidFill>
                  <a:srgbClr val="1C1C1C"/>
                </a:solidFill>
              </a:rPr>
              <a:t> corpus</a:t>
            </a:r>
            <a:endParaRPr lang="en-US" sz="980" dirty="0"/>
          </a:p>
        </p:txBody>
      </p:sp>
      <p:sp>
        <p:nvSpPr>
          <p:cNvPr id="76" name="Shape 74"/>
          <p:cNvSpPr/>
          <p:nvPr/>
        </p:nvSpPr>
        <p:spPr>
          <a:xfrm>
            <a:off x="9829800" y="3950208"/>
            <a:ext cx="1920240" cy="365760"/>
          </a:xfrm>
          <a:prstGeom prst="rect">
            <a:avLst/>
          </a:prstGeom>
          <a:solidFill>
            <a:srgbClr val="FFFFFF"/>
          </a:solidFill>
          <a:ln w="6985">
            <a:solidFill>
              <a:srgbClr val="D6DAE0"/>
            </a:solidFill>
            <a:prstDash val="solid"/>
          </a:ln>
        </p:spPr>
        <p:txBody>
          <a:bodyPr/>
          <a:p/>
        </p:txBody>
      </p:sp>
      <p:sp>
        <p:nvSpPr>
          <p:cNvPr id="77" name="Text 75"/>
          <p:cNvSpPr/>
          <p:nvPr/>
        </p:nvSpPr>
        <p:spPr>
          <a:xfrm>
            <a:off x="9884664" y="4000500"/>
            <a:ext cx="18105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Build</a:t>
            </a:r>
            <a:endParaRPr lang="en-US" sz="980" dirty="0"/>
          </a:p>
        </p:txBody>
      </p:sp>
      <p:sp>
        <p:nvSpPr>
          <p:cNvPr id="78" name="Shape 76"/>
          <p:cNvSpPr/>
          <p:nvPr/>
        </p:nvSpPr>
        <p:spPr>
          <a:xfrm>
            <a:off x="457200" y="4315968"/>
            <a:ext cx="594360" cy="365760"/>
          </a:xfrm>
          <a:prstGeom prst="rect">
            <a:avLst/>
          </a:prstGeom>
          <a:solidFill>
            <a:srgbClr val="F5F6F8"/>
          </a:solidFill>
          <a:ln w="6985">
            <a:solidFill>
              <a:srgbClr val="D6DAE0"/>
            </a:solidFill>
            <a:prstDash val="solid"/>
          </a:ln>
        </p:spPr>
        <p:txBody>
          <a:bodyPr/>
          <a:p/>
        </p:txBody>
      </p:sp>
      <p:sp>
        <p:nvSpPr>
          <p:cNvPr id="79" name="Text 77"/>
          <p:cNvSpPr/>
          <p:nvPr/>
        </p:nvSpPr>
        <p:spPr>
          <a:xfrm>
            <a:off x="512064" y="4366260"/>
            <a:ext cx="484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32</a:t>
            </a:r>
            <a:endParaRPr lang="en-US" sz="980" dirty="0"/>
          </a:p>
        </p:txBody>
      </p:sp>
      <p:sp>
        <p:nvSpPr>
          <p:cNvPr id="80" name="Shape 78"/>
          <p:cNvSpPr/>
          <p:nvPr/>
        </p:nvSpPr>
        <p:spPr>
          <a:xfrm>
            <a:off x="1051560" y="4315968"/>
            <a:ext cx="2377440" cy="365760"/>
          </a:xfrm>
          <a:prstGeom prst="rect">
            <a:avLst/>
          </a:prstGeom>
          <a:solidFill>
            <a:srgbClr val="F5F6F8"/>
          </a:solidFill>
          <a:ln w="6985">
            <a:solidFill>
              <a:srgbClr val="D6DAE0"/>
            </a:solidFill>
            <a:prstDash val="solid"/>
          </a:ln>
        </p:spPr>
        <p:txBody>
          <a:bodyPr/>
          <a:p/>
        </p:txBody>
      </p:sp>
      <p:sp>
        <p:nvSpPr>
          <p:cNvPr id="81" name="Text 79"/>
          <p:cNvSpPr/>
          <p:nvPr/>
        </p:nvSpPr>
        <p:spPr>
          <a:xfrm>
            <a:off x="1106424" y="4366260"/>
            <a:ext cx="22677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Islam QA</a:t>
            </a:r>
            <a:endParaRPr lang="en-US" sz="980" dirty="0"/>
          </a:p>
        </p:txBody>
      </p:sp>
      <p:sp>
        <p:nvSpPr>
          <p:cNvPr id="82" name="Shape 80"/>
          <p:cNvSpPr/>
          <p:nvPr/>
        </p:nvSpPr>
        <p:spPr>
          <a:xfrm>
            <a:off x="3429000" y="4315968"/>
            <a:ext cx="1234440" cy="365760"/>
          </a:xfrm>
          <a:prstGeom prst="rect">
            <a:avLst/>
          </a:prstGeom>
          <a:solidFill>
            <a:srgbClr val="F5F6F8"/>
          </a:solidFill>
          <a:ln w="6985">
            <a:solidFill>
              <a:srgbClr val="D6DAE0"/>
            </a:solidFill>
            <a:prstDash val="solid"/>
          </a:ln>
        </p:spPr>
        <p:txBody>
          <a:bodyPr/>
          <a:p/>
        </p:txBody>
      </p:sp>
      <p:sp>
        <p:nvSpPr>
          <p:cNvPr id="83" name="Text 81"/>
          <p:cNvSpPr/>
          <p:nvPr/>
        </p:nvSpPr>
        <p:spPr>
          <a:xfrm>
            <a:off x="3483864" y="4366260"/>
            <a:ext cx="11247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Islam</a:t>
            </a:r>
            <a:endParaRPr lang="en-US" sz="980" dirty="0"/>
          </a:p>
        </p:txBody>
      </p:sp>
      <p:sp>
        <p:nvSpPr>
          <p:cNvPr id="84" name="Shape 82"/>
          <p:cNvSpPr/>
          <p:nvPr/>
        </p:nvSpPr>
        <p:spPr>
          <a:xfrm>
            <a:off x="4663440" y="4315968"/>
            <a:ext cx="5166360" cy="365760"/>
          </a:xfrm>
          <a:prstGeom prst="rect">
            <a:avLst/>
          </a:prstGeom>
          <a:solidFill>
            <a:srgbClr val="F5F6F8"/>
          </a:solidFill>
          <a:ln w="6985">
            <a:solidFill>
              <a:srgbClr val="D6DAE0"/>
            </a:solidFill>
            <a:prstDash val="solid"/>
          </a:ln>
        </p:spPr>
        <p:txBody>
          <a:bodyPr/>
          <a:p/>
        </p:txBody>
      </p:sp>
      <p:sp>
        <p:nvSpPr>
          <p:cNvPr id="85" name="Text 83"/>
          <p:cNvSpPr/>
          <p:nvPr/>
        </p:nvSpPr>
        <p:spPr>
          <a:xfrm>
            <a:off x="4718304" y="4366260"/>
            <a:ext cx="5056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Islamic Q&amp;A; verify exact source</a:t>
            </a:r>
            <a:endParaRPr lang="en-US" sz="980" dirty="0"/>
          </a:p>
        </p:txBody>
      </p:sp>
      <p:sp>
        <p:nvSpPr>
          <p:cNvPr id="86" name="Shape 84"/>
          <p:cNvSpPr/>
          <p:nvPr/>
        </p:nvSpPr>
        <p:spPr>
          <a:xfrm>
            <a:off x="9829800" y="4315968"/>
            <a:ext cx="1920240" cy="365760"/>
          </a:xfrm>
          <a:prstGeom prst="rect">
            <a:avLst/>
          </a:prstGeom>
          <a:solidFill>
            <a:srgbClr val="F5F6F8"/>
          </a:solidFill>
          <a:ln w="6985">
            <a:solidFill>
              <a:srgbClr val="D6DAE0"/>
            </a:solidFill>
            <a:prstDash val="solid"/>
          </a:ln>
        </p:spPr>
        <p:txBody>
          <a:bodyPr/>
          <a:p/>
        </p:txBody>
      </p:sp>
      <p:sp>
        <p:nvSpPr>
          <p:cNvPr id="87" name="Text 85"/>
          <p:cNvSpPr/>
          <p:nvPr/>
        </p:nvSpPr>
        <p:spPr>
          <a:xfrm>
            <a:off x="9884664" y="4366260"/>
            <a:ext cx="18105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Verify</a:t>
            </a:r>
            <a:endParaRPr lang="en-US" sz="980" dirty="0"/>
          </a:p>
        </p:txBody>
      </p:sp>
      <p:sp>
        <p:nvSpPr>
          <p:cNvPr id="88" name="Shape 86"/>
          <p:cNvSpPr/>
          <p:nvPr/>
        </p:nvSpPr>
        <p:spPr>
          <a:xfrm>
            <a:off x="457200" y="4681728"/>
            <a:ext cx="594360" cy="365760"/>
          </a:xfrm>
          <a:prstGeom prst="rect">
            <a:avLst/>
          </a:prstGeom>
          <a:solidFill>
            <a:srgbClr val="FFFFFF"/>
          </a:solidFill>
          <a:ln w="6985">
            <a:solidFill>
              <a:srgbClr val="D6DAE0"/>
            </a:solidFill>
            <a:prstDash val="solid"/>
          </a:ln>
        </p:spPr>
        <p:txBody>
          <a:bodyPr/>
          <a:p/>
        </p:txBody>
      </p:sp>
      <p:sp>
        <p:nvSpPr>
          <p:cNvPr id="89" name="Text 87"/>
          <p:cNvSpPr/>
          <p:nvPr/>
        </p:nvSpPr>
        <p:spPr>
          <a:xfrm>
            <a:off x="512064" y="4732020"/>
            <a:ext cx="484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33</a:t>
            </a:r>
            <a:endParaRPr lang="en-US" sz="980" dirty="0"/>
          </a:p>
        </p:txBody>
      </p:sp>
      <p:sp>
        <p:nvSpPr>
          <p:cNvPr id="90" name="Shape 88"/>
          <p:cNvSpPr/>
          <p:nvPr/>
        </p:nvSpPr>
        <p:spPr>
          <a:xfrm>
            <a:off x="1051560" y="4681728"/>
            <a:ext cx="2377440" cy="365760"/>
          </a:xfrm>
          <a:prstGeom prst="rect">
            <a:avLst/>
          </a:prstGeom>
          <a:solidFill>
            <a:srgbClr val="FFFFFF"/>
          </a:solidFill>
          <a:ln w="6985">
            <a:solidFill>
              <a:srgbClr val="D6DAE0"/>
            </a:solidFill>
            <a:prstDash val="solid"/>
          </a:ln>
        </p:spPr>
        <p:txBody>
          <a:bodyPr/>
          <a:p/>
        </p:txBody>
      </p:sp>
      <p:sp>
        <p:nvSpPr>
          <p:cNvPr id="91" name="Text 89"/>
          <p:cNvSpPr/>
          <p:nvPr/>
        </p:nvSpPr>
        <p:spPr>
          <a:xfrm>
            <a:off x="1106424" y="4732020"/>
            <a:ext cx="22677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Vedic Compound</a:t>
            </a:r>
            <a:endParaRPr lang="en-US" sz="980" dirty="0"/>
          </a:p>
        </p:txBody>
      </p:sp>
      <p:sp>
        <p:nvSpPr>
          <p:cNvPr id="92" name="Shape 90"/>
          <p:cNvSpPr/>
          <p:nvPr/>
        </p:nvSpPr>
        <p:spPr>
          <a:xfrm>
            <a:off x="3429000" y="4681728"/>
            <a:ext cx="1234440" cy="365760"/>
          </a:xfrm>
          <a:prstGeom prst="rect">
            <a:avLst/>
          </a:prstGeom>
          <a:solidFill>
            <a:srgbClr val="FFFFFF"/>
          </a:solidFill>
          <a:ln w="6985">
            <a:solidFill>
              <a:srgbClr val="D6DAE0"/>
            </a:solidFill>
            <a:prstDash val="solid"/>
          </a:ln>
        </p:spPr>
        <p:txBody>
          <a:bodyPr/>
          <a:p/>
        </p:txBody>
      </p:sp>
      <p:sp>
        <p:nvSpPr>
          <p:cNvPr id="93" name="Text 91"/>
          <p:cNvSpPr/>
          <p:nvPr/>
        </p:nvSpPr>
        <p:spPr>
          <a:xfrm>
            <a:off x="3483864" y="4732020"/>
            <a:ext cx="11247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Hinduism</a:t>
            </a:r>
            <a:endParaRPr lang="en-US" sz="980" dirty="0"/>
          </a:p>
        </p:txBody>
      </p:sp>
      <p:sp>
        <p:nvSpPr>
          <p:cNvPr id="94" name="Shape 92"/>
          <p:cNvSpPr/>
          <p:nvPr/>
        </p:nvSpPr>
        <p:spPr>
          <a:xfrm>
            <a:off x="4663440" y="4681728"/>
            <a:ext cx="5166360" cy="365760"/>
          </a:xfrm>
          <a:prstGeom prst="rect">
            <a:avLst/>
          </a:prstGeom>
          <a:solidFill>
            <a:srgbClr val="FFFFFF"/>
          </a:solidFill>
          <a:ln w="6985">
            <a:solidFill>
              <a:srgbClr val="D6DAE0"/>
            </a:solidFill>
            <a:prstDash val="solid"/>
          </a:ln>
        </p:spPr>
        <p:txBody>
          <a:bodyPr/>
          <a:p/>
        </p:txBody>
      </p:sp>
      <p:sp>
        <p:nvSpPr>
          <p:cNvPr id="95" name="Text 93"/>
          <p:cNvSpPr/>
          <p:nvPr/>
        </p:nvSpPr>
        <p:spPr>
          <a:xfrm>
            <a:off x="4718304" y="4732020"/>
            <a:ext cx="5056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Sanskrit morphology</a:t>
            </a:r>
            <a:endParaRPr lang="en-US" sz="980" dirty="0"/>
          </a:p>
        </p:txBody>
      </p:sp>
      <p:sp>
        <p:nvSpPr>
          <p:cNvPr id="96" name="Shape 94"/>
          <p:cNvSpPr/>
          <p:nvPr/>
        </p:nvSpPr>
        <p:spPr>
          <a:xfrm>
            <a:off x="9829800" y="4681728"/>
            <a:ext cx="1920240" cy="365760"/>
          </a:xfrm>
          <a:prstGeom prst="rect">
            <a:avLst/>
          </a:prstGeom>
          <a:solidFill>
            <a:srgbClr val="FFFFFF"/>
          </a:solidFill>
          <a:ln w="6985">
            <a:solidFill>
              <a:srgbClr val="D6DAE0"/>
            </a:solidFill>
            <a:prstDash val="solid"/>
          </a:ln>
        </p:spPr>
        <p:txBody>
          <a:bodyPr/>
          <a:p/>
        </p:txBody>
      </p:sp>
      <p:sp>
        <p:nvSpPr>
          <p:cNvPr id="97" name="Text 95"/>
          <p:cNvSpPr/>
          <p:nvPr/>
        </p:nvSpPr>
        <p:spPr>
          <a:xfrm>
            <a:off x="9884664" y="4732020"/>
            <a:ext cx="18105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No</a:t>
            </a:r>
            <a:endParaRPr lang="en-US" sz="980" dirty="0"/>
          </a:p>
        </p:txBody>
      </p:sp>
      <p:sp>
        <p:nvSpPr>
          <p:cNvPr id="98" name="Shape 96"/>
          <p:cNvSpPr/>
          <p:nvPr/>
        </p:nvSpPr>
        <p:spPr>
          <a:xfrm>
            <a:off x="457200" y="5047488"/>
            <a:ext cx="594360" cy="365760"/>
          </a:xfrm>
          <a:prstGeom prst="rect">
            <a:avLst/>
          </a:prstGeom>
          <a:solidFill>
            <a:srgbClr val="F5F6F8"/>
          </a:solidFill>
          <a:ln w="6985">
            <a:solidFill>
              <a:srgbClr val="D6DAE0"/>
            </a:solidFill>
            <a:prstDash val="solid"/>
          </a:ln>
        </p:spPr>
        <p:txBody>
          <a:bodyPr/>
          <a:p/>
        </p:txBody>
      </p:sp>
      <p:sp>
        <p:nvSpPr>
          <p:cNvPr id="99" name="Text 97"/>
          <p:cNvSpPr/>
          <p:nvPr/>
        </p:nvSpPr>
        <p:spPr>
          <a:xfrm>
            <a:off x="512064" y="5097780"/>
            <a:ext cx="484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34</a:t>
            </a:r>
            <a:endParaRPr lang="en-US" sz="980" dirty="0"/>
          </a:p>
        </p:txBody>
      </p:sp>
      <p:sp>
        <p:nvSpPr>
          <p:cNvPr id="100" name="Shape 98"/>
          <p:cNvSpPr/>
          <p:nvPr/>
        </p:nvSpPr>
        <p:spPr>
          <a:xfrm>
            <a:off x="1051560" y="5047488"/>
            <a:ext cx="2377440" cy="365760"/>
          </a:xfrm>
          <a:prstGeom prst="rect">
            <a:avLst/>
          </a:prstGeom>
          <a:solidFill>
            <a:srgbClr val="F5F6F8"/>
          </a:solidFill>
          <a:ln w="6985">
            <a:solidFill>
              <a:srgbClr val="D6DAE0"/>
            </a:solidFill>
            <a:prstDash val="solid"/>
          </a:ln>
        </p:spPr>
        <p:txBody>
          <a:bodyPr/>
          <a:p/>
        </p:txBody>
      </p:sp>
      <p:sp>
        <p:nvSpPr>
          <p:cNvPr id="101" name="Text 99"/>
          <p:cNvSpPr/>
          <p:nvPr/>
        </p:nvSpPr>
        <p:spPr>
          <a:xfrm>
            <a:off x="1106424" y="5097780"/>
            <a:ext cx="22677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Confucian Analects</a:t>
            </a:r>
            <a:endParaRPr lang="en-US" sz="980" dirty="0"/>
          </a:p>
        </p:txBody>
      </p:sp>
      <p:sp>
        <p:nvSpPr>
          <p:cNvPr id="102" name="Shape 100"/>
          <p:cNvSpPr/>
          <p:nvPr/>
        </p:nvSpPr>
        <p:spPr>
          <a:xfrm>
            <a:off x="3429000" y="5047488"/>
            <a:ext cx="1234440" cy="365760"/>
          </a:xfrm>
          <a:prstGeom prst="rect">
            <a:avLst/>
          </a:prstGeom>
          <a:solidFill>
            <a:srgbClr val="F5F6F8"/>
          </a:solidFill>
          <a:ln w="6985">
            <a:solidFill>
              <a:srgbClr val="D6DAE0"/>
            </a:solidFill>
            <a:prstDash val="solid"/>
          </a:ln>
        </p:spPr>
        <p:txBody>
          <a:bodyPr/>
          <a:p/>
        </p:txBody>
      </p:sp>
      <p:sp>
        <p:nvSpPr>
          <p:cNvPr id="103" name="Text 101"/>
          <p:cNvSpPr/>
          <p:nvPr/>
        </p:nvSpPr>
        <p:spPr>
          <a:xfrm>
            <a:off x="3483864" y="5097780"/>
            <a:ext cx="11247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Confucianism</a:t>
            </a:r>
            <a:endParaRPr lang="en-US" sz="980" dirty="0"/>
          </a:p>
        </p:txBody>
      </p:sp>
      <p:sp>
        <p:nvSpPr>
          <p:cNvPr id="104" name="Shape 102"/>
          <p:cNvSpPr/>
          <p:nvPr/>
        </p:nvSpPr>
        <p:spPr>
          <a:xfrm>
            <a:off x="4663440" y="5047488"/>
            <a:ext cx="5166360" cy="365760"/>
          </a:xfrm>
          <a:prstGeom prst="rect">
            <a:avLst/>
          </a:prstGeom>
          <a:solidFill>
            <a:srgbClr val="F5F6F8"/>
          </a:solidFill>
          <a:ln w="6985">
            <a:solidFill>
              <a:srgbClr val="D6DAE0"/>
            </a:solidFill>
            <a:prstDash val="solid"/>
          </a:ln>
        </p:spPr>
        <p:txBody>
          <a:bodyPr/>
          <a:p/>
        </p:txBody>
      </p:sp>
      <p:sp>
        <p:nvSpPr>
          <p:cNvPr id="105" name="Text 103"/>
          <p:cNvSpPr/>
          <p:nvPr/>
        </p:nvSpPr>
        <p:spPr>
          <a:xfrm>
            <a:off x="4718304" y="5097780"/>
            <a:ext cx="5056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Values/alignment construction</a:t>
            </a:r>
            <a:endParaRPr lang="en-US" sz="980" dirty="0"/>
          </a:p>
        </p:txBody>
      </p:sp>
      <p:sp>
        <p:nvSpPr>
          <p:cNvPr id="106" name="Shape 104"/>
          <p:cNvSpPr/>
          <p:nvPr/>
        </p:nvSpPr>
        <p:spPr>
          <a:xfrm>
            <a:off x="9829800" y="5047488"/>
            <a:ext cx="1920240" cy="365760"/>
          </a:xfrm>
          <a:prstGeom prst="rect">
            <a:avLst/>
          </a:prstGeom>
          <a:solidFill>
            <a:srgbClr val="F5F6F8"/>
          </a:solidFill>
          <a:ln w="6985">
            <a:solidFill>
              <a:srgbClr val="D6DAE0"/>
            </a:solidFill>
            <a:prstDash val="solid"/>
          </a:ln>
        </p:spPr>
        <p:txBody>
          <a:bodyPr/>
          <a:p/>
        </p:txBody>
      </p:sp>
      <p:sp>
        <p:nvSpPr>
          <p:cNvPr id="107" name="Text 105"/>
          <p:cNvSpPr/>
          <p:nvPr/>
        </p:nvSpPr>
        <p:spPr>
          <a:xfrm>
            <a:off x="9884664" y="5097780"/>
            <a:ext cx="18105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Build</a:t>
            </a:r>
            <a:endParaRPr lang="en-US" sz="980" dirty="0"/>
          </a:p>
        </p:txBody>
      </p:sp>
      <p:sp>
        <p:nvSpPr>
          <p:cNvPr id="108" name="Shape 106"/>
          <p:cNvSpPr/>
          <p:nvPr/>
        </p:nvSpPr>
        <p:spPr>
          <a:xfrm>
            <a:off x="457200" y="5413248"/>
            <a:ext cx="594360" cy="365760"/>
          </a:xfrm>
          <a:prstGeom prst="rect">
            <a:avLst/>
          </a:prstGeom>
          <a:solidFill>
            <a:srgbClr val="FFFFFF"/>
          </a:solidFill>
          <a:ln w="6985">
            <a:solidFill>
              <a:srgbClr val="D6DAE0"/>
            </a:solidFill>
            <a:prstDash val="solid"/>
          </a:ln>
        </p:spPr>
        <p:txBody>
          <a:bodyPr/>
          <a:p/>
        </p:txBody>
      </p:sp>
      <p:sp>
        <p:nvSpPr>
          <p:cNvPr id="109" name="Text 107"/>
          <p:cNvSpPr/>
          <p:nvPr/>
        </p:nvSpPr>
        <p:spPr>
          <a:xfrm>
            <a:off x="512064" y="5463540"/>
            <a:ext cx="484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35</a:t>
            </a:r>
            <a:endParaRPr lang="en-US" sz="980" dirty="0"/>
          </a:p>
        </p:txBody>
      </p:sp>
      <p:sp>
        <p:nvSpPr>
          <p:cNvPr id="110" name="Shape 108"/>
          <p:cNvSpPr/>
          <p:nvPr/>
        </p:nvSpPr>
        <p:spPr>
          <a:xfrm>
            <a:off x="1051560" y="5413248"/>
            <a:ext cx="2377440" cy="365760"/>
          </a:xfrm>
          <a:prstGeom prst="rect">
            <a:avLst/>
          </a:prstGeom>
          <a:solidFill>
            <a:srgbClr val="FFFFFF"/>
          </a:solidFill>
          <a:ln w="6985">
            <a:solidFill>
              <a:srgbClr val="D6DAE0"/>
            </a:solidFill>
            <a:prstDash val="solid"/>
          </a:ln>
        </p:spPr>
        <p:txBody>
          <a:bodyPr/>
          <a:p/>
        </p:txBody>
      </p:sp>
      <p:sp>
        <p:nvSpPr>
          <p:cNvPr id="111" name="Text 109"/>
          <p:cNvSpPr/>
          <p:nvPr/>
        </p:nvSpPr>
        <p:spPr>
          <a:xfrm>
            <a:off x="1106424" y="5463540"/>
            <a:ext cx="22677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IslamTrust</a:t>
            </a:r>
            <a:endParaRPr lang="en-US" sz="980" dirty="0"/>
          </a:p>
        </p:txBody>
      </p:sp>
      <p:sp>
        <p:nvSpPr>
          <p:cNvPr id="112" name="Shape 110"/>
          <p:cNvSpPr/>
          <p:nvPr/>
        </p:nvSpPr>
        <p:spPr>
          <a:xfrm>
            <a:off x="3429000" y="5413248"/>
            <a:ext cx="1234440" cy="365760"/>
          </a:xfrm>
          <a:prstGeom prst="rect">
            <a:avLst/>
          </a:prstGeom>
          <a:solidFill>
            <a:srgbClr val="FFFFFF"/>
          </a:solidFill>
          <a:ln w="6985">
            <a:solidFill>
              <a:srgbClr val="D6DAE0"/>
            </a:solidFill>
            <a:prstDash val="solid"/>
          </a:ln>
        </p:spPr>
        <p:txBody>
          <a:bodyPr/>
          <a:p/>
        </p:txBody>
      </p:sp>
      <p:sp>
        <p:nvSpPr>
          <p:cNvPr id="113" name="Text 111"/>
          <p:cNvSpPr/>
          <p:nvPr/>
        </p:nvSpPr>
        <p:spPr>
          <a:xfrm>
            <a:off x="3483864" y="5463540"/>
            <a:ext cx="11247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Islam</a:t>
            </a:r>
            <a:endParaRPr lang="en-US" sz="980" dirty="0"/>
          </a:p>
        </p:txBody>
      </p:sp>
      <p:sp>
        <p:nvSpPr>
          <p:cNvPr id="114" name="Shape 112"/>
          <p:cNvSpPr/>
          <p:nvPr/>
        </p:nvSpPr>
        <p:spPr>
          <a:xfrm>
            <a:off x="4663440" y="5413248"/>
            <a:ext cx="5166360" cy="365760"/>
          </a:xfrm>
          <a:prstGeom prst="rect">
            <a:avLst/>
          </a:prstGeom>
          <a:solidFill>
            <a:srgbClr val="FFFFFF"/>
          </a:solidFill>
          <a:ln w="6985">
            <a:solidFill>
              <a:srgbClr val="D6DAE0"/>
            </a:solidFill>
            <a:prstDash val="solid"/>
          </a:ln>
        </p:spPr>
        <p:txBody>
          <a:bodyPr/>
          <a:p/>
        </p:txBody>
      </p:sp>
      <p:sp>
        <p:nvSpPr>
          <p:cNvPr id="115" name="Text 113"/>
          <p:cNvSpPr/>
          <p:nvPr/>
        </p:nvSpPr>
        <p:spPr>
          <a:xfrm>
            <a:off x="4718304" y="5463540"/>
            <a:ext cx="5056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Islamic </a:t>
            </a:r>
            <a:r>
              <a:rPr lang="en-US" sz="980" b="1" dirty="0">
                <a:solidFill>
                  <a:srgbClr val="1C1C1C"/>
                </a:solidFill>
              </a:rPr>
              <a:t>values alignment</a:t>
            </a:r>
            <a:endParaRPr lang="en-US" sz="980" dirty="0"/>
          </a:p>
        </p:txBody>
      </p:sp>
      <p:sp>
        <p:nvSpPr>
          <p:cNvPr id="116" name="Shape 114"/>
          <p:cNvSpPr/>
          <p:nvPr/>
        </p:nvSpPr>
        <p:spPr>
          <a:xfrm>
            <a:off x="9829800" y="5413248"/>
            <a:ext cx="1920240" cy="365760"/>
          </a:xfrm>
          <a:prstGeom prst="rect">
            <a:avLst/>
          </a:prstGeom>
          <a:solidFill>
            <a:srgbClr val="FFFFFF"/>
          </a:solidFill>
          <a:ln w="6985">
            <a:solidFill>
              <a:srgbClr val="D6DAE0"/>
            </a:solidFill>
            <a:prstDash val="solid"/>
          </a:ln>
        </p:spPr>
        <p:txBody>
          <a:bodyPr/>
          <a:p/>
        </p:txBody>
      </p:sp>
      <p:sp>
        <p:nvSpPr>
          <p:cNvPr id="117" name="Text 115"/>
          <p:cNvSpPr/>
          <p:nvPr/>
        </p:nvSpPr>
        <p:spPr>
          <a:xfrm>
            <a:off x="9884664" y="5463540"/>
            <a:ext cx="18105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Run</a:t>
            </a:r>
            <a:endParaRPr lang="en-US" sz="980" dirty="0"/>
          </a:p>
        </p:txBody>
      </p:sp>
      <p:sp>
        <p:nvSpPr>
          <p:cNvPr id="118" name="Shape 116"/>
          <p:cNvSpPr/>
          <p:nvPr/>
        </p:nvSpPr>
        <p:spPr>
          <a:xfrm>
            <a:off x="457200" y="5779008"/>
            <a:ext cx="594360" cy="365760"/>
          </a:xfrm>
          <a:prstGeom prst="rect">
            <a:avLst/>
          </a:prstGeom>
          <a:solidFill>
            <a:srgbClr val="F5F6F8"/>
          </a:solidFill>
          <a:ln w="6985">
            <a:solidFill>
              <a:srgbClr val="D6DAE0"/>
            </a:solidFill>
            <a:prstDash val="solid"/>
          </a:ln>
        </p:spPr>
        <p:txBody>
          <a:bodyPr/>
          <a:p/>
        </p:txBody>
      </p:sp>
      <p:sp>
        <p:nvSpPr>
          <p:cNvPr id="119" name="Text 117"/>
          <p:cNvSpPr/>
          <p:nvPr/>
        </p:nvSpPr>
        <p:spPr>
          <a:xfrm>
            <a:off x="512064" y="5829300"/>
            <a:ext cx="484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36</a:t>
            </a:r>
            <a:endParaRPr lang="en-US" sz="980" dirty="0"/>
          </a:p>
        </p:txBody>
      </p:sp>
      <p:sp>
        <p:nvSpPr>
          <p:cNvPr id="120" name="Shape 118"/>
          <p:cNvSpPr/>
          <p:nvPr/>
        </p:nvSpPr>
        <p:spPr>
          <a:xfrm>
            <a:off x="1051560" y="5779008"/>
            <a:ext cx="2377440" cy="365760"/>
          </a:xfrm>
          <a:prstGeom prst="rect">
            <a:avLst/>
          </a:prstGeom>
          <a:solidFill>
            <a:srgbClr val="F5F6F8"/>
          </a:solidFill>
          <a:ln w="6985">
            <a:solidFill>
              <a:srgbClr val="D6DAE0"/>
            </a:solidFill>
            <a:prstDash val="solid"/>
          </a:ln>
        </p:spPr>
        <p:txBody>
          <a:bodyPr/>
          <a:p/>
        </p:txBody>
      </p:sp>
      <p:sp>
        <p:nvSpPr>
          <p:cNvPr id="121" name="Text 119"/>
          <p:cNvSpPr/>
          <p:nvPr/>
        </p:nvSpPr>
        <p:spPr>
          <a:xfrm>
            <a:off x="1106424" y="5829300"/>
            <a:ext cx="22677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ValueNet</a:t>
            </a:r>
            <a:endParaRPr lang="en-US" sz="980" dirty="0"/>
          </a:p>
        </p:txBody>
      </p:sp>
      <p:sp>
        <p:nvSpPr>
          <p:cNvPr id="122" name="Shape 120"/>
          <p:cNvSpPr/>
          <p:nvPr/>
        </p:nvSpPr>
        <p:spPr>
          <a:xfrm>
            <a:off x="3429000" y="5779008"/>
            <a:ext cx="1234440" cy="365760"/>
          </a:xfrm>
          <a:prstGeom prst="rect">
            <a:avLst/>
          </a:prstGeom>
          <a:solidFill>
            <a:srgbClr val="F5F6F8"/>
          </a:solidFill>
          <a:ln w="6985">
            <a:solidFill>
              <a:srgbClr val="D6DAE0"/>
            </a:solidFill>
            <a:prstDash val="solid"/>
          </a:ln>
        </p:spPr>
        <p:txBody>
          <a:bodyPr/>
          <a:p/>
        </p:txBody>
      </p:sp>
      <p:sp>
        <p:nvSpPr>
          <p:cNvPr id="123" name="Text 121"/>
          <p:cNvSpPr/>
          <p:nvPr/>
        </p:nvSpPr>
        <p:spPr>
          <a:xfrm>
            <a:off x="3483864" y="5829300"/>
            <a:ext cx="112471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General</a:t>
            </a:r>
            <a:endParaRPr lang="en-US" sz="980" dirty="0"/>
          </a:p>
        </p:txBody>
      </p:sp>
      <p:sp>
        <p:nvSpPr>
          <p:cNvPr id="124" name="Shape 122"/>
          <p:cNvSpPr/>
          <p:nvPr/>
        </p:nvSpPr>
        <p:spPr>
          <a:xfrm>
            <a:off x="4663440" y="5779008"/>
            <a:ext cx="5166360" cy="365760"/>
          </a:xfrm>
          <a:prstGeom prst="rect">
            <a:avLst/>
          </a:prstGeom>
          <a:solidFill>
            <a:srgbClr val="F5F6F8"/>
          </a:solidFill>
          <a:ln w="6985">
            <a:solidFill>
              <a:srgbClr val="D6DAE0"/>
            </a:solidFill>
            <a:prstDash val="solid"/>
          </a:ln>
        </p:spPr>
        <p:txBody>
          <a:bodyPr/>
          <a:p/>
        </p:txBody>
      </p:sp>
      <p:sp>
        <p:nvSpPr>
          <p:cNvPr id="125" name="Text 123"/>
          <p:cNvSpPr/>
          <p:nvPr/>
        </p:nvSpPr>
        <p:spPr>
          <a:xfrm>
            <a:off x="4718304" y="5829300"/>
            <a:ext cx="5056632" cy="292608"/>
          </a:xfrm>
          <a:prstGeom prst="rect">
            <a:avLst/>
          </a:prstGeom>
          <a:noFill/>
        </p:spPr>
        <p:txBody>
          <a:bodyPr wrap="square" lIns="0" tIns="0" rIns="0" bIns="0" rtlCol="0" anchor="ctr">
            <a:normAutofit/>
          </a:bodyPr>
          <a:lstStyle/>
          <a:p>
            <a:pPr marL="0" indent="0">
              <a:buNone/>
            </a:pPr>
            <a:r>
              <a:rPr lang="en-US" sz="980" dirty="0">
                <a:solidFill>
                  <a:srgbClr val="1C1C1C"/>
                </a:solidFill>
              </a:rPr>
              <a:t>General values, not religious</a:t>
            </a:r>
            <a:endParaRPr lang="en-US" sz="980" dirty="0"/>
          </a:p>
        </p:txBody>
      </p:sp>
      <p:sp>
        <p:nvSpPr>
          <p:cNvPr id="126" name="Shape 124"/>
          <p:cNvSpPr/>
          <p:nvPr/>
        </p:nvSpPr>
        <p:spPr>
          <a:xfrm>
            <a:off x="9829800" y="5779008"/>
            <a:ext cx="1920240" cy="365760"/>
          </a:xfrm>
          <a:prstGeom prst="rect">
            <a:avLst/>
          </a:prstGeom>
          <a:solidFill>
            <a:srgbClr val="F5F6F8"/>
          </a:solidFill>
          <a:ln w="6985">
            <a:solidFill>
              <a:srgbClr val="D6DAE0"/>
            </a:solidFill>
            <a:prstDash val="solid"/>
          </a:ln>
        </p:spPr>
        <p:txBody>
          <a:bodyPr/>
          <a:p/>
        </p:txBody>
      </p:sp>
      <p:sp>
        <p:nvSpPr>
          <p:cNvPr id="127" name="Text 125"/>
          <p:cNvSpPr/>
          <p:nvPr/>
        </p:nvSpPr>
        <p:spPr>
          <a:xfrm>
            <a:off x="9884664" y="5829300"/>
            <a:ext cx="1810512" cy="292608"/>
          </a:xfrm>
          <a:prstGeom prst="rect">
            <a:avLst/>
          </a:prstGeom>
          <a:noFill/>
        </p:spPr>
        <p:txBody>
          <a:bodyPr wrap="square" lIns="0" tIns="0" rIns="0" bIns="0" rtlCol="0" anchor="ctr">
            <a:normAutofit/>
          </a:bodyPr>
          <a:lstStyle/>
          <a:p>
            <a:pPr marL="0" indent="0">
              <a:buNone/>
            </a:pPr>
            <a:r>
              <a:rPr lang="en-US" sz="980" b="1" dirty="0">
                <a:solidFill>
                  <a:srgbClr val="1C1C1C"/>
                </a:solidFill>
              </a:rPr>
              <a:t>No</a:t>
            </a:r>
            <a:endParaRPr lang="en-US" sz="9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10896"/>
            <a:ext cx="2331720" cy="320040"/>
          </a:xfrm>
          <a:prstGeom prst="rect">
            <a:avLst/>
          </a:prstGeom>
          <a:solidFill>
            <a:srgbClr val="111111"/>
          </a:solidFill>
          <a:ln w="12700">
            <a:solidFill>
              <a:srgbClr val="111111"/>
            </a:solidFill>
            <a:prstDash val="solid"/>
          </a:ln>
        </p:spPr>
        <p:txBody>
          <a:bodyPr/>
          <a:p/>
        </p:txBody>
      </p:sp>
      <p:sp>
        <p:nvSpPr>
          <p:cNvPr id="3" name="Text 1"/>
          <p:cNvSpPr/>
          <p:nvPr/>
        </p:nvSpPr>
        <p:spPr>
          <a:xfrm>
            <a:off x="640080" y="393192"/>
            <a:ext cx="2057400" cy="109728"/>
          </a:xfrm>
          <a:prstGeom prst="rect">
            <a:avLst/>
          </a:prstGeom>
          <a:noFill/>
        </p:spPr>
        <p:txBody>
          <a:bodyPr wrap="square" lIns="0" tIns="0" rIns="0" bIns="0" rtlCol="0" anchor="ctr">
            <a:normAutofit/>
          </a:bodyPr>
          <a:lstStyle/>
          <a:p>
            <a:pPr marL="0" indent="0">
              <a:buNone/>
            </a:pPr>
            <a:r>
              <a:rPr lang="en-US" sz="1050" b="1" dirty="0">
                <a:solidFill>
                  <a:srgbClr val="FFFFFF"/>
                </a:solidFill>
              </a:rPr>
              <a:t>APPENDIX</a:t>
            </a:r>
            <a:endParaRPr lang="en-US" sz="1050" dirty="0"/>
          </a:p>
        </p:txBody>
      </p:sp>
      <p:sp>
        <p:nvSpPr>
          <p:cNvPr id="4" name="Text 2"/>
          <p:cNvSpPr/>
          <p:nvPr/>
        </p:nvSpPr>
        <p:spPr>
          <a:xfrm>
            <a:off x="502920" y="749808"/>
            <a:ext cx="10972800" cy="475488"/>
          </a:xfrm>
          <a:prstGeom prst="rect">
            <a:avLst/>
          </a:prstGeom>
          <a:noFill/>
        </p:spPr>
        <p:txBody>
          <a:bodyPr wrap="square" lIns="0" tIns="0" rIns="0" bIns="0" rtlCol="0" anchor="ctr">
            <a:normAutofit/>
          </a:bodyPr>
          <a:lstStyle/>
          <a:p>
            <a:pPr marL="0" indent="0">
              <a:buNone/>
            </a:pPr>
            <a:r>
              <a:rPr lang="en-US" sz="2800" b="1" dirty="0">
                <a:solidFill>
                  <a:srgbClr val="1C1C1C"/>
                </a:solidFill>
                <a:latin typeface="Aptos Display" pitchFamily="34" charset="0"/>
                <a:ea typeface="Aptos Display" pitchFamily="34" charset="-122"/>
                <a:cs typeface="Aptos Display" pitchFamily="34" charset="-120"/>
              </a:rPr>
              <a:t>Appendix matrix #37–#47</a:t>
            </a:r>
            <a:endParaRPr lang="en-US" sz="2800" dirty="0"/>
          </a:p>
        </p:txBody>
      </p:sp>
      <p:sp>
        <p:nvSpPr>
          <p:cNvPr id="5" name="Text 3"/>
          <p:cNvSpPr/>
          <p:nvPr/>
        </p:nvSpPr>
        <p:spPr>
          <a:xfrm>
            <a:off x="530352" y="1298448"/>
            <a:ext cx="10789920" cy="256032"/>
          </a:xfrm>
          <a:prstGeom prst="rect">
            <a:avLst/>
          </a:prstGeom>
          <a:noFill/>
        </p:spPr>
        <p:txBody>
          <a:bodyPr wrap="square" lIns="0" tIns="0" rIns="0" bIns="0" rtlCol="0" anchor="ctr">
            <a:normAutofit/>
          </a:bodyPr>
          <a:lstStyle/>
          <a:p>
            <a:r>
              <a:t>Paper-level traceability; Andrew additions summarized in Track B slides.</a:t>
            </a:r>
          </a:p>
        </p:txBody>
      </p:sp>
      <p:sp>
        <p:nvSpPr>
          <p:cNvPr id="6" name="Shape 4"/>
          <p:cNvSpPr/>
          <p:nvPr/>
        </p:nvSpPr>
        <p:spPr>
          <a:xfrm>
            <a:off x="502920" y="1682496"/>
            <a:ext cx="11137392" cy="0"/>
          </a:xfrm>
          <a:prstGeom prst="line">
            <a:avLst/>
          </a:prstGeom>
          <a:noFill/>
          <a:ln w="13970">
            <a:solidFill>
              <a:srgbClr val="D6DAE0"/>
            </a:solidFill>
            <a:prstDash val="solid"/>
          </a:ln>
        </p:spPr>
        <p:txBody>
          <a:bodyPr/>
          <a:p/>
        </p:txBody>
      </p:sp>
      <p:sp>
        <p:nvSpPr>
          <p:cNvPr id="7" name="Text 5"/>
          <p:cNvSpPr/>
          <p:nvPr/>
        </p:nvSpPr>
        <p:spPr>
          <a:xfrm>
            <a:off x="11247120" y="6473952"/>
            <a:ext cx="384048" cy="164592"/>
          </a:xfrm>
          <a:prstGeom prst="rect">
            <a:avLst/>
          </a:prstGeom>
          <a:noFill/>
        </p:spPr>
        <p:txBody>
          <a:bodyPr wrap="square" lIns="0" tIns="0" rIns="0" bIns="0" rtlCol="0" anchor="ctr"/>
          <a:lstStyle/>
          <a:p>
            <a:pPr marL="0" indent="0" algn="r">
              <a:buNone/>
            </a:pPr>
            <a:r>
              <a:rPr lang="en-US" sz="1050" dirty="0">
                <a:solidFill>
                  <a:srgbClr val="6C737F"/>
                </a:solidFill>
              </a:rPr>
              <a:t>28</a:t>
            </a:r>
            <a:endParaRPr lang="en-US" sz="1050" dirty="0"/>
          </a:p>
        </p:txBody>
      </p:sp>
      <p:sp>
        <p:nvSpPr>
          <p:cNvPr id="8" name="Shape 6"/>
          <p:cNvSpPr/>
          <p:nvPr/>
        </p:nvSpPr>
        <p:spPr>
          <a:xfrm>
            <a:off x="457200" y="1773936"/>
            <a:ext cx="594360" cy="347472"/>
          </a:xfrm>
          <a:prstGeom prst="rect">
            <a:avLst/>
          </a:prstGeom>
          <a:solidFill>
            <a:srgbClr val="111111"/>
          </a:solidFill>
          <a:ln w="6985">
            <a:solidFill>
              <a:srgbClr val="D6DAE0"/>
            </a:solidFill>
            <a:prstDash val="solid"/>
          </a:ln>
        </p:spPr>
        <p:txBody>
          <a:bodyPr/>
          <a:p/>
        </p:txBody>
      </p:sp>
      <p:sp>
        <p:nvSpPr>
          <p:cNvPr id="9" name="Text 7"/>
          <p:cNvSpPr/>
          <p:nvPr/>
        </p:nvSpPr>
        <p:spPr>
          <a:xfrm>
            <a:off x="512064" y="1824228"/>
            <a:ext cx="484632" cy="274320"/>
          </a:xfrm>
          <a:prstGeom prst="rect">
            <a:avLst/>
          </a:prstGeom>
          <a:noFill/>
        </p:spPr>
        <p:txBody>
          <a:bodyPr wrap="square" lIns="0" tIns="0" rIns="0" bIns="0" rtlCol="0" anchor="ctr">
            <a:normAutofit/>
          </a:bodyPr>
          <a:lstStyle/>
          <a:p>
            <a:pPr marL="0" indent="0">
              <a:buNone/>
            </a:pPr>
            <a:r>
              <a:rPr lang="en-US" sz="980" b="1" dirty="0">
                <a:solidFill>
                  <a:srgbClr val="FFFFFF"/>
                </a:solidFill>
              </a:rPr>
              <a:t>#</a:t>
            </a:r>
            <a:endParaRPr lang="en-US" sz="980" dirty="0"/>
          </a:p>
        </p:txBody>
      </p:sp>
      <p:sp>
        <p:nvSpPr>
          <p:cNvPr id="10" name="Shape 8"/>
          <p:cNvSpPr/>
          <p:nvPr/>
        </p:nvSpPr>
        <p:spPr>
          <a:xfrm>
            <a:off x="1051560" y="1773936"/>
            <a:ext cx="2377440" cy="347472"/>
          </a:xfrm>
          <a:prstGeom prst="rect">
            <a:avLst/>
          </a:prstGeom>
          <a:solidFill>
            <a:srgbClr val="111111"/>
          </a:solidFill>
          <a:ln w="6985">
            <a:solidFill>
              <a:srgbClr val="D6DAE0"/>
            </a:solidFill>
            <a:prstDash val="solid"/>
          </a:ln>
        </p:spPr>
        <p:txBody>
          <a:bodyPr/>
          <a:p/>
        </p:txBody>
      </p:sp>
      <p:sp>
        <p:nvSpPr>
          <p:cNvPr id="11" name="Text 9"/>
          <p:cNvSpPr/>
          <p:nvPr/>
        </p:nvSpPr>
        <p:spPr>
          <a:xfrm>
            <a:off x="1106424" y="1824228"/>
            <a:ext cx="2267712" cy="274320"/>
          </a:xfrm>
          <a:prstGeom prst="rect">
            <a:avLst/>
          </a:prstGeom>
          <a:noFill/>
        </p:spPr>
        <p:txBody>
          <a:bodyPr wrap="square" lIns="0" tIns="0" rIns="0" bIns="0" rtlCol="0" anchor="ctr">
            <a:normAutofit/>
          </a:bodyPr>
          <a:lstStyle/>
          <a:p>
            <a:pPr marL="0" indent="0">
              <a:buNone/>
            </a:pPr>
            <a:r>
              <a:rPr lang="en-US" sz="980" b="1" dirty="0">
                <a:solidFill>
                  <a:srgbClr val="FFFFFF"/>
                </a:solidFill>
              </a:rPr>
              <a:t>Paper</a:t>
            </a:r>
            <a:endParaRPr lang="en-US" sz="980" dirty="0"/>
          </a:p>
        </p:txBody>
      </p:sp>
      <p:sp>
        <p:nvSpPr>
          <p:cNvPr id="12" name="Shape 10"/>
          <p:cNvSpPr/>
          <p:nvPr/>
        </p:nvSpPr>
        <p:spPr>
          <a:xfrm>
            <a:off x="3429000" y="1773936"/>
            <a:ext cx="1234440" cy="347472"/>
          </a:xfrm>
          <a:prstGeom prst="rect">
            <a:avLst/>
          </a:prstGeom>
          <a:solidFill>
            <a:srgbClr val="111111"/>
          </a:solidFill>
          <a:ln w="6985">
            <a:solidFill>
              <a:srgbClr val="D6DAE0"/>
            </a:solidFill>
            <a:prstDash val="solid"/>
          </a:ln>
        </p:spPr>
        <p:txBody>
          <a:bodyPr/>
          <a:p/>
        </p:txBody>
      </p:sp>
      <p:sp>
        <p:nvSpPr>
          <p:cNvPr id="13" name="Text 11"/>
          <p:cNvSpPr/>
          <p:nvPr/>
        </p:nvSpPr>
        <p:spPr>
          <a:xfrm>
            <a:off x="3483864" y="1824228"/>
            <a:ext cx="1124712" cy="274320"/>
          </a:xfrm>
          <a:prstGeom prst="rect">
            <a:avLst/>
          </a:prstGeom>
          <a:noFill/>
        </p:spPr>
        <p:txBody>
          <a:bodyPr wrap="square" lIns="0" tIns="0" rIns="0" bIns="0" rtlCol="0" anchor="ctr">
            <a:normAutofit/>
          </a:bodyPr>
          <a:lstStyle/>
          <a:p>
            <a:pPr marL="0" indent="0">
              <a:buNone/>
            </a:pPr>
            <a:r>
              <a:rPr lang="en-US" sz="980" b="1" dirty="0">
                <a:solidFill>
                  <a:srgbClr val="FFFFFF"/>
                </a:solidFill>
              </a:rPr>
              <a:t>Tradition</a:t>
            </a:r>
            <a:endParaRPr lang="en-US" sz="980" dirty="0"/>
          </a:p>
        </p:txBody>
      </p:sp>
      <p:sp>
        <p:nvSpPr>
          <p:cNvPr id="14" name="Shape 12"/>
          <p:cNvSpPr/>
          <p:nvPr/>
        </p:nvSpPr>
        <p:spPr>
          <a:xfrm>
            <a:off x="4663440" y="1773936"/>
            <a:ext cx="5166360" cy="347472"/>
          </a:xfrm>
          <a:prstGeom prst="rect">
            <a:avLst/>
          </a:prstGeom>
          <a:solidFill>
            <a:srgbClr val="111111"/>
          </a:solidFill>
          <a:ln w="6985">
            <a:solidFill>
              <a:srgbClr val="D6DAE0"/>
            </a:solidFill>
            <a:prstDash val="solid"/>
          </a:ln>
        </p:spPr>
        <p:txBody>
          <a:bodyPr/>
          <a:p/>
        </p:txBody>
      </p:sp>
      <p:sp>
        <p:nvSpPr>
          <p:cNvPr id="15" name="Text 13"/>
          <p:cNvSpPr/>
          <p:nvPr/>
        </p:nvSpPr>
        <p:spPr>
          <a:xfrm>
            <a:off x="4718304" y="1824228"/>
            <a:ext cx="5056632" cy="274320"/>
          </a:xfrm>
          <a:prstGeom prst="rect">
            <a:avLst/>
          </a:prstGeom>
          <a:noFill/>
        </p:spPr>
        <p:txBody>
          <a:bodyPr wrap="square" lIns="0" tIns="0" rIns="0" bIns="0" rtlCol="0" anchor="ctr">
            <a:normAutofit/>
          </a:bodyPr>
          <a:lstStyle/>
          <a:p>
            <a:pPr marL="0" indent="0">
              <a:buNone/>
            </a:pPr>
            <a:r>
              <a:rPr lang="en-US" sz="980" b="1" dirty="0">
                <a:solidFill>
                  <a:srgbClr val="FFFFFF"/>
                </a:solidFill>
              </a:rPr>
              <a:t>Correct use</a:t>
            </a:r>
            <a:endParaRPr lang="en-US" sz="980" dirty="0"/>
          </a:p>
        </p:txBody>
      </p:sp>
      <p:sp>
        <p:nvSpPr>
          <p:cNvPr id="16" name="Shape 14"/>
          <p:cNvSpPr/>
          <p:nvPr/>
        </p:nvSpPr>
        <p:spPr>
          <a:xfrm>
            <a:off x="9829800" y="1773936"/>
            <a:ext cx="1920240" cy="347472"/>
          </a:xfrm>
          <a:prstGeom prst="rect">
            <a:avLst/>
          </a:prstGeom>
          <a:solidFill>
            <a:srgbClr val="111111"/>
          </a:solidFill>
          <a:ln w="6985">
            <a:solidFill>
              <a:srgbClr val="D6DAE0"/>
            </a:solidFill>
            <a:prstDash val="solid"/>
          </a:ln>
        </p:spPr>
        <p:txBody>
          <a:bodyPr/>
          <a:p/>
        </p:txBody>
      </p:sp>
      <p:sp>
        <p:nvSpPr>
          <p:cNvPr id="17" name="Text 15"/>
          <p:cNvSpPr/>
          <p:nvPr/>
        </p:nvSpPr>
        <p:spPr>
          <a:xfrm>
            <a:off x="9884664" y="1824228"/>
            <a:ext cx="1810512" cy="274320"/>
          </a:xfrm>
          <a:prstGeom prst="rect">
            <a:avLst/>
          </a:prstGeom>
          <a:noFill/>
        </p:spPr>
        <p:txBody>
          <a:bodyPr wrap="square" lIns="0" tIns="0" rIns="0" bIns="0" rtlCol="0" anchor="ctr">
            <a:normAutofit/>
          </a:bodyPr>
          <a:lstStyle/>
          <a:p>
            <a:pPr marL="0" indent="0">
              <a:buNone/>
            </a:pPr>
            <a:r>
              <a:rPr lang="en-US" sz="980" b="1" dirty="0">
                <a:solidFill>
                  <a:srgbClr val="FFFFFF"/>
                </a:solidFill>
              </a:rPr>
              <a:t>Status</a:t>
            </a:r>
            <a:endParaRPr lang="en-US" sz="980" dirty="0"/>
          </a:p>
        </p:txBody>
      </p:sp>
      <p:sp>
        <p:nvSpPr>
          <p:cNvPr id="18" name="Shape 16"/>
          <p:cNvSpPr/>
          <p:nvPr/>
        </p:nvSpPr>
        <p:spPr>
          <a:xfrm>
            <a:off x="457200" y="2121408"/>
            <a:ext cx="594360" cy="402336"/>
          </a:xfrm>
          <a:prstGeom prst="rect">
            <a:avLst/>
          </a:prstGeom>
          <a:solidFill>
            <a:srgbClr val="F5F6F8"/>
          </a:solidFill>
          <a:ln w="6985">
            <a:solidFill>
              <a:srgbClr val="D6DAE0"/>
            </a:solidFill>
            <a:prstDash val="solid"/>
          </a:ln>
        </p:spPr>
        <p:txBody>
          <a:bodyPr/>
          <a:p/>
        </p:txBody>
      </p:sp>
      <p:sp>
        <p:nvSpPr>
          <p:cNvPr id="19" name="Text 17"/>
          <p:cNvSpPr/>
          <p:nvPr/>
        </p:nvSpPr>
        <p:spPr>
          <a:xfrm>
            <a:off x="512064" y="2171700"/>
            <a:ext cx="484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37</a:t>
            </a:r>
            <a:endParaRPr lang="en-US" sz="980" dirty="0"/>
          </a:p>
        </p:txBody>
      </p:sp>
      <p:sp>
        <p:nvSpPr>
          <p:cNvPr id="20" name="Shape 18"/>
          <p:cNvSpPr/>
          <p:nvPr/>
        </p:nvSpPr>
        <p:spPr>
          <a:xfrm>
            <a:off x="1051560" y="2121408"/>
            <a:ext cx="2377440" cy="402336"/>
          </a:xfrm>
          <a:prstGeom prst="rect">
            <a:avLst/>
          </a:prstGeom>
          <a:solidFill>
            <a:srgbClr val="F5F6F8"/>
          </a:solidFill>
          <a:ln w="6985">
            <a:solidFill>
              <a:srgbClr val="D6DAE0"/>
            </a:solidFill>
            <a:prstDash val="solid"/>
          </a:ln>
        </p:spPr>
        <p:txBody>
          <a:bodyPr/>
          <a:p/>
        </p:txBody>
      </p:sp>
      <p:sp>
        <p:nvSpPr>
          <p:cNvPr id="21" name="Text 19"/>
          <p:cNvSpPr/>
          <p:nvPr/>
        </p:nvSpPr>
        <p:spPr>
          <a:xfrm>
            <a:off x="1106424" y="2171700"/>
            <a:ext cx="22677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BibleQA</a:t>
            </a:r>
            <a:endParaRPr lang="en-US" sz="980" dirty="0"/>
          </a:p>
        </p:txBody>
      </p:sp>
      <p:sp>
        <p:nvSpPr>
          <p:cNvPr id="22" name="Shape 20"/>
          <p:cNvSpPr/>
          <p:nvPr/>
        </p:nvSpPr>
        <p:spPr>
          <a:xfrm>
            <a:off x="3429000" y="2121408"/>
            <a:ext cx="1234440" cy="402336"/>
          </a:xfrm>
          <a:prstGeom prst="rect">
            <a:avLst/>
          </a:prstGeom>
          <a:solidFill>
            <a:srgbClr val="F5F6F8"/>
          </a:solidFill>
          <a:ln w="6985">
            <a:solidFill>
              <a:srgbClr val="D6DAE0"/>
            </a:solidFill>
            <a:prstDash val="solid"/>
          </a:ln>
        </p:spPr>
        <p:txBody>
          <a:bodyPr/>
          <a:p/>
        </p:txBody>
      </p:sp>
      <p:sp>
        <p:nvSpPr>
          <p:cNvPr id="23" name="Text 21"/>
          <p:cNvSpPr/>
          <p:nvPr/>
        </p:nvSpPr>
        <p:spPr>
          <a:xfrm>
            <a:off x="3483864" y="2171700"/>
            <a:ext cx="112471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Christianity</a:t>
            </a:r>
            <a:endParaRPr lang="en-US" sz="980" dirty="0"/>
          </a:p>
        </p:txBody>
      </p:sp>
      <p:sp>
        <p:nvSpPr>
          <p:cNvPr id="24" name="Shape 22"/>
          <p:cNvSpPr/>
          <p:nvPr/>
        </p:nvSpPr>
        <p:spPr>
          <a:xfrm>
            <a:off x="4663440" y="2121408"/>
            <a:ext cx="5166360" cy="402336"/>
          </a:xfrm>
          <a:prstGeom prst="rect">
            <a:avLst/>
          </a:prstGeom>
          <a:solidFill>
            <a:srgbClr val="F5F6F8"/>
          </a:solidFill>
          <a:ln w="6985">
            <a:solidFill>
              <a:srgbClr val="D6DAE0"/>
            </a:solidFill>
            <a:prstDash val="solid"/>
          </a:ln>
        </p:spPr>
        <p:txBody>
          <a:bodyPr/>
          <a:p/>
        </p:txBody>
      </p:sp>
      <p:sp>
        <p:nvSpPr>
          <p:cNvPr id="25" name="Text 23"/>
          <p:cNvSpPr/>
          <p:nvPr/>
        </p:nvSpPr>
        <p:spPr>
          <a:xfrm>
            <a:off x="4718304" y="2171700"/>
            <a:ext cx="5056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Bible </a:t>
            </a:r>
            <a:r>
              <a:rPr lang="en-US" sz="980" b="1" dirty="0">
                <a:solidFill>
                  <a:srgbClr val="1C1C1C"/>
                </a:solidFill>
              </a:rPr>
              <a:t>QA</a:t>
            </a:r>
            <a:r>
              <a:rPr lang="en-US" sz="980" dirty="0">
                <a:solidFill>
                  <a:srgbClr val="1C1C1C"/>
                </a:solidFill>
              </a:rPr>
              <a:t> / verse selection</a:t>
            </a:r>
            <a:endParaRPr lang="en-US" sz="980" dirty="0"/>
          </a:p>
        </p:txBody>
      </p:sp>
      <p:sp>
        <p:nvSpPr>
          <p:cNvPr id="26" name="Shape 24"/>
          <p:cNvSpPr/>
          <p:nvPr/>
        </p:nvSpPr>
        <p:spPr>
          <a:xfrm>
            <a:off x="9829800" y="2121408"/>
            <a:ext cx="1920240" cy="402336"/>
          </a:xfrm>
          <a:prstGeom prst="rect">
            <a:avLst/>
          </a:prstGeom>
          <a:solidFill>
            <a:srgbClr val="F5F6F8"/>
          </a:solidFill>
          <a:ln w="6985">
            <a:solidFill>
              <a:srgbClr val="D6DAE0"/>
            </a:solidFill>
            <a:prstDash val="solid"/>
          </a:ln>
        </p:spPr>
        <p:txBody>
          <a:bodyPr/>
          <a:p/>
        </p:txBody>
      </p:sp>
      <p:sp>
        <p:nvSpPr>
          <p:cNvPr id="27" name="Text 25"/>
          <p:cNvSpPr/>
          <p:nvPr/>
        </p:nvSpPr>
        <p:spPr>
          <a:xfrm>
            <a:off x="9884664" y="2171700"/>
            <a:ext cx="18105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Run B</a:t>
            </a:r>
            <a:endParaRPr lang="en-US" sz="980" dirty="0"/>
          </a:p>
        </p:txBody>
      </p:sp>
      <p:sp>
        <p:nvSpPr>
          <p:cNvPr id="28" name="Shape 26"/>
          <p:cNvSpPr/>
          <p:nvPr/>
        </p:nvSpPr>
        <p:spPr>
          <a:xfrm>
            <a:off x="457200" y="2523744"/>
            <a:ext cx="594360" cy="402336"/>
          </a:xfrm>
          <a:prstGeom prst="rect">
            <a:avLst/>
          </a:prstGeom>
          <a:solidFill>
            <a:srgbClr val="FFFFFF"/>
          </a:solidFill>
          <a:ln w="6985">
            <a:solidFill>
              <a:srgbClr val="D6DAE0"/>
            </a:solidFill>
            <a:prstDash val="solid"/>
          </a:ln>
        </p:spPr>
        <p:txBody>
          <a:bodyPr/>
          <a:p/>
        </p:txBody>
      </p:sp>
      <p:sp>
        <p:nvSpPr>
          <p:cNvPr id="29" name="Text 27"/>
          <p:cNvSpPr/>
          <p:nvPr/>
        </p:nvSpPr>
        <p:spPr>
          <a:xfrm>
            <a:off x="512064" y="2574036"/>
            <a:ext cx="484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38</a:t>
            </a:r>
            <a:endParaRPr lang="en-US" sz="980" dirty="0"/>
          </a:p>
        </p:txBody>
      </p:sp>
      <p:sp>
        <p:nvSpPr>
          <p:cNvPr id="30" name="Shape 28"/>
          <p:cNvSpPr/>
          <p:nvPr/>
        </p:nvSpPr>
        <p:spPr>
          <a:xfrm>
            <a:off x="1051560" y="2523744"/>
            <a:ext cx="2377440" cy="402336"/>
          </a:xfrm>
          <a:prstGeom prst="rect">
            <a:avLst/>
          </a:prstGeom>
          <a:solidFill>
            <a:srgbClr val="FFFFFF"/>
          </a:solidFill>
          <a:ln w="6985">
            <a:solidFill>
              <a:srgbClr val="D6DAE0"/>
            </a:solidFill>
            <a:prstDash val="solid"/>
          </a:ln>
        </p:spPr>
        <p:txBody>
          <a:bodyPr/>
          <a:p/>
        </p:txBody>
      </p:sp>
      <p:sp>
        <p:nvSpPr>
          <p:cNvPr id="31" name="Text 29"/>
          <p:cNvSpPr/>
          <p:nvPr/>
        </p:nvSpPr>
        <p:spPr>
          <a:xfrm>
            <a:off x="1106424" y="2574036"/>
            <a:ext cx="22677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Vedic Intertextuality</a:t>
            </a:r>
            <a:endParaRPr lang="en-US" sz="980" dirty="0"/>
          </a:p>
        </p:txBody>
      </p:sp>
      <p:sp>
        <p:nvSpPr>
          <p:cNvPr id="32" name="Shape 30"/>
          <p:cNvSpPr/>
          <p:nvPr/>
        </p:nvSpPr>
        <p:spPr>
          <a:xfrm>
            <a:off x="3429000" y="2523744"/>
            <a:ext cx="1234440" cy="402336"/>
          </a:xfrm>
          <a:prstGeom prst="rect">
            <a:avLst/>
          </a:prstGeom>
          <a:solidFill>
            <a:srgbClr val="FFFFFF"/>
          </a:solidFill>
          <a:ln w="6985">
            <a:solidFill>
              <a:srgbClr val="D6DAE0"/>
            </a:solidFill>
            <a:prstDash val="solid"/>
          </a:ln>
        </p:spPr>
        <p:txBody>
          <a:bodyPr/>
          <a:p/>
        </p:txBody>
      </p:sp>
      <p:sp>
        <p:nvSpPr>
          <p:cNvPr id="33" name="Text 31"/>
          <p:cNvSpPr/>
          <p:nvPr/>
        </p:nvSpPr>
        <p:spPr>
          <a:xfrm>
            <a:off x="3483864" y="2574036"/>
            <a:ext cx="112471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Hinduism</a:t>
            </a:r>
            <a:endParaRPr lang="en-US" sz="980" dirty="0"/>
          </a:p>
        </p:txBody>
      </p:sp>
      <p:sp>
        <p:nvSpPr>
          <p:cNvPr id="34" name="Shape 32"/>
          <p:cNvSpPr/>
          <p:nvPr/>
        </p:nvSpPr>
        <p:spPr>
          <a:xfrm>
            <a:off x="4663440" y="2523744"/>
            <a:ext cx="5166360" cy="402336"/>
          </a:xfrm>
          <a:prstGeom prst="rect">
            <a:avLst/>
          </a:prstGeom>
          <a:solidFill>
            <a:srgbClr val="FFFFFF"/>
          </a:solidFill>
          <a:ln w="6985">
            <a:solidFill>
              <a:srgbClr val="D6DAE0"/>
            </a:solidFill>
            <a:prstDash val="solid"/>
          </a:ln>
        </p:spPr>
        <p:txBody>
          <a:bodyPr/>
          <a:p/>
        </p:txBody>
      </p:sp>
      <p:sp>
        <p:nvSpPr>
          <p:cNvPr id="35" name="Text 33"/>
          <p:cNvSpPr/>
          <p:nvPr/>
        </p:nvSpPr>
        <p:spPr>
          <a:xfrm>
            <a:off x="4718304" y="2574036"/>
            <a:ext cx="5056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Digital philology / similarity</a:t>
            </a:r>
            <a:endParaRPr lang="en-US" sz="980" dirty="0"/>
          </a:p>
        </p:txBody>
      </p:sp>
      <p:sp>
        <p:nvSpPr>
          <p:cNvPr id="36" name="Shape 34"/>
          <p:cNvSpPr/>
          <p:nvPr/>
        </p:nvSpPr>
        <p:spPr>
          <a:xfrm>
            <a:off x="9829800" y="2523744"/>
            <a:ext cx="1920240" cy="402336"/>
          </a:xfrm>
          <a:prstGeom prst="rect">
            <a:avLst/>
          </a:prstGeom>
          <a:solidFill>
            <a:srgbClr val="FFFFFF"/>
          </a:solidFill>
          <a:ln w="6985">
            <a:solidFill>
              <a:srgbClr val="D6DAE0"/>
            </a:solidFill>
            <a:prstDash val="solid"/>
          </a:ln>
        </p:spPr>
        <p:txBody>
          <a:bodyPr/>
          <a:p/>
        </p:txBody>
      </p:sp>
      <p:sp>
        <p:nvSpPr>
          <p:cNvPr id="37" name="Text 35"/>
          <p:cNvSpPr/>
          <p:nvPr/>
        </p:nvSpPr>
        <p:spPr>
          <a:xfrm>
            <a:off x="9884664" y="2574036"/>
            <a:ext cx="18105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No</a:t>
            </a:r>
            <a:endParaRPr lang="en-US" sz="980" dirty="0"/>
          </a:p>
        </p:txBody>
      </p:sp>
      <p:sp>
        <p:nvSpPr>
          <p:cNvPr id="38" name="Shape 36"/>
          <p:cNvSpPr/>
          <p:nvPr/>
        </p:nvSpPr>
        <p:spPr>
          <a:xfrm>
            <a:off x="457200" y="2926080"/>
            <a:ext cx="594360" cy="402336"/>
          </a:xfrm>
          <a:prstGeom prst="rect">
            <a:avLst/>
          </a:prstGeom>
          <a:solidFill>
            <a:srgbClr val="F5F6F8"/>
          </a:solidFill>
          <a:ln w="6985">
            <a:solidFill>
              <a:srgbClr val="D6DAE0"/>
            </a:solidFill>
            <a:prstDash val="solid"/>
          </a:ln>
        </p:spPr>
        <p:txBody>
          <a:bodyPr/>
          <a:p/>
        </p:txBody>
      </p:sp>
      <p:sp>
        <p:nvSpPr>
          <p:cNvPr id="39" name="Text 37"/>
          <p:cNvSpPr/>
          <p:nvPr/>
        </p:nvSpPr>
        <p:spPr>
          <a:xfrm>
            <a:off x="512064" y="2976372"/>
            <a:ext cx="484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39</a:t>
            </a:r>
            <a:endParaRPr lang="en-US" sz="980" dirty="0"/>
          </a:p>
        </p:txBody>
      </p:sp>
      <p:sp>
        <p:nvSpPr>
          <p:cNvPr id="40" name="Shape 38"/>
          <p:cNvSpPr/>
          <p:nvPr/>
        </p:nvSpPr>
        <p:spPr>
          <a:xfrm>
            <a:off x="1051560" y="2926080"/>
            <a:ext cx="2377440" cy="402336"/>
          </a:xfrm>
          <a:prstGeom prst="rect">
            <a:avLst/>
          </a:prstGeom>
          <a:solidFill>
            <a:srgbClr val="F5F6F8"/>
          </a:solidFill>
          <a:ln w="6985">
            <a:solidFill>
              <a:srgbClr val="D6DAE0"/>
            </a:solidFill>
            <a:prstDash val="solid"/>
          </a:ln>
        </p:spPr>
        <p:txBody>
          <a:bodyPr/>
          <a:p/>
        </p:txBody>
      </p:sp>
      <p:sp>
        <p:nvSpPr>
          <p:cNvPr id="41" name="Text 39"/>
          <p:cNvSpPr/>
          <p:nvPr/>
        </p:nvSpPr>
        <p:spPr>
          <a:xfrm>
            <a:off x="1106424" y="2976372"/>
            <a:ext cx="22677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Multi-IsnadSet</a:t>
            </a:r>
            <a:endParaRPr lang="en-US" sz="980" dirty="0"/>
          </a:p>
        </p:txBody>
      </p:sp>
      <p:sp>
        <p:nvSpPr>
          <p:cNvPr id="42" name="Shape 40"/>
          <p:cNvSpPr/>
          <p:nvPr/>
        </p:nvSpPr>
        <p:spPr>
          <a:xfrm>
            <a:off x="3429000" y="2926080"/>
            <a:ext cx="1234440" cy="402336"/>
          </a:xfrm>
          <a:prstGeom prst="rect">
            <a:avLst/>
          </a:prstGeom>
          <a:solidFill>
            <a:srgbClr val="F5F6F8"/>
          </a:solidFill>
          <a:ln w="6985">
            <a:solidFill>
              <a:srgbClr val="D6DAE0"/>
            </a:solidFill>
            <a:prstDash val="solid"/>
          </a:ln>
        </p:spPr>
        <p:txBody>
          <a:bodyPr/>
          <a:p/>
        </p:txBody>
      </p:sp>
      <p:sp>
        <p:nvSpPr>
          <p:cNvPr id="43" name="Text 41"/>
          <p:cNvSpPr/>
          <p:nvPr/>
        </p:nvSpPr>
        <p:spPr>
          <a:xfrm>
            <a:off x="3483864" y="2976372"/>
            <a:ext cx="112471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Islam</a:t>
            </a:r>
            <a:endParaRPr lang="en-US" sz="980" dirty="0"/>
          </a:p>
        </p:txBody>
      </p:sp>
      <p:sp>
        <p:nvSpPr>
          <p:cNvPr id="44" name="Shape 42"/>
          <p:cNvSpPr/>
          <p:nvPr/>
        </p:nvSpPr>
        <p:spPr>
          <a:xfrm>
            <a:off x="4663440" y="2926080"/>
            <a:ext cx="5166360" cy="402336"/>
          </a:xfrm>
          <a:prstGeom prst="rect">
            <a:avLst/>
          </a:prstGeom>
          <a:solidFill>
            <a:srgbClr val="F5F6F8"/>
          </a:solidFill>
          <a:ln w="6985">
            <a:solidFill>
              <a:srgbClr val="D6DAE0"/>
            </a:solidFill>
            <a:prstDash val="solid"/>
          </a:ln>
        </p:spPr>
        <p:txBody>
          <a:bodyPr/>
          <a:p/>
        </p:txBody>
      </p:sp>
      <p:sp>
        <p:nvSpPr>
          <p:cNvPr id="45" name="Text 43"/>
          <p:cNvSpPr/>
          <p:nvPr/>
        </p:nvSpPr>
        <p:spPr>
          <a:xfrm>
            <a:off x="4718304" y="2976372"/>
            <a:ext cx="5056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Hadith narrator-chain graph</a:t>
            </a:r>
            <a:endParaRPr lang="en-US" sz="980" dirty="0"/>
          </a:p>
        </p:txBody>
      </p:sp>
      <p:sp>
        <p:nvSpPr>
          <p:cNvPr id="46" name="Shape 44"/>
          <p:cNvSpPr/>
          <p:nvPr/>
        </p:nvSpPr>
        <p:spPr>
          <a:xfrm>
            <a:off x="9829800" y="2926080"/>
            <a:ext cx="1920240" cy="402336"/>
          </a:xfrm>
          <a:prstGeom prst="rect">
            <a:avLst/>
          </a:prstGeom>
          <a:solidFill>
            <a:srgbClr val="F5F6F8"/>
          </a:solidFill>
          <a:ln w="6985">
            <a:solidFill>
              <a:srgbClr val="D6DAE0"/>
            </a:solidFill>
            <a:prstDash val="solid"/>
          </a:ln>
        </p:spPr>
        <p:txBody>
          <a:bodyPr/>
          <a:p/>
        </p:txBody>
      </p:sp>
      <p:sp>
        <p:nvSpPr>
          <p:cNvPr id="47" name="Text 45"/>
          <p:cNvSpPr/>
          <p:nvPr/>
        </p:nvSpPr>
        <p:spPr>
          <a:xfrm>
            <a:off x="9884664" y="2976372"/>
            <a:ext cx="18105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Backup</a:t>
            </a:r>
            <a:endParaRPr lang="en-US" sz="980" dirty="0"/>
          </a:p>
        </p:txBody>
      </p:sp>
      <p:sp>
        <p:nvSpPr>
          <p:cNvPr id="48" name="Shape 46"/>
          <p:cNvSpPr/>
          <p:nvPr/>
        </p:nvSpPr>
        <p:spPr>
          <a:xfrm>
            <a:off x="457200" y="3328416"/>
            <a:ext cx="594360" cy="402336"/>
          </a:xfrm>
          <a:prstGeom prst="rect">
            <a:avLst/>
          </a:prstGeom>
          <a:solidFill>
            <a:srgbClr val="FFFFFF"/>
          </a:solidFill>
          <a:ln w="6985">
            <a:solidFill>
              <a:srgbClr val="D6DAE0"/>
            </a:solidFill>
            <a:prstDash val="solid"/>
          </a:ln>
        </p:spPr>
        <p:txBody>
          <a:bodyPr/>
          <a:p/>
        </p:txBody>
      </p:sp>
      <p:sp>
        <p:nvSpPr>
          <p:cNvPr id="49" name="Text 47"/>
          <p:cNvSpPr/>
          <p:nvPr/>
        </p:nvSpPr>
        <p:spPr>
          <a:xfrm>
            <a:off x="512064" y="3378708"/>
            <a:ext cx="484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40</a:t>
            </a:r>
            <a:endParaRPr lang="en-US" sz="980" dirty="0"/>
          </a:p>
        </p:txBody>
      </p:sp>
      <p:sp>
        <p:nvSpPr>
          <p:cNvPr id="50" name="Shape 48"/>
          <p:cNvSpPr/>
          <p:nvPr/>
        </p:nvSpPr>
        <p:spPr>
          <a:xfrm>
            <a:off x="1051560" y="3328416"/>
            <a:ext cx="2377440" cy="402336"/>
          </a:xfrm>
          <a:prstGeom prst="rect">
            <a:avLst/>
          </a:prstGeom>
          <a:solidFill>
            <a:srgbClr val="FFFFFF"/>
          </a:solidFill>
          <a:ln w="6985">
            <a:solidFill>
              <a:srgbClr val="D6DAE0"/>
            </a:solidFill>
            <a:prstDash val="solid"/>
          </a:ln>
        </p:spPr>
        <p:txBody>
          <a:bodyPr/>
          <a:p/>
        </p:txBody>
      </p:sp>
      <p:sp>
        <p:nvSpPr>
          <p:cNvPr id="51" name="Text 49"/>
          <p:cNvSpPr/>
          <p:nvPr/>
        </p:nvSpPr>
        <p:spPr>
          <a:xfrm>
            <a:off x="1106424" y="3378708"/>
            <a:ext cx="22677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MASAQ Quran</a:t>
            </a:r>
            <a:endParaRPr lang="en-US" sz="980" dirty="0"/>
          </a:p>
        </p:txBody>
      </p:sp>
      <p:sp>
        <p:nvSpPr>
          <p:cNvPr id="52" name="Shape 50"/>
          <p:cNvSpPr/>
          <p:nvPr/>
        </p:nvSpPr>
        <p:spPr>
          <a:xfrm>
            <a:off x="3429000" y="3328416"/>
            <a:ext cx="1234440" cy="402336"/>
          </a:xfrm>
          <a:prstGeom prst="rect">
            <a:avLst/>
          </a:prstGeom>
          <a:solidFill>
            <a:srgbClr val="FFFFFF"/>
          </a:solidFill>
          <a:ln w="6985">
            <a:solidFill>
              <a:srgbClr val="D6DAE0"/>
            </a:solidFill>
            <a:prstDash val="solid"/>
          </a:ln>
        </p:spPr>
        <p:txBody>
          <a:bodyPr/>
          <a:p/>
        </p:txBody>
      </p:sp>
      <p:sp>
        <p:nvSpPr>
          <p:cNvPr id="53" name="Text 51"/>
          <p:cNvSpPr/>
          <p:nvPr/>
        </p:nvSpPr>
        <p:spPr>
          <a:xfrm>
            <a:off x="3483864" y="3378708"/>
            <a:ext cx="112471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Islam</a:t>
            </a:r>
            <a:endParaRPr lang="en-US" sz="980" dirty="0"/>
          </a:p>
        </p:txBody>
      </p:sp>
      <p:sp>
        <p:nvSpPr>
          <p:cNvPr id="54" name="Shape 52"/>
          <p:cNvSpPr/>
          <p:nvPr/>
        </p:nvSpPr>
        <p:spPr>
          <a:xfrm>
            <a:off x="4663440" y="3328416"/>
            <a:ext cx="5166360" cy="402336"/>
          </a:xfrm>
          <a:prstGeom prst="rect">
            <a:avLst/>
          </a:prstGeom>
          <a:solidFill>
            <a:srgbClr val="FFFFFF"/>
          </a:solidFill>
          <a:ln w="6985">
            <a:solidFill>
              <a:srgbClr val="D6DAE0"/>
            </a:solidFill>
            <a:prstDash val="solid"/>
          </a:ln>
        </p:spPr>
        <p:txBody>
          <a:bodyPr/>
          <a:p/>
        </p:txBody>
      </p:sp>
      <p:sp>
        <p:nvSpPr>
          <p:cNvPr id="55" name="Text 53"/>
          <p:cNvSpPr/>
          <p:nvPr/>
        </p:nvSpPr>
        <p:spPr>
          <a:xfrm>
            <a:off x="4718304" y="3378708"/>
            <a:ext cx="5056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Quran morphology / syntax</a:t>
            </a:r>
            <a:endParaRPr lang="en-US" sz="980" dirty="0"/>
          </a:p>
        </p:txBody>
      </p:sp>
      <p:sp>
        <p:nvSpPr>
          <p:cNvPr id="56" name="Shape 54"/>
          <p:cNvSpPr/>
          <p:nvPr/>
        </p:nvSpPr>
        <p:spPr>
          <a:xfrm>
            <a:off x="9829800" y="3328416"/>
            <a:ext cx="1920240" cy="402336"/>
          </a:xfrm>
          <a:prstGeom prst="rect">
            <a:avLst/>
          </a:prstGeom>
          <a:solidFill>
            <a:srgbClr val="FFFFFF"/>
          </a:solidFill>
          <a:ln w="6985">
            <a:solidFill>
              <a:srgbClr val="D6DAE0"/>
            </a:solidFill>
            <a:prstDash val="solid"/>
          </a:ln>
        </p:spPr>
        <p:txBody>
          <a:bodyPr/>
          <a:p/>
        </p:txBody>
      </p:sp>
      <p:sp>
        <p:nvSpPr>
          <p:cNvPr id="57" name="Text 55"/>
          <p:cNvSpPr/>
          <p:nvPr/>
        </p:nvSpPr>
        <p:spPr>
          <a:xfrm>
            <a:off x="9884664" y="3378708"/>
            <a:ext cx="18105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No</a:t>
            </a:r>
            <a:endParaRPr lang="en-US" sz="980" dirty="0"/>
          </a:p>
        </p:txBody>
      </p:sp>
      <p:sp>
        <p:nvSpPr>
          <p:cNvPr id="58" name="Shape 56"/>
          <p:cNvSpPr/>
          <p:nvPr/>
        </p:nvSpPr>
        <p:spPr>
          <a:xfrm>
            <a:off x="457200" y="3730752"/>
            <a:ext cx="594360" cy="402336"/>
          </a:xfrm>
          <a:prstGeom prst="rect">
            <a:avLst/>
          </a:prstGeom>
          <a:solidFill>
            <a:srgbClr val="F5F6F8"/>
          </a:solidFill>
          <a:ln w="6985">
            <a:solidFill>
              <a:srgbClr val="D6DAE0"/>
            </a:solidFill>
            <a:prstDash val="solid"/>
          </a:ln>
        </p:spPr>
        <p:txBody>
          <a:bodyPr/>
          <a:p/>
        </p:txBody>
      </p:sp>
      <p:sp>
        <p:nvSpPr>
          <p:cNvPr id="59" name="Text 57"/>
          <p:cNvSpPr/>
          <p:nvPr/>
        </p:nvSpPr>
        <p:spPr>
          <a:xfrm>
            <a:off x="512064" y="3781044"/>
            <a:ext cx="484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41</a:t>
            </a:r>
            <a:endParaRPr lang="en-US" sz="980" dirty="0"/>
          </a:p>
        </p:txBody>
      </p:sp>
      <p:sp>
        <p:nvSpPr>
          <p:cNvPr id="60" name="Shape 58"/>
          <p:cNvSpPr/>
          <p:nvPr/>
        </p:nvSpPr>
        <p:spPr>
          <a:xfrm>
            <a:off x="1051560" y="3730752"/>
            <a:ext cx="2377440" cy="402336"/>
          </a:xfrm>
          <a:prstGeom prst="rect">
            <a:avLst/>
          </a:prstGeom>
          <a:solidFill>
            <a:srgbClr val="F5F6F8"/>
          </a:solidFill>
          <a:ln w="6985">
            <a:solidFill>
              <a:srgbClr val="D6DAE0"/>
            </a:solidFill>
            <a:prstDash val="solid"/>
          </a:ln>
        </p:spPr>
        <p:txBody>
          <a:bodyPr/>
          <a:p/>
        </p:txBody>
      </p:sp>
      <p:sp>
        <p:nvSpPr>
          <p:cNvPr id="61" name="Text 59"/>
          <p:cNvSpPr/>
          <p:nvPr/>
        </p:nvSpPr>
        <p:spPr>
          <a:xfrm>
            <a:off x="1106424" y="3781044"/>
            <a:ext cx="22677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CulturalVQA</a:t>
            </a:r>
            <a:endParaRPr lang="en-US" sz="980" dirty="0"/>
          </a:p>
        </p:txBody>
      </p:sp>
      <p:sp>
        <p:nvSpPr>
          <p:cNvPr id="62" name="Shape 60"/>
          <p:cNvSpPr/>
          <p:nvPr/>
        </p:nvSpPr>
        <p:spPr>
          <a:xfrm>
            <a:off x="3429000" y="3730752"/>
            <a:ext cx="1234440" cy="402336"/>
          </a:xfrm>
          <a:prstGeom prst="rect">
            <a:avLst/>
          </a:prstGeom>
          <a:solidFill>
            <a:srgbClr val="F5F6F8"/>
          </a:solidFill>
          <a:ln w="6985">
            <a:solidFill>
              <a:srgbClr val="D6DAE0"/>
            </a:solidFill>
            <a:prstDash val="solid"/>
          </a:ln>
        </p:spPr>
        <p:txBody>
          <a:bodyPr/>
          <a:p/>
        </p:txBody>
      </p:sp>
      <p:sp>
        <p:nvSpPr>
          <p:cNvPr id="63" name="Text 61"/>
          <p:cNvSpPr/>
          <p:nvPr/>
        </p:nvSpPr>
        <p:spPr>
          <a:xfrm>
            <a:off x="3483864" y="3781044"/>
            <a:ext cx="112471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Culture</a:t>
            </a:r>
            <a:endParaRPr lang="en-US" sz="980" dirty="0"/>
          </a:p>
        </p:txBody>
      </p:sp>
      <p:sp>
        <p:nvSpPr>
          <p:cNvPr id="64" name="Shape 62"/>
          <p:cNvSpPr/>
          <p:nvPr/>
        </p:nvSpPr>
        <p:spPr>
          <a:xfrm>
            <a:off x="4663440" y="3730752"/>
            <a:ext cx="5166360" cy="402336"/>
          </a:xfrm>
          <a:prstGeom prst="rect">
            <a:avLst/>
          </a:prstGeom>
          <a:solidFill>
            <a:srgbClr val="F5F6F8"/>
          </a:solidFill>
          <a:ln w="6985">
            <a:solidFill>
              <a:srgbClr val="D6DAE0"/>
            </a:solidFill>
            <a:prstDash val="solid"/>
          </a:ln>
        </p:spPr>
        <p:txBody>
          <a:bodyPr/>
          <a:p/>
        </p:txBody>
      </p:sp>
      <p:sp>
        <p:nvSpPr>
          <p:cNvPr id="65" name="Text 63"/>
          <p:cNvSpPr/>
          <p:nvPr/>
        </p:nvSpPr>
        <p:spPr>
          <a:xfrm>
            <a:off x="4718304" y="3781044"/>
            <a:ext cx="5056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Cultural visual </a:t>
            </a:r>
            <a:r>
              <a:rPr lang="en-US" sz="980" b="1" dirty="0">
                <a:solidFill>
                  <a:srgbClr val="1C1C1C"/>
                </a:solidFill>
              </a:rPr>
              <a:t>QA</a:t>
            </a:r>
            <a:endParaRPr lang="en-US" sz="980" dirty="0"/>
          </a:p>
        </p:txBody>
      </p:sp>
      <p:sp>
        <p:nvSpPr>
          <p:cNvPr id="66" name="Shape 64"/>
          <p:cNvSpPr/>
          <p:nvPr/>
        </p:nvSpPr>
        <p:spPr>
          <a:xfrm>
            <a:off x="9829800" y="3730752"/>
            <a:ext cx="1920240" cy="402336"/>
          </a:xfrm>
          <a:prstGeom prst="rect">
            <a:avLst/>
          </a:prstGeom>
          <a:solidFill>
            <a:srgbClr val="F5F6F8"/>
          </a:solidFill>
          <a:ln w="6985">
            <a:solidFill>
              <a:srgbClr val="D6DAE0"/>
            </a:solidFill>
            <a:prstDash val="solid"/>
          </a:ln>
        </p:spPr>
        <p:txBody>
          <a:bodyPr/>
          <a:p/>
        </p:txBody>
      </p:sp>
      <p:sp>
        <p:nvSpPr>
          <p:cNvPr id="67" name="Text 65"/>
          <p:cNvSpPr/>
          <p:nvPr/>
        </p:nvSpPr>
        <p:spPr>
          <a:xfrm>
            <a:off x="9884664" y="3781044"/>
            <a:ext cx="18105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No</a:t>
            </a:r>
            <a:endParaRPr lang="en-US" sz="980" dirty="0"/>
          </a:p>
        </p:txBody>
      </p:sp>
      <p:sp>
        <p:nvSpPr>
          <p:cNvPr id="68" name="Shape 66"/>
          <p:cNvSpPr/>
          <p:nvPr/>
        </p:nvSpPr>
        <p:spPr>
          <a:xfrm>
            <a:off x="457200" y="4133088"/>
            <a:ext cx="594360" cy="402336"/>
          </a:xfrm>
          <a:prstGeom prst="rect">
            <a:avLst/>
          </a:prstGeom>
          <a:solidFill>
            <a:srgbClr val="FFFFFF"/>
          </a:solidFill>
          <a:ln w="6985">
            <a:solidFill>
              <a:srgbClr val="D6DAE0"/>
            </a:solidFill>
            <a:prstDash val="solid"/>
          </a:ln>
        </p:spPr>
        <p:txBody>
          <a:bodyPr/>
          <a:p/>
        </p:txBody>
      </p:sp>
      <p:sp>
        <p:nvSpPr>
          <p:cNvPr id="69" name="Text 67"/>
          <p:cNvSpPr/>
          <p:nvPr/>
        </p:nvSpPr>
        <p:spPr>
          <a:xfrm>
            <a:off x="512064" y="4183380"/>
            <a:ext cx="484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42</a:t>
            </a:r>
            <a:endParaRPr lang="en-US" sz="980" dirty="0"/>
          </a:p>
        </p:txBody>
      </p:sp>
      <p:sp>
        <p:nvSpPr>
          <p:cNvPr id="70" name="Shape 68"/>
          <p:cNvSpPr/>
          <p:nvPr/>
        </p:nvSpPr>
        <p:spPr>
          <a:xfrm>
            <a:off x="1051560" y="4133088"/>
            <a:ext cx="2377440" cy="402336"/>
          </a:xfrm>
          <a:prstGeom prst="rect">
            <a:avLst/>
          </a:prstGeom>
          <a:solidFill>
            <a:srgbClr val="FFFFFF"/>
          </a:solidFill>
          <a:ln w="6985">
            <a:solidFill>
              <a:srgbClr val="D6DAE0"/>
            </a:solidFill>
            <a:prstDash val="solid"/>
          </a:ln>
        </p:spPr>
        <p:txBody>
          <a:bodyPr/>
          <a:p/>
        </p:txBody>
      </p:sp>
      <p:sp>
        <p:nvSpPr>
          <p:cNvPr id="71" name="Text 69"/>
          <p:cNvSpPr/>
          <p:nvPr/>
        </p:nvSpPr>
        <p:spPr>
          <a:xfrm>
            <a:off x="1106424" y="4183380"/>
            <a:ext cx="22677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QASiNa</a:t>
            </a:r>
            <a:endParaRPr lang="en-US" sz="980" dirty="0"/>
          </a:p>
        </p:txBody>
      </p:sp>
      <p:sp>
        <p:nvSpPr>
          <p:cNvPr id="72" name="Shape 70"/>
          <p:cNvSpPr/>
          <p:nvPr/>
        </p:nvSpPr>
        <p:spPr>
          <a:xfrm>
            <a:off x="3429000" y="4133088"/>
            <a:ext cx="1234440" cy="402336"/>
          </a:xfrm>
          <a:prstGeom prst="rect">
            <a:avLst/>
          </a:prstGeom>
          <a:solidFill>
            <a:srgbClr val="FFFFFF"/>
          </a:solidFill>
          <a:ln w="6985">
            <a:solidFill>
              <a:srgbClr val="D6DAE0"/>
            </a:solidFill>
            <a:prstDash val="solid"/>
          </a:ln>
        </p:spPr>
        <p:txBody>
          <a:bodyPr/>
          <a:p/>
        </p:txBody>
      </p:sp>
      <p:sp>
        <p:nvSpPr>
          <p:cNvPr id="73" name="Text 71"/>
          <p:cNvSpPr/>
          <p:nvPr/>
        </p:nvSpPr>
        <p:spPr>
          <a:xfrm>
            <a:off x="3483864" y="4183380"/>
            <a:ext cx="112471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Islam</a:t>
            </a:r>
            <a:endParaRPr lang="en-US" sz="980" dirty="0"/>
          </a:p>
        </p:txBody>
      </p:sp>
      <p:sp>
        <p:nvSpPr>
          <p:cNvPr id="74" name="Shape 72"/>
          <p:cNvSpPr/>
          <p:nvPr/>
        </p:nvSpPr>
        <p:spPr>
          <a:xfrm>
            <a:off x="4663440" y="4133088"/>
            <a:ext cx="5166360" cy="402336"/>
          </a:xfrm>
          <a:prstGeom prst="rect">
            <a:avLst/>
          </a:prstGeom>
          <a:solidFill>
            <a:srgbClr val="FFFFFF"/>
          </a:solidFill>
          <a:ln w="6985">
            <a:solidFill>
              <a:srgbClr val="D6DAE0"/>
            </a:solidFill>
            <a:prstDash val="solid"/>
          </a:ln>
        </p:spPr>
        <p:txBody>
          <a:bodyPr/>
          <a:p/>
        </p:txBody>
      </p:sp>
      <p:sp>
        <p:nvSpPr>
          <p:cNvPr id="75" name="Text 73"/>
          <p:cNvSpPr/>
          <p:nvPr/>
        </p:nvSpPr>
        <p:spPr>
          <a:xfrm>
            <a:off x="4718304" y="4183380"/>
            <a:ext cx="5056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Indonesian Sirah </a:t>
            </a:r>
            <a:r>
              <a:rPr lang="en-US" sz="980" b="1" dirty="0">
                <a:solidFill>
                  <a:srgbClr val="1C1C1C"/>
                </a:solidFill>
              </a:rPr>
              <a:t>QA</a:t>
            </a:r>
            <a:endParaRPr lang="en-US" sz="980" dirty="0"/>
          </a:p>
        </p:txBody>
      </p:sp>
      <p:sp>
        <p:nvSpPr>
          <p:cNvPr id="76" name="Shape 74"/>
          <p:cNvSpPr/>
          <p:nvPr/>
        </p:nvSpPr>
        <p:spPr>
          <a:xfrm>
            <a:off x="9829800" y="4133088"/>
            <a:ext cx="1920240" cy="402336"/>
          </a:xfrm>
          <a:prstGeom prst="rect">
            <a:avLst/>
          </a:prstGeom>
          <a:solidFill>
            <a:srgbClr val="FFFFFF"/>
          </a:solidFill>
          <a:ln w="6985">
            <a:solidFill>
              <a:srgbClr val="D6DAE0"/>
            </a:solidFill>
            <a:prstDash val="solid"/>
          </a:ln>
        </p:spPr>
        <p:txBody>
          <a:bodyPr/>
          <a:p/>
        </p:txBody>
      </p:sp>
      <p:sp>
        <p:nvSpPr>
          <p:cNvPr id="77" name="Text 75"/>
          <p:cNvSpPr/>
          <p:nvPr/>
        </p:nvSpPr>
        <p:spPr>
          <a:xfrm>
            <a:off x="9884664" y="4183380"/>
            <a:ext cx="181051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Run</a:t>
            </a:r>
            <a:endParaRPr lang="en-US" sz="980" dirty="0"/>
          </a:p>
        </p:txBody>
      </p:sp>
      <p:sp>
        <p:nvSpPr>
          <p:cNvPr id="78" name="Shape 76"/>
          <p:cNvSpPr/>
          <p:nvPr/>
        </p:nvSpPr>
        <p:spPr>
          <a:xfrm>
            <a:off x="457200" y="4535424"/>
            <a:ext cx="594360" cy="402336"/>
          </a:xfrm>
          <a:prstGeom prst="rect">
            <a:avLst/>
          </a:prstGeom>
          <a:solidFill>
            <a:srgbClr val="F5F6F8"/>
          </a:solidFill>
          <a:ln w="6985">
            <a:solidFill>
              <a:srgbClr val="D6DAE0"/>
            </a:solidFill>
            <a:prstDash val="solid"/>
          </a:ln>
        </p:spPr>
        <p:txBody>
          <a:bodyPr/>
          <a:p/>
        </p:txBody>
      </p:sp>
      <p:sp>
        <p:nvSpPr>
          <p:cNvPr id="79" name="Text 77"/>
          <p:cNvSpPr/>
          <p:nvPr/>
        </p:nvSpPr>
        <p:spPr>
          <a:xfrm>
            <a:off x="512064" y="4585716"/>
            <a:ext cx="484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43</a:t>
            </a:r>
            <a:endParaRPr lang="en-US" sz="980" dirty="0"/>
          </a:p>
        </p:txBody>
      </p:sp>
      <p:sp>
        <p:nvSpPr>
          <p:cNvPr id="80" name="Shape 78"/>
          <p:cNvSpPr/>
          <p:nvPr/>
        </p:nvSpPr>
        <p:spPr>
          <a:xfrm>
            <a:off x="1051560" y="4535424"/>
            <a:ext cx="2377440" cy="402336"/>
          </a:xfrm>
          <a:prstGeom prst="rect">
            <a:avLst/>
          </a:prstGeom>
          <a:solidFill>
            <a:srgbClr val="F5F6F8"/>
          </a:solidFill>
          <a:ln w="6985">
            <a:solidFill>
              <a:srgbClr val="D6DAE0"/>
            </a:solidFill>
            <a:prstDash val="solid"/>
          </a:ln>
        </p:spPr>
        <p:txBody>
          <a:bodyPr/>
          <a:p/>
        </p:txBody>
      </p:sp>
      <p:sp>
        <p:nvSpPr>
          <p:cNvPr id="81" name="Text 79"/>
          <p:cNvSpPr/>
          <p:nvPr/>
        </p:nvSpPr>
        <p:spPr>
          <a:xfrm>
            <a:off x="1106424" y="4585716"/>
            <a:ext cx="22677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Religion &amp; Morality</a:t>
            </a:r>
            <a:endParaRPr lang="en-US" sz="980" dirty="0"/>
          </a:p>
        </p:txBody>
      </p:sp>
      <p:sp>
        <p:nvSpPr>
          <p:cNvPr id="82" name="Shape 80"/>
          <p:cNvSpPr/>
          <p:nvPr/>
        </p:nvSpPr>
        <p:spPr>
          <a:xfrm>
            <a:off x="3429000" y="4535424"/>
            <a:ext cx="1234440" cy="402336"/>
          </a:xfrm>
          <a:prstGeom prst="rect">
            <a:avLst/>
          </a:prstGeom>
          <a:solidFill>
            <a:srgbClr val="F5F6F8"/>
          </a:solidFill>
          <a:ln w="6985">
            <a:solidFill>
              <a:srgbClr val="D6DAE0"/>
            </a:solidFill>
            <a:prstDash val="solid"/>
          </a:ln>
        </p:spPr>
        <p:txBody>
          <a:bodyPr/>
          <a:p/>
        </p:txBody>
      </p:sp>
      <p:sp>
        <p:nvSpPr>
          <p:cNvPr id="83" name="Text 81"/>
          <p:cNvSpPr/>
          <p:nvPr/>
        </p:nvSpPr>
        <p:spPr>
          <a:xfrm>
            <a:off x="3483864" y="4585716"/>
            <a:ext cx="112471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Cross-cultural</a:t>
            </a:r>
            <a:endParaRPr lang="en-US" sz="980" dirty="0"/>
          </a:p>
        </p:txBody>
      </p:sp>
      <p:sp>
        <p:nvSpPr>
          <p:cNvPr id="84" name="Shape 82"/>
          <p:cNvSpPr/>
          <p:nvPr/>
        </p:nvSpPr>
        <p:spPr>
          <a:xfrm>
            <a:off x="4663440" y="4535424"/>
            <a:ext cx="5166360" cy="402336"/>
          </a:xfrm>
          <a:prstGeom prst="rect">
            <a:avLst/>
          </a:prstGeom>
          <a:solidFill>
            <a:srgbClr val="F5F6F8"/>
          </a:solidFill>
          <a:ln w="6985">
            <a:solidFill>
              <a:srgbClr val="D6DAE0"/>
            </a:solidFill>
            <a:prstDash val="solid"/>
          </a:ln>
        </p:spPr>
        <p:txBody>
          <a:bodyPr/>
          <a:p/>
        </p:txBody>
      </p:sp>
      <p:sp>
        <p:nvSpPr>
          <p:cNvPr id="85" name="Text 83"/>
          <p:cNvSpPr/>
          <p:nvPr/>
        </p:nvSpPr>
        <p:spPr>
          <a:xfrm>
            <a:off x="4718304" y="4585716"/>
            <a:ext cx="5056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Religious-moral scenario construction</a:t>
            </a:r>
            <a:endParaRPr lang="en-US" sz="980" dirty="0"/>
          </a:p>
        </p:txBody>
      </p:sp>
      <p:sp>
        <p:nvSpPr>
          <p:cNvPr id="86" name="Shape 84"/>
          <p:cNvSpPr/>
          <p:nvPr/>
        </p:nvSpPr>
        <p:spPr>
          <a:xfrm>
            <a:off x="9829800" y="4535424"/>
            <a:ext cx="1920240" cy="402336"/>
          </a:xfrm>
          <a:prstGeom prst="rect">
            <a:avLst/>
          </a:prstGeom>
          <a:solidFill>
            <a:srgbClr val="F5F6F8"/>
          </a:solidFill>
          <a:ln w="6985">
            <a:solidFill>
              <a:srgbClr val="D6DAE0"/>
            </a:solidFill>
            <a:prstDash val="solid"/>
          </a:ln>
        </p:spPr>
        <p:txBody>
          <a:bodyPr/>
          <a:p/>
        </p:txBody>
      </p:sp>
      <p:sp>
        <p:nvSpPr>
          <p:cNvPr id="87" name="Text 85"/>
          <p:cNvSpPr/>
          <p:nvPr/>
        </p:nvSpPr>
        <p:spPr>
          <a:xfrm>
            <a:off x="9884664" y="4585716"/>
            <a:ext cx="18105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Build</a:t>
            </a:r>
            <a:endParaRPr lang="en-US" sz="980" dirty="0"/>
          </a:p>
        </p:txBody>
      </p:sp>
      <p:sp>
        <p:nvSpPr>
          <p:cNvPr id="88" name="Shape 86"/>
          <p:cNvSpPr/>
          <p:nvPr/>
        </p:nvSpPr>
        <p:spPr>
          <a:xfrm>
            <a:off x="457200" y="4937760"/>
            <a:ext cx="594360" cy="402336"/>
          </a:xfrm>
          <a:prstGeom prst="rect">
            <a:avLst/>
          </a:prstGeom>
          <a:solidFill>
            <a:srgbClr val="FFFFFF"/>
          </a:solidFill>
          <a:ln w="6985">
            <a:solidFill>
              <a:srgbClr val="D6DAE0"/>
            </a:solidFill>
            <a:prstDash val="solid"/>
          </a:ln>
        </p:spPr>
        <p:txBody>
          <a:bodyPr/>
          <a:p/>
        </p:txBody>
      </p:sp>
      <p:sp>
        <p:nvSpPr>
          <p:cNvPr id="89" name="Text 87"/>
          <p:cNvSpPr/>
          <p:nvPr/>
        </p:nvSpPr>
        <p:spPr>
          <a:xfrm>
            <a:off x="512064" y="4988052"/>
            <a:ext cx="484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44/45</a:t>
            </a:r>
            <a:endParaRPr lang="en-US" sz="980" dirty="0"/>
          </a:p>
        </p:txBody>
      </p:sp>
      <p:sp>
        <p:nvSpPr>
          <p:cNvPr id="90" name="Shape 88"/>
          <p:cNvSpPr/>
          <p:nvPr/>
        </p:nvSpPr>
        <p:spPr>
          <a:xfrm>
            <a:off x="1051560" y="4937760"/>
            <a:ext cx="2377440" cy="402336"/>
          </a:xfrm>
          <a:prstGeom prst="rect">
            <a:avLst/>
          </a:prstGeom>
          <a:solidFill>
            <a:srgbClr val="FFFFFF"/>
          </a:solidFill>
          <a:ln w="6985">
            <a:solidFill>
              <a:srgbClr val="D6DAE0"/>
            </a:solidFill>
            <a:prstDash val="solid"/>
          </a:ln>
        </p:spPr>
        <p:txBody>
          <a:bodyPr/>
          <a:p/>
        </p:txBody>
      </p:sp>
      <p:sp>
        <p:nvSpPr>
          <p:cNvPr id="91" name="Text 89"/>
          <p:cNvSpPr/>
          <p:nvPr/>
        </p:nvSpPr>
        <p:spPr>
          <a:xfrm>
            <a:off x="1106424" y="4988052"/>
            <a:ext cx="22677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FatwaSet</a:t>
            </a:r>
            <a:endParaRPr lang="en-US" sz="980" dirty="0"/>
          </a:p>
        </p:txBody>
      </p:sp>
      <p:sp>
        <p:nvSpPr>
          <p:cNvPr id="92" name="Shape 90"/>
          <p:cNvSpPr/>
          <p:nvPr/>
        </p:nvSpPr>
        <p:spPr>
          <a:xfrm>
            <a:off x="3429000" y="4937760"/>
            <a:ext cx="1234440" cy="402336"/>
          </a:xfrm>
          <a:prstGeom prst="rect">
            <a:avLst/>
          </a:prstGeom>
          <a:solidFill>
            <a:srgbClr val="FFFFFF"/>
          </a:solidFill>
          <a:ln w="6985">
            <a:solidFill>
              <a:srgbClr val="D6DAE0"/>
            </a:solidFill>
            <a:prstDash val="solid"/>
          </a:ln>
        </p:spPr>
        <p:txBody>
          <a:bodyPr/>
          <a:p/>
        </p:txBody>
      </p:sp>
      <p:sp>
        <p:nvSpPr>
          <p:cNvPr id="93" name="Text 91"/>
          <p:cNvSpPr/>
          <p:nvPr/>
        </p:nvSpPr>
        <p:spPr>
          <a:xfrm>
            <a:off x="3483864" y="4988052"/>
            <a:ext cx="112471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Islam</a:t>
            </a:r>
            <a:endParaRPr lang="en-US" sz="980" dirty="0"/>
          </a:p>
        </p:txBody>
      </p:sp>
      <p:sp>
        <p:nvSpPr>
          <p:cNvPr id="94" name="Shape 92"/>
          <p:cNvSpPr/>
          <p:nvPr/>
        </p:nvSpPr>
        <p:spPr>
          <a:xfrm>
            <a:off x="4663440" y="4937760"/>
            <a:ext cx="5166360" cy="402336"/>
          </a:xfrm>
          <a:prstGeom prst="rect">
            <a:avLst/>
          </a:prstGeom>
          <a:solidFill>
            <a:srgbClr val="FFFFFF"/>
          </a:solidFill>
          <a:ln w="6985">
            <a:solidFill>
              <a:srgbClr val="D6DAE0"/>
            </a:solidFill>
            <a:prstDash val="solid"/>
          </a:ln>
        </p:spPr>
        <p:txBody>
          <a:bodyPr/>
          <a:p/>
        </p:txBody>
      </p:sp>
      <p:sp>
        <p:nvSpPr>
          <p:cNvPr id="95" name="Text 93"/>
          <p:cNvSpPr/>
          <p:nvPr/>
        </p:nvSpPr>
        <p:spPr>
          <a:xfrm>
            <a:off x="4718304" y="4988052"/>
            <a:ext cx="5056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Fatwa </a:t>
            </a:r>
            <a:r>
              <a:rPr lang="en-US" sz="980" b="1" dirty="0">
                <a:solidFill>
                  <a:srgbClr val="1C1C1C"/>
                </a:solidFill>
              </a:rPr>
              <a:t>QA</a:t>
            </a:r>
            <a:r>
              <a:rPr lang="en-US" sz="980" dirty="0">
                <a:solidFill>
                  <a:srgbClr val="1C1C1C"/>
                </a:solidFill>
              </a:rPr>
              <a:t> / applied jurisprudence if adapted</a:t>
            </a:r>
            <a:endParaRPr lang="en-US" sz="980" dirty="0"/>
          </a:p>
        </p:txBody>
      </p:sp>
      <p:sp>
        <p:nvSpPr>
          <p:cNvPr id="96" name="Shape 94"/>
          <p:cNvSpPr/>
          <p:nvPr/>
        </p:nvSpPr>
        <p:spPr>
          <a:xfrm>
            <a:off x="9829800" y="4937760"/>
            <a:ext cx="1920240" cy="402336"/>
          </a:xfrm>
          <a:prstGeom prst="rect">
            <a:avLst/>
          </a:prstGeom>
          <a:solidFill>
            <a:srgbClr val="FFFFFF"/>
          </a:solidFill>
          <a:ln w="6985">
            <a:solidFill>
              <a:srgbClr val="D6DAE0"/>
            </a:solidFill>
            <a:prstDash val="solid"/>
          </a:ln>
        </p:spPr>
        <p:txBody>
          <a:bodyPr/>
          <a:p/>
        </p:txBody>
      </p:sp>
      <p:sp>
        <p:nvSpPr>
          <p:cNvPr id="97" name="Text 95"/>
          <p:cNvSpPr/>
          <p:nvPr/>
        </p:nvSpPr>
        <p:spPr>
          <a:xfrm>
            <a:off x="9884664" y="4988052"/>
            <a:ext cx="18105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Run/adapt</a:t>
            </a:r>
            <a:endParaRPr lang="en-US" sz="980" dirty="0"/>
          </a:p>
        </p:txBody>
      </p:sp>
      <p:sp>
        <p:nvSpPr>
          <p:cNvPr id="98" name="Shape 96"/>
          <p:cNvSpPr/>
          <p:nvPr/>
        </p:nvSpPr>
        <p:spPr>
          <a:xfrm>
            <a:off x="457200" y="5340096"/>
            <a:ext cx="594360" cy="402336"/>
          </a:xfrm>
          <a:prstGeom prst="rect">
            <a:avLst/>
          </a:prstGeom>
          <a:solidFill>
            <a:srgbClr val="F5F6F8"/>
          </a:solidFill>
          <a:ln w="6985">
            <a:solidFill>
              <a:srgbClr val="D6DAE0"/>
            </a:solidFill>
            <a:prstDash val="solid"/>
          </a:ln>
        </p:spPr>
        <p:txBody>
          <a:bodyPr/>
          <a:p/>
        </p:txBody>
      </p:sp>
      <p:sp>
        <p:nvSpPr>
          <p:cNvPr id="99" name="Text 97"/>
          <p:cNvSpPr/>
          <p:nvPr/>
        </p:nvSpPr>
        <p:spPr>
          <a:xfrm>
            <a:off x="512064" y="5390388"/>
            <a:ext cx="484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46</a:t>
            </a:r>
            <a:endParaRPr lang="en-US" sz="980" dirty="0"/>
          </a:p>
        </p:txBody>
      </p:sp>
      <p:sp>
        <p:nvSpPr>
          <p:cNvPr id="100" name="Shape 98"/>
          <p:cNvSpPr/>
          <p:nvPr/>
        </p:nvSpPr>
        <p:spPr>
          <a:xfrm>
            <a:off x="1051560" y="5340096"/>
            <a:ext cx="2377440" cy="402336"/>
          </a:xfrm>
          <a:prstGeom prst="rect">
            <a:avLst/>
          </a:prstGeom>
          <a:solidFill>
            <a:srgbClr val="F5F6F8"/>
          </a:solidFill>
          <a:ln w="6985">
            <a:solidFill>
              <a:srgbClr val="D6DAE0"/>
            </a:solidFill>
            <a:prstDash val="solid"/>
          </a:ln>
        </p:spPr>
        <p:txBody>
          <a:bodyPr/>
          <a:p/>
        </p:txBody>
      </p:sp>
      <p:sp>
        <p:nvSpPr>
          <p:cNvPr id="101" name="Text 99"/>
          <p:cNvSpPr/>
          <p:nvPr/>
        </p:nvSpPr>
        <p:spPr>
          <a:xfrm>
            <a:off x="1106424" y="5390388"/>
            <a:ext cx="22677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Sanadset 650K</a:t>
            </a:r>
            <a:endParaRPr lang="en-US" sz="980" dirty="0"/>
          </a:p>
        </p:txBody>
      </p:sp>
      <p:sp>
        <p:nvSpPr>
          <p:cNvPr id="102" name="Shape 100"/>
          <p:cNvSpPr/>
          <p:nvPr/>
        </p:nvSpPr>
        <p:spPr>
          <a:xfrm>
            <a:off x="3429000" y="5340096"/>
            <a:ext cx="1234440" cy="402336"/>
          </a:xfrm>
          <a:prstGeom prst="rect">
            <a:avLst/>
          </a:prstGeom>
          <a:solidFill>
            <a:srgbClr val="F5F6F8"/>
          </a:solidFill>
          <a:ln w="6985">
            <a:solidFill>
              <a:srgbClr val="D6DAE0"/>
            </a:solidFill>
            <a:prstDash val="solid"/>
          </a:ln>
        </p:spPr>
        <p:txBody>
          <a:bodyPr/>
          <a:p/>
        </p:txBody>
      </p:sp>
      <p:sp>
        <p:nvSpPr>
          <p:cNvPr id="103" name="Text 101"/>
          <p:cNvSpPr/>
          <p:nvPr/>
        </p:nvSpPr>
        <p:spPr>
          <a:xfrm>
            <a:off x="3483864" y="5390388"/>
            <a:ext cx="112471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Islam</a:t>
            </a:r>
            <a:endParaRPr lang="en-US" sz="980" dirty="0"/>
          </a:p>
        </p:txBody>
      </p:sp>
      <p:sp>
        <p:nvSpPr>
          <p:cNvPr id="104" name="Shape 102"/>
          <p:cNvSpPr/>
          <p:nvPr/>
        </p:nvSpPr>
        <p:spPr>
          <a:xfrm>
            <a:off x="4663440" y="5340096"/>
            <a:ext cx="5166360" cy="402336"/>
          </a:xfrm>
          <a:prstGeom prst="rect">
            <a:avLst/>
          </a:prstGeom>
          <a:solidFill>
            <a:srgbClr val="F5F6F8"/>
          </a:solidFill>
          <a:ln w="6985">
            <a:solidFill>
              <a:srgbClr val="D6DAE0"/>
            </a:solidFill>
            <a:prstDash val="solid"/>
          </a:ln>
        </p:spPr>
        <p:txBody>
          <a:bodyPr/>
          <a:p/>
        </p:txBody>
      </p:sp>
      <p:sp>
        <p:nvSpPr>
          <p:cNvPr id="105" name="Text 103"/>
          <p:cNvSpPr/>
          <p:nvPr/>
        </p:nvSpPr>
        <p:spPr>
          <a:xfrm>
            <a:off x="4718304" y="5390388"/>
            <a:ext cx="5056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Hadith narrator-chain dataset</a:t>
            </a:r>
            <a:endParaRPr lang="en-US" sz="980" dirty="0"/>
          </a:p>
        </p:txBody>
      </p:sp>
      <p:sp>
        <p:nvSpPr>
          <p:cNvPr id="106" name="Shape 104"/>
          <p:cNvSpPr/>
          <p:nvPr/>
        </p:nvSpPr>
        <p:spPr>
          <a:xfrm>
            <a:off x="9829800" y="5340096"/>
            <a:ext cx="1920240" cy="402336"/>
          </a:xfrm>
          <a:prstGeom prst="rect">
            <a:avLst/>
          </a:prstGeom>
          <a:solidFill>
            <a:srgbClr val="F5F6F8"/>
          </a:solidFill>
          <a:ln w="6985">
            <a:solidFill>
              <a:srgbClr val="D6DAE0"/>
            </a:solidFill>
            <a:prstDash val="solid"/>
          </a:ln>
        </p:spPr>
        <p:txBody>
          <a:bodyPr/>
          <a:p/>
        </p:txBody>
      </p:sp>
      <p:sp>
        <p:nvSpPr>
          <p:cNvPr id="107" name="Text 105"/>
          <p:cNvSpPr/>
          <p:nvPr/>
        </p:nvSpPr>
        <p:spPr>
          <a:xfrm>
            <a:off x="9884664" y="5390388"/>
            <a:ext cx="18105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Backup</a:t>
            </a:r>
            <a:endParaRPr lang="en-US" sz="980" dirty="0"/>
          </a:p>
        </p:txBody>
      </p:sp>
      <p:sp>
        <p:nvSpPr>
          <p:cNvPr id="108" name="Shape 106"/>
          <p:cNvSpPr/>
          <p:nvPr/>
        </p:nvSpPr>
        <p:spPr>
          <a:xfrm>
            <a:off x="457200" y="5742432"/>
            <a:ext cx="594360" cy="402336"/>
          </a:xfrm>
          <a:prstGeom prst="rect">
            <a:avLst/>
          </a:prstGeom>
          <a:solidFill>
            <a:srgbClr val="FFFFFF"/>
          </a:solidFill>
          <a:ln w="6985">
            <a:solidFill>
              <a:srgbClr val="D6DAE0"/>
            </a:solidFill>
            <a:prstDash val="solid"/>
          </a:ln>
        </p:spPr>
        <p:txBody>
          <a:bodyPr/>
          <a:p/>
        </p:txBody>
      </p:sp>
      <p:sp>
        <p:nvSpPr>
          <p:cNvPr id="109" name="Text 107"/>
          <p:cNvSpPr/>
          <p:nvPr/>
        </p:nvSpPr>
        <p:spPr>
          <a:xfrm>
            <a:off x="512064" y="5792724"/>
            <a:ext cx="48463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47</a:t>
            </a:r>
            <a:endParaRPr lang="en-US" sz="980" dirty="0"/>
          </a:p>
        </p:txBody>
      </p:sp>
      <p:sp>
        <p:nvSpPr>
          <p:cNvPr id="110" name="Shape 108"/>
          <p:cNvSpPr/>
          <p:nvPr/>
        </p:nvSpPr>
        <p:spPr>
          <a:xfrm>
            <a:off x="1051560" y="5742432"/>
            <a:ext cx="2377440" cy="402336"/>
          </a:xfrm>
          <a:prstGeom prst="rect">
            <a:avLst/>
          </a:prstGeom>
          <a:solidFill>
            <a:srgbClr val="FFFFFF"/>
          </a:solidFill>
          <a:ln w="6985">
            <a:solidFill>
              <a:srgbClr val="D6DAE0"/>
            </a:solidFill>
            <a:prstDash val="solid"/>
          </a:ln>
        </p:spPr>
        <p:txBody>
          <a:bodyPr/>
          <a:p/>
        </p:txBody>
      </p:sp>
      <p:sp>
        <p:nvSpPr>
          <p:cNvPr id="111" name="Text 109"/>
          <p:cNvSpPr/>
          <p:nvPr/>
        </p:nvSpPr>
        <p:spPr>
          <a:xfrm>
            <a:off x="1106424" y="5792724"/>
            <a:ext cx="226771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CatholicBench</a:t>
            </a:r>
            <a:endParaRPr lang="en-US" sz="980" dirty="0"/>
          </a:p>
        </p:txBody>
      </p:sp>
      <p:sp>
        <p:nvSpPr>
          <p:cNvPr id="112" name="Shape 110"/>
          <p:cNvSpPr/>
          <p:nvPr/>
        </p:nvSpPr>
        <p:spPr>
          <a:xfrm>
            <a:off x="3429000" y="5742432"/>
            <a:ext cx="1234440" cy="402336"/>
          </a:xfrm>
          <a:prstGeom prst="rect">
            <a:avLst/>
          </a:prstGeom>
          <a:solidFill>
            <a:srgbClr val="FFFFFF"/>
          </a:solidFill>
          <a:ln w="6985">
            <a:solidFill>
              <a:srgbClr val="D6DAE0"/>
            </a:solidFill>
            <a:prstDash val="solid"/>
          </a:ln>
        </p:spPr>
        <p:txBody>
          <a:bodyPr/>
          <a:p/>
        </p:txBody>
      </p:sp>
      <p:sp>
        <p:nvSpPr>
          <p:cNvPr id="113" name="Text 111"/>
          <p:cNvSpPr/>
          <p:nvPr/>
        </p:nvSpPr>
        <p:spPr>
          <a:xfrm>
            <a:off x="3483864" y="5792724"/>
            <a:ext cx="112471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Catholicism</a:t>
            </a:r>
            <a:endParaRPr lang="en-US" sz="980" dirty="0"/>
          </a:p>
        </p:txBody>
      </p:sp>
      <p:sp>
        <p:nvSpPr>
          <p:cNvPr id="114" name="Shape 112"/>
          <p:cNvSpPr/>
          <p:nvPr/>
        </p:nvSpPr>
        <p:spPr>
          <a:xfrm>
            <a:off x="4663440" y="5742432"/>
            <a:ext cx="5166360" cy="402336"/>
          </a:xfrm>
          <a:prstGeom prst="rect">
            <a:avLst/>
          </a:prstGeom>
          <a:solidFill>
            <a:srgbClr val="FFFFFF"/>
          </a:solidFill>
          <a:ln w="6985">
            <a:solidFill>
              <a:srgbClr val="D6DAE0"/>
            </a:solidFill>
            <a:prstDash val="solid"/>
          </a:ln>
        </p:spPr>
        <p:txBody>
          <a:bodyPr/>
          <a:p/>
        </p:txBody>
      </p:sp>
      <p:sp>
        <p:nvSpPr>
          <p:cNvPr id="115" name="Text 113"/>
          <p:cNvSpPr/>
          <p:nvPr/>
        </p:nvSpPr>
        <p:spPr>
          <a:xfrm>
            <a:off x="4718304" y="5792724"/>
            <a:ext cx="5056632" cy="329184"/>
          </a:xfrm>
          <a:prstGeom prst="rect">
            <a:avLst/>
          </a:prstGeom>
          <a:noFill/>
        </p:spPr>
        <p:txBody>
          <a:bodyPr wrap="square" lIns="0" tIns="0" rIns="0" bIns="0" rtlCol="0" anchor="ctr">
            <a:normAutofit/>
          </a:bodyPr>
          <a:lstStyle/>
          <a:p>
            <a:pPr marL="0" indent="0">
              <a:buNone/>
            </a:pPr>
            <a:r>
              <a:rPr lang="en-US" sz="980" b="1" dirty="0">
                <a:solidFill>
                  <a:srgbClr val="1C1C1C"/>
                </a:solidFill>
              </a:rPr>
              <a:t>Doctrine</a:t>
            </a:r>
            <a:r>
              <a:rPr lang="en-US" sz="980" dirty="0">
                <a:solidFill>
                  <a:srgbClr val="1C1C1C"/>
                </a:solidFill>
              </a:rPr>
              <a:t> + pastoral reasoning</a:t>
            </a:r>
            <a:endParaRPr lang="en-US" sz="980" dirty="0"/>
          </a:p>
        </p:txBody>
      </p:sp>
      <p:sp>
        <p:nvSpPr>
          <p:cNvPr id="116" name="Shape 114"/>
          <p:cNvSpPr/>
          <p:nvPr/>
        </p:nvSpPr>
        <p:spPr>
          <a:xfrm>
            <a:off x="9829800" y="5742432"/>
            <a:ext cx="1920240" cy="402336"/>
          </a:xfrm>
          <a:prstGeom prst="rect">
            <a:avLst/>
          </a:prstGeom>
          <a:solidFill>
            <a:srgbClr val="FFFFFF"/>
          </a:solidFill>
          <a:ln w="6985">
            <a:solidFill>
              <a:srgbClr val="D6DAE0"/>
            </a:solidFill>
            <a:prstDash val="solid"/>
          </a:ln>
        </p:spPr>
        <p:txBody>
          <a:bodyPr/>
          <a:p/>
        </p:txBody>
      </p:sp>
      <p:sp>
        <p:nvSpPr>
          <p:cNvPr id="117" name="Text 115"/>
          <p:cNvSpPr/>
          <p:nvPr/>
        </p:nvSpPr>
        <p:spPr>
          <a:xfrm>
            <a:off x="9884664" y="5792724"/>
            <a:ext cx="1810512" cy="329184"/>
          </a:xfrm>
          <a:prstGeom prst="rect">
            <a:avLst/>
          </a:prstGeom>
          <a:noFill/>
        </p:spPr>
        <p:txBody>
          <a:bodyPr wrap="square" lIns="0" tIns="0" rIns="0" bIns="0" rtlCol="0" anchor="ctr">
            <a:normAutofit/>
          </a:bodyPr>
          <a:lstStyle/>
          <a:p>
            <a:pPr marL="0" indent="0">
              <a:buNone/>
            </a:pPr>
            <a:r>
              <a:rPr lang="en-US" sz="980" dirty="0">
                <a:solidFill>
                  <a:srgbClr val="1C1C1C"/>
                </a:solidFill>
              </a:rPr>
              <a:t>Run</a:t>
            </a:r>
            <a:endParaRPr lang="en-US" sz="9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19882</Words>
  <Application>WPS Presentation</Application>
  <PresentationFormat>On-screen Show (16:9)</PresentationFormat>
  <Paragraphs>1167</Paragraphs>
  <Slides>27</Slides>
  <Notes>29</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27</vt:i4>
      </vt:variant>
    </vt:vector>
  </HeadingPairs>
  <TitlesOfParts>
    <vt:vector size="52" baseType="lpstr">
      <vt:lpstr>Arial</vt:lpstr>
      <vt:lpstr>SimSun</vt:lpstr>
      <vt:lpstr>Wingdings</vt:lpstr>
      <vt:lpstr>Roboto</vt:lpstr>
      <vt:lpstr>Thonburi</vt:lpstr>
      <vt:lpstr>Aptos Display</vt:lpstr>
      <vt:lpstr>Helvetica Neue</vt:lpstr>
      <vt:lpstr>Aptos Display</vt:lpstr>
      <vt:lpstr>Aptos Display</vt:lpstr>
      <vt:lpstr>Aptos Display</vt:lpstr>
      <vt:lpstr>Aptos</vt:lpstr>
      <vt:lpstr>Microsoft YaHei</vt:lpstr>
      <vt:lpstr>汉仪旗黑</vt:lpstr>
      <vt:lpstr>Arial Unicode MS</vt:lpstr>
      <vt:lpstr>宋体-简</vt:lpstr>
      <vt:lpstr>等线</vt:lpstr>
      <vt:lpstr>苹方-简</vt:lpstr>
      <vt:lpstr>Apple Color Emoji</vt:lpstr>
      <vt:lpstr>Calibri</vt:lpstr>
      <vt:lpstr>Calibri</vt:lpstr>
      <vt:lpstr>Calibri</vt:lpstr>
      <vt:lpstr>Georgia</vt:lpstr>
      <vt:lpstr>Georgia</vt:lpstr>
      <vt:lpstr>Georgia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CEI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Religious Benchmarks #25-47 — Final Presentation</dc:title>
  <dc:creator>OpenAI</dc:creator>
  <dc:subject>Religious Benchmarks #25-47 final presentation</dc:subject>
  <cp:lastModifiedBy>Hanzhen Zhu</cp:lastModifiedBy>
  <cp:revision>25</cp:revision>
  <dcterms:created xsi:type="dcterms:W3CDTF">2026-05-05T22:40:40Z</dcterms:created>
  <dcterms:modified xsi:type="dcterms:W3CDTF">2026-05-05T22:40:40Z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61B3C8EB818379ED6063FA693577BD43_43</vt:lpwstr>
  </property>
  <property fmtid="{D5CDD505-2E9C-101B-9397-08002B2CF9AE}" pid="3" name="KSOProductBuildVer">
    <vt:lpwstr>1033-12.1.25867.25867</vt:lpwstr>
  </property>
</Properties>
</file>